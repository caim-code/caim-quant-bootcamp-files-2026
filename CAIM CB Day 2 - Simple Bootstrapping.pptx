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
  </p:notesMasterIdLst>
  <p:sldIdLst>
    <p:sldId id="256" r:id="rId2"/>
    <p:sldId id="2102937631" r:id="rId3"/>
    <p:sldId id="2102937639" r:id="rId4"/>
    <p:sldId id="2102937619" r:id="rId5"/>
    <p:sldId id="2102937620" r:id="rId6"/>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1A73"/>
    <a:srgbClr val="878787"/>
    <a:srgbClr val="D12E28"/>
    <a:srgbClr val="06031B"/>
    <a:srgbClr val="A1D5FF"/>
    <a:srgbClr val="C6C6C6"/>
    <a:srgbClr val="FFED8F"/>
    <a:srgbClr val="C0B55E"/>
    <a:srgbClr val="548BE9"/>
    <a:srgbClr val="4B5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32" autoAdjust="0"/>
    <p:restoredTop sz="96165"/>
  </p:normalViewPr>
  <p:slideViewPr>
    <p:cSldViewPr snapToGrid="0">
      <p:cViewPr varScale="1">
        <p:scale>
          <a:sx n="77" d="100"/>
          <a:sy n="77" d="100"/>
        </p:scale>
        <p:origin x="1063" y="55"/>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BF13E-0A9F-7A42-B666-707E8C2C3FC9}" type="datetimeFigureOut">
              <a:rPr lang="en-US" smtClean="0"/>
              <a:t>9/9/2026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3770A-0522-EE44-9D17-01699D29C038}" type="slidenum">
              <a:rPr lang="en-US" smtClean="0"/>
              <a:t>‹#›</a:t>
            </a:fld>
            <a:endParaRPr lang="en-US"/>
          </a:p>
        </p:txBody>
      </p:sp>
    </p:spTree>
    <p:extLst>
      <p:ext uri="{BB962C8B-B14F-4D97-AF65-F5344CB8AC3E}">
        <p14:creationId xmlns:p14="http://schemas.microsoft.com/office/powerpoint/2010/main" val="391986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3770A-0522-EE44-9D17-01699D29C038}" type="slidenum">
              <a:rPr lang="en-US" smtClean="0"/>
              <a:t>1</a:t>
            </a:fld>
            <a:endParaRPr lang="en-US"/>
          </a:p>
        </p:txBody>
      </p:sp>
    </p:spTree>
    <p:extLst>
      <p:ext uri="{BB962C8B-B14F-4D97-AF65-F5344CB8AC3E}">
        <p14:creationId xmlns:p14="http://schemas.microsoft.com/office/powerpoint/2010/main" val="28590739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EA737-26A3-7F4D-9FE4-01A3EC7EBC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208"/>
          <a:stretch/>
        </p:blipFill>
        <p:spPr>
          <a:xfrm>
            <a:off x="0" y="0"/>
            <a:ext cx="9919803" cy="6858002"/>
          </a:xfrm>
          <a:prstGeom prst="rect">
            <a:avLst/>
          </a:prstGeom>
        </p:spPr>
      </p:pic>
      <p:sp>
        <p:nvSpPr>
          <p:cNvPr id="14" name="Date">
            <a:extLst>
              <a:ext uri="{FF2B5EF4-FFF2-40B4-BE49-F238E27FC236}">
                <a16:creationId xmlns:a16="http://schemas.microsoft.com/office/drawing/2014/main" id="{AB2A5CAA-6849-074F-AEE6-2652D32676B4}"/>
              </a:ext>
            </a:extLst>
          </p:cNvPr>
          <p:cNvSpPr>
            <a:spLocks noGrp="1"/>
          </p:cNvSpPr>
          <p:nvPr>
            <p:ph type="body" sz="quarter" idx="13" hasCustomPrompt="1"/>
          </p:nvPr>
        </p:nvSpPr>
        <p:spPr>
          <a:xfrm>
            <a:off x="6821403" y="5748376"/>
            <a:ext cx="2619788" cy="246221"/>
          </a:xfrm>
        </p:spPr>
        <p:txBody>
          <a:bodyPr/>
          <a:lstStyle>
            <a:lvl1pPr marL="0" indent="0" algn="r" fontAlgn="b">
              <a:buNone/>
              <a:defRPr sz="1600" b="0" i="0" cap="all" spc="100" baseline="0">
                <a:solidFill>
                  <a:schemeClr val="tx1">
                    <a:lumMod val="25000"/>
                    <a:lumOff val="75000"/>
                  </a:schemeClr>
                </a:solidFill>
                <a:latin typeface="+mj-lt"/>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Date </a:t>
            </a:r>
          </a:p>
        </p:txBody>
      </p:sp>
      <p:sp>
        <p:nvSpPr>
          <p:cNvPr id="13" name="Name 3">
            <a:extLst>
              <a:ext uri="{FF2B5EF4-FFF2-40B4-BE49-F238E27FC236}">
                <a16:creationId xmlns:a16="http://schemas.microsoft.com/office/drawing/2014/main" id="{B0A01171-0C95-0649-9A4B-BFE5CD9C1AAB}"/>
              </a:ext>
            </a:extLst>
          </p:cNvPr>
          <p:cNvSpPr>
            <a:spLocks noGrp="1"/>
          </p:cNvSpPr>
          <p:nvPr>
            <p:ph type="body" sz="quarter" idx="12" hasCustomPrompt="1"/>
          </p:nvPr>
        </p:nvSpPr>
        <p:spPr>
          <a:xfrm>
            <a:off x="3639302" y="6117708"/>
            <a:ext cx="2619788" cy="430887"/>
          </a:xfrm>
        </p:spPr>
        <p:txBody>
          <a:bodyPr/>
          <a:lstStyle>
            <a:lvl1pPr marL="0" indent="0" algn="ct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Three</a:t>
            </a:r>
          </a:p>
          <a:p>
            <a:pPr lvl="0"/>
            <a:r>
              <a:rPr lang="en-US" dirty="0"/>
              <a:t>Job Title</a:t>
            </a:r>
          </a:p>
        </p:txBody>
      </p:sp>
      <p:sp>
        <p:nvSpPr>
          <p:cNvPr id="11" name="Name 2">
            <a:extLst>
              <a:ext uri="{FF2B5EF4-FFF2-40B4-BE49-F238E27FC236}">
                <a16:creationId xmlns:a16="http://schemas.microsoft.com/office/drawing/2014/main" id="{FEE53DEA-97EC-6B4C-A05E-05736964EC83}"/>
              </a:ext>
            </a:extLst>
          </p:cNvPr>
          <p:cNvSpPr>
            <a:spLocks noGrp="1"/>
          </p:cNvSpPr>
          <p:nvPr>
            <p:ph type="body" sz="quarter" idx="11" hasCustomPrompt="1"/>
          </p:nvPr>
        </p:nvSpPr>
        <p:spPr>
          <a:xfrm>
            <a:off x="6821403" y="6117708"/>
            <a:ext cx="2619788" cy="430887"/>
          </a:xfrm>
        </p:spPr>
        <p:txBody>
          <a:bodyPr/>
          <a:lstStyle>
            <a:lvl1pPr marL="0" indent="0" algn="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Presenter Name Two</a:t>
            </a:r>
          </a:p>
          <a:p>
            <a:pPr lvl="0"/>
            <a:r>
              <a:rPr lang="en-US"/>
              <a:t>Job Title</a:t>
            </a:r>
          </a:p>
        </p:txBody>
      </p:sp>
      <p:sp>
        <p:nvSpPr>
          <p:cNvPr id="9" name="Name 1">
            <a:extLst>
              <a:ext uri="{FF2B5EF4-FFF2-40B4-BE49-F238E27FC236}">
                <a16:creationId xmlns:a16="http://schemas.microsoft.com/office/drawing/2014/main" id="{7D76FDFA-360A-4E1D-8E68-C41A237A2273}"/>
              </a:ext>
            </a:extLst>
          </p:cNvPr>
          <p:cNvSpPr>
            <a:spLocks noGrp="1"/>
          </p:cNvSpPr>
          <p:nvPr>
            <p:ph type="body" sz="quarter" idx="10" hasCustomPrompt="1"/>
          </p:nvPr>
        </p:nvSpPr>
        <p:spPr>
          <a:xfrm>
            <a:off x="457200" y="6128080"/>
            <a:ext cx="2619788" cy="430887"/>
          </a:xfrm>
        </p:spPr>
        <p:txBody>
          <a:bodyPr/>
          <a:lstStyle>
            <a:lvl1pPr marL="0" indent="0">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One</a:t>
            </a:r>
          </a:p>
          <a:p>
            <a:pPr lvl="0"/>
            <a:r>
              <a:rPr lang="en-US" dirty="0"/>
              <a:t>Job Title</a:t>
            </a:r>
          </a:p>
        </p:txBody>
      </p:sp>
      <p:sp>
        <p:nvSpPr>
          <p:cNvPr id="10" name="Title">
            <a:extLst>
              <a:ext uri="{FF2B5EF4-FFF2-40B4-BE49-F238E27FC236}">
                <a16:creationId xmlns:a16="http://schemas.microsoft.com/office/drawing/2014/main" id="{527E1552-E90D-4F57-96D1-C05313AFBBA3}"/>
              </a:ext>
            </a:extLst>
          </p:cNvPr>
          <p:cNvSpPr>
            <a:spLocks noGrp="1"/>
          </p:cNvSpPr>
          <p:nvPr>
            <p:ph type="ctrTitle" hasCustomPrompt="1"/>
          </p:nvPr>
        </p:nvSpPr>
        <p:spPr>
          <a:xfrm>
            <a:off x="461005" y="5647325"/>
            <a:ext cx="6987102" cy="398571"/>
          </a:xfrm>
          <a:prstGeom prst="rect">
            <a:avLst/>
          </a:prstGeom>
        </p:spPr>
        <p:txBody>
          <a:bodyPr wrap="square" lIns="0" tIns="0" rIns="0" bIns="0">
            <a:spAutoFit/>
          </a:bodyPr>
          <a:lstStyle>
            <a:lvl1pPr>
              <a:defRPr sz="2800" b="0" i="0" kern="1200" cap="all" spc="150" baseline="0">
                <a:solidFill>
                  <a:srgbClr val="FFFFFF"/>
                </a:solidFill>
                <a:latin typeface="+mj-lt"/>
                <a:ea typeface="+mn-ea"/>
                <a:cs typeface="Arial" panose="020B0604020202020204" pitchFamily="34" charset="0"/>
              </a:defRPr>
            </a:lvl1pPr>
          </a:lstStyle>
          <a:p>
            <a:r>
              <a:rPr lang="en-US" dirty="0"/>
              <a:t>Click to edit title</a:t>
            </a:r>
            <a:endParaRPr dirty="0"/>
          </a:p>
        </p:txBody>
      </p:sp>
      <p:sp>
        <p:nvSpPr>
          <p:cNvPr id="8" name="_Footer Line">
            <a:extLst>
              <a:ext uri="{FF2B5EF4-FFF2-40B4-BE49-F238E27FC236}">
                <a16:creationId xmlns:a16="http://schemas.microsoft.com/office/drawing/2014/main" id="{F9755F95-7D3C-4CAB-BE69-1CE668760B23}"/>
              </a:ext>
            </a:extLst>
          </p:cNvPr>
          <p:cNvSpPr/>
          <p:nvPr userDrawn="1"/>
        </p:nvSpPr>
        <p:spPr>
          <a:xfrm flipV="1">
            <a:off x="448056" y="6601213"/>
            <a:ext cx="9464040" cy="45719"/>
          </a:xfrm>
          <a:custGeom>
            <a:avLst/>
            <a:gdLst/>
            <a:ahLst/>
            <a:cxnLst/>
            <a:rect l="l" t="t" r="r" b="b"/>
            <a:pathLst>
              <a:path w="11595735">
                <a:moveTo>
                  <a:pt x="0" y="0"/>
                </a:moveTo>
                <a:lnTo>
                  <a:pt x="11595193" y="0"/>
                </a:lnTo>
              </a:path>
            </a:pathLst>
          </a:custGeom>
          <a:ln w="38100">
            <a:solidFill>
              <a:srgbClr val="D12E28"/>
            </a:solidFill>
          </a:ln>
        </p:spPr>
        <p:txBody>
          <a:bodyPr wrap="square" lIns="0" tIns="0" rIns="0" bIns="0" rtlCol="0"/>
          <a:lstStyle/>
          <a:p>
            <a:endParaRPr sz="1463"/>
          </a:p>
        </p:txBody>
      </p:sp>
      <p:pic>
        <p:nvPicPr>
          <p:cNvPr id="3" name="Picture 2">
            <a:extLst>
              <a:ext uri="{FF2B5EF4-FFF2-40B4-BE49-F238E27FC236}">
                <a16:creationId xmlns:a16="http://schemas.microsoft.com/office/drawing/2014/main" id="{FC509157-F01A-FC4C-B6F4-7399574E8B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9568" y="500152"/>
            <a:ext cx="2861624" cy="645965"/>
          </a:xfrm>
          <a:prstGeom prst="rect">
            <a:avLst/>
          </a:prstGeom>
        </p:spPr>
      </p:pic>
    </p:spTree>
    <p:extLst>
      <p:ext uri="{BB962C8B-B14F-4D97-AF65-F5344CB8AC3E}">
        <p14:creationId xmlns:p14="http://schemas.microsoft.com/office/powerpoint/2010/main" val="304489584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5952">
          <p15:clr>
            <a:srgbClr val="FBAE40"/>
          </p15:clr>
        </p15:guide>
        <p15:guide id="4" pos="288">
          <p15:clr>
            <a:srgbClr val="FBAE40"/>
          </p15:clr>
        </p15:guide>
        <p15:guide id="5" orient="horz" pos="3884">
          <p15:clr>
            <a:srgbClr val="FBAE40"/>
          </p15:clr>
        </p15:guide>
        <p15:guide id="6" pos="4299">
          <p15:clr>
            <a:srgbClr val="FBAE40"/>
          </p15:clr>
        </p15:guide>
        <p15:guide id="7" orient="horz" pos="37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B">
    <p:bg>
      <p:bgPr>
        <a:solidFill>
          <a:schemeClr val="bg1"/>
        </a:solidFill>
        <a:effectLst/>
      </p:bgPr>
    </p:bg>
    <p:spTree>
      <p:nvGrpSpPr>
        <p:cNvPr id="1" name=""/>
        <p:cNvGrpSpPr/>
        <p:nvPr/>
      </p:nvGrpSpPr>
      <p:grpSpPr>
        <a:xfrm>
          <a:off x="0" y="0"/>
          <a:ext cx="0" cy="0"/>
          <a:chOff x="0" y="0"/>
          <a:chExt cx="0" cy="0"/>
        </a:xfrm>
      </p:grpSpPr>
      <p:pic>
        <p:nvPicPr>
          <p:cNvPr id="3" name="_Background Picture">
            <a:extLst>
              <a:ext uri="{FF2B5EF4-FFF2-40B4-BE49-F238E27FC236}">
                <a16:creationId xmlns:a16="http://schemas.microsoft.com/office/drawing/2014/main" id="{F28DA60E-A7E6-4177-B5D1-EF31D90A7454}"/>
              </a:ext>
            </a:extLst>
          </p:cNvPr>
          <p:cNvPicPr preferRelativeResize="0">
            <a:picLocks/>
          </p:cNvPicPr>
          <p:nvPr userDrawn="1"/>
        </p:nvPicPr>
        <p:blipFill rotWithShape="1">
          <a:blip r:embed="rId2">
            <a:extLst>
              <a:ext uri="{BEBA8EAE-BF5A-486C-A8C5-ECC9F3942E4B}">
                <a14:imgProps xmlns:a14="http://schemas.microsoft.com/office/drawing/2010/main">
                  <a14:imgLayer r:embed="rId3">
                    <a14:imgEffect>
                      <a14:saturation sat="25000"/>
                    </a14:imgEffect>
                  </a14:imgLayer>
                </a14:imgProps>
              </a:ext>
              <a:ext uri="{28A0092B-C50C-407E-A947-70E740481C1C}">
                <a14:useLocalDpi xmlns:a14="http://schemas.microsoft.com/office/drawing/2010/main" val="0"/>
              </a:ext>
            </a:extLst>
          </a:blip>
          <a:srcRect t="5725" b="36005"/>
          <a:stretch/>
        </p:blipFill>
        <p:spPr>
          <a:xfrm>
            <a:off x="0" y="2285999"/>
            <a:ext cx="9812740" cy="3125337"/>
          </a:xfrm>
          <a:prstGeom prst="rect">
            <a:avLst/>
          </a:prstGeom>
        </p:spPr>
      </p:pic>
      <p:sp>
        <p:nvSpPr>
          <p:cNvPr id="13" name="_Left Gradient">
            <a:extLst>
              <a:ext uri="{FF2B5EF4-FFF2-40B4-BE49-F238E27FC236}">
                <a16:creationId xmlns:a16="http://schemas.microsoft.com/office/drawing/2014/main" id="{F5B8FC14-1311-4784-AD0E-EC6AF7811891}"/>
              </a:ext>
            </a:extLst>
          </p:cNvPr>
          <p:cNvSpPr/>
          <p:nvPr userDrawn="1"/>
        </p:nvSpPr>
        <p:spPr>
          <a:xfrm rot="16200000">
            <a:off x="3336901" y="-1050654"/>
            <a:ext cx="3124201" cy="9798002"/>
          </a:xfrm>
          <a:prstGeom prst="rect">
            <a:avLst/>
          </a:prstGeom>
          <a:gradFill>
            <a:gsLst>
              <a:gs pos="23000">
                <a:srgbClr val="06031B"/>
              </a:gs>
              <a:gs pos="100000">
                <a:schemeClr val="bg1">
                  <a:lumMod val="95000"/>
                  <a:alpha val="52000"/>
                </a:schemeClr>
              </a:gs>
              <a:gs pos="51000">
                <a:srgbClr val="271A73">
                  <a:alpha val="6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_Red Sidebar">
            <a:extLst>
              <a:ext uri="{FF2B5EF4-FFF2-40B4-BE49-F238E27FC236}">
                <a16:creationId xmlns:a16="http://schemas.microsoft.com/office/drawing/2014/main" id="{64DAF4AE-D5C4-47F9-B1F0-C56B2C2366CA}"/>
              </a:ext>
            </a:extLst>
          </p:cNvPr>
          <p:cNvSpPr/>
          <p:nvPr userDrawn="1"/>
        </p:nvSpPr>
        <p:spPr>
          <a:xfrm flipH="1">
            <a:off x="9798000" y="2285997"/>
            <a:ext cx="108000" cy="3124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_Footer Line">
            <a:extLst>
              <a:ext uri="{FF2B5EF4-FFF2-40B4-BE49-F238E27FC236}">
                <a16:creationId xmlns:a16="http://schemas.microsoft.com/office/drawing/2014/main" id="{2D074338-30F1-4FBE-963F-57A7E82365EE}"/>
              </a:ext>
            </a:extLst>
          </p:cNvPr>
          <p:cNvSpPr/>
          <p:nvPr userDrawn="1"/>
        </p:nvSpPr>
        <p:spPr>
          <a:xfrm flipV="1">
            <a:off x="1" y="6453336"/>
            <a:ext cx="7772400" cy="67600"/>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a:p>
        </p:txBody>
      </p:sp>
      <p:sp>
        <p:nvSpPr>
          <p:cNvPr id="8" name="_Page Number x">
            <a:extLst>
              <a:ext uri="{FF2B5EF4-FFF2-40B4-BE49-F238E27FC236}">
                <a16:creationId xmlns:a16="http://schemas.microsoft.com/office/drawing/2014/main" id="{6DC44914-55A9-264E-8575-EF9130453419}"/>
              </a:ext>
            </a:extLst>
          </p:cNvPr>
          <p:cNvSpPr>
            <a:spLocks noGrp="1"/>
          </p:cNvSpPr>
          <p:nvPr>
            <p:ph type="sldNum" sz="quarter" idx="12"/>
          </p:nvPr>
        </p:nvSpPr>
        <p:spPr>
          <a:xfrm>
            <a:off x="9208685" y="1807859"/>
            <a:ext cx="576581" cy="329184"/>
          </a:xfrm>
        </p:spPr>
        <p:txBody>
          <a:bodyPr/>
          <a:lstStyle/>
          <a:p>
            <a:fld id="{4D6F2D72-4CB1-486D-B1A1-88BC527D97A4}" type="slidenum">
              <a:rPr lang="en-GB" smtClean="0"/>
              <a:pPr/>
              <a:t>‹#›</a:t>
            </a:fld>
            <a:r>
              <a:rPr lang="en-GB"/>
              <a:t> </a:t>
            </a:r>
            <a:endParaRPr lang="en-GB" dirty="0"/>
          </a:p>
        </p:txBody>
      </p:sp>
      <p:sp>
        <p:nvSpPr>
          <p:cNvPr id="7" name="Document Code">
            <a:extLst>
              <a:ext uri="{FF2B5EF4-FFF2-40B4-BE49-F238E27FC236}">
                <a16:creationId xmlns:a16="http://schemas.microsoft.com/office/drawing/2014/main" id="{BB47E38D-B1A8-8643-9C5F-09922957023C}"/>
              </a:ext>
            </a:extLst>
          </p:cNvPr>
          <p:cNvSpPr>
            <a:spLocks noGrp="1"/>
          </p:cNvSpPr>
          <p:nvPr>
            <p:ph type="ftr" sz="quarter" idx="11"/>
          </p:nvPr>
        </p:nvSpPr>
        <p:spPr>
          <a:xfrm rot="16200000">
            <a:off x="-396449" y="5871918"/>
            <a:ext cx="1046559" cy="123111"/>
          </a:xfrm>
        </p:spPr>
        <p:txBody>
          <a:bodyPr/>
          <a:lstStyle/>
          <a:p>
            <a:r>
              <a:rPr lang="en-US" dirty="0"/>
              <a:t>Document Code</a:t>
            </a:r>
          </a:p>
        </p:txBody>
      </p:sp>
      <p:sp>
        <p:nvSpPr>
          <p:cNvPr id="12" name="_Confidential">
            <a:extLst>
              <a:ext uri="{FF2B5EF4-FFF2-40B4-BE49-F238E27FC236}">
                <a16:creationId xmlns:a16="http://schemas.microsoft.com/office/drawing/2014/main" id="{D95578A3-B718-43FB-ABD3-99427DB02B18}"/>
              </a:ext>
            </a:extLst>
          </p:cNvPr>
          <p:cNvSpPr txBox="1"/>
          <p:nvPr userDrawn="1"/>
        </p:nvSpPr>
        <p:spPr>
          <a:xfrm>
            <a:off x="3941594" y="6599110"/>
            <a:ext cx="1547813" cy="150426"/>
          </a:xfrm>
          <a:prstGeom prst="rect">
            <a:avLst/>
          </a:prstGeom>
        </p:spPr>
        <p:txBody>
          <a:bodyPr vert="horz" wrap="square" lIns="0" tIns="10319" rIns="0" bIns="0" rtlCol="0">
            <a:spAutoFit/>
          </a:bodyPr>
          <a:lstStyle/>
          <a:p>
            <a:pPr marL="10319" algn="ctr">
              <a:lnSpc>
                <a:spcPct val="100000"/>
              </a:lnSpc>
              <a:spcBef>
                <a:spcPts val="81"/>
              </a:spcBef>
            </a:pPr>
            <a:r>
              <a:rPr lang="en-GB" sz="900" b="0" spc="50" baseline="0" dirty="0">
                <a:solidFill>
                  <a:schemeClr val="tx1">
                    <a:lumMod val="75000"/>
                    <a:lumOff val="25000"/>
                  </a:schemeClr>
                </a:solidFill>
                <a:latin typeface="+mj-lt"/>
                <a:cs typeface="Muli-ExtraBold"/>
              </a:rPr>
              <a:t>PRIVATE &amp; CONFIDENTIAL</a:t>
            </a:r>
            <a:endParaRPr sz="900" b="0" spc="50" baseline="0" dirty="0">
              <a:solidFill>
                <a:schemeClr val="tx1">
                  <a:lumMod val="75000"/>
                  <a:lumOff val="25000"/>
                </a:schemeClr>
              </a:solidFill>
              <a:latin typeface="+mj-lt"/>
              <a:cs typeface="Muli"/>
            </a:endParaRPr>
          </a:p>
        </p:txBody>
      </p:sp>
      <p:sp>
        <p:nvSpPr>
          <p:cNvPr id="14" name="_Page Number">
            <a:extLst>
              <a:ext uri="{FF2B5EF4-FFF2-40B4-BE49-F238E27FC236}">
                <a16:creationId xmlns:a16="http://schemas.microsoft.com/office/drawing/2014/main" id="{A6906AB3-4D08-994A-8654-9CB3353BBF70}"/>
              </a:ext>
            </a:extLst>
          </p:cNvPr>
          <p:cNvSpPr txBox="1"/>
          <p:nvPr userDrawn="1"/>
        </p:nvSpPr>
        <p:spPr>
          <a:xfrm>
            <a:off x="7253277" y="6594890"/>
            <a:ext cx="512064" cy="138499"/>
          </a:xfrm>
          <a:prstGeom prst="rect">
            <a:avLst/>
          </a:prstGeom>
          <a:noFill/>
        </p:spPr>
        <p:txBody>
          <a:bodyPr wrap="square" lIns="0" tIns="0" rIns="0" bIns="0" rtlCol="0">
            <a:spAutoFit/>
          </a:bodyPr>
          <a:lstStyle/>
          <a:p>
            <a:pPr algn="r"/>
            <a:fld id="{4D6F2D72-4CB1-486D-B1A1-88BC527D97A4}" type="slidenum">
              <a:rPr lang="en-GB" sz="900" smtClean="0">
                <a:solidFill>
                  <a:schemeClr val="tx1">
                    <a:lumMod val="75000"/>
                    <a:lumOff val="25000"/>
                  </a:schemeClr>
                </a:solidFill>
                <a:latin typeface="+mj-lt"/>
              </a:rPr>
              <a:pPr algn="r"/>
              <a:t>‹#›</a:t>
            </a:fld>
            <a:endParaRPr lang="en-US" sz="900" dirty="0">
              <a:solidFill>
                <a:schemeClr val="tx1">
                  <a:lumMod val="75000"/>
                  <a:lumOff val="25000"/>
                </a:schemeClr>
              </a:solidFill>
              <a:latin typeface="+mj-lt"/>
            </a:endParaRPr>
          </a:p>
        </p:txBody>
      </p:sp>
      <p:sp>
        <p:nvSpPr>
          <p:cNvPr id="6" name="Date">
            <a:extLst>
              <a:ext uri="{FF2B5EF4-FFF2-40B4-BE49-F238E27FC236}">
                <a16:creationId xmlns:a16="http://schemas.microsoft.com/office/drawing/2014/main" id="{F936FBD9-C5DE-8D48-BD68-549672570E37}"/>
              </a:ext>
            </a:extLst>
          </p:cNvPr>
          <p:cNvSpPr>
            <a:spLocks noGrp="1"/>
          </p:cNvSpPr>
          <p:nvPr>
            <p:ph type="dt" sz="half" idx="10"/>
          </p:nvPr>
        </p:nvSpPr>
        <p:spPr/>
        <p:txBody>
          <a:bodyPr/>
          <a:lstStyle/>
          <a:p>
            <a:fld id="{97556E8B-0A47-5B4E-9FDB-B8A05728CEB8}" type="datetime3">
              <a:rPr lang="en-US" smtClean="0"/>
              <a:pPr/>
              <a:t>9 September 2026</a:t>
            </a:fld>
            <a:endParaRPr lang="en-US" dirty="0"/>
          </a:p>
        </p:txBody>
      </p:sp>
      <p:sp>
        <p:nvSpPr>
          <p:cNvPr id="36" name="Title">
            <a:extLst>
              <a:ext uri="{FF2B5EF4-FFF2-40B4-BE49-F238E27FC236}">
                <a16:creationId xmlns:a16="http://schemas.microsoft.com/office/drawing/2014/main" id="{592822F8-A1CA-4A06-88C8-56575B949DED}"/>
              </a:ext>
            </a:extLst>
          </p:cNvPr>
          <p:cNvSpPr>
            <a:spLocks noGrp="1"/>
          </p:cNvSpPr>
          <p:nvPr>
            <p:ph type="title" hasCustomPrompt="1"/>
          </p:nvPr>
        </p:nvSpPr>
        <p:spPr>
          <a:xfrm>
            <a:off x="974028" y="4428403"/>
            <a:ext cx="7898686" cy="332399"/>
          </a:xfrm>
        </p:spPr>
        <p:txBody>
          <a:bodyPr lIns="0" tIns="0" rIns="0" bIns="0" anchor="b" anchorCtr="0"/>
          <a:lstStyle>
            <a:lvl1pPr>
              <a:defRPr sz="2400" b="0" i="0" spc="100" baseline="0" dirty="0">
                <a:solidFill>
                  <a:schemeClr val="bg1"/>
                </a:solidFill>
                <a:latin typeface="+mj-lt"/>
                <a:ea typeface="+mj-ea"/>
                <a:cs typeface="Arial" panose="020B0604020202020204" pitchFamily="34" charset="0"/>
              </a:defRPr>
            </a:lvl1pPr>
          </a:lstStyle>
          <a:p>
            <a:r>
              <a:rPr lang="en-US" dirty="0"/>
              <a:t>Click to edit section title</a:t>
            </a:r>
            <a:endParaRPr dirty="0"/>
          </a:p>
        </p:txBody>
      </p:sp>
      <p:pic>
        <p:nvPicPr>
          <p:cNvPr id="15" name="Picture 14" descr="Logo&#10;&#10;Description automatically generated">
            <a:extLst>
              <a:ext uri="{FF2B5EF4-FFF2-40B4-BE49-F238E27FC236}">
                <a16:creationId xmlns:a16="http://schemas.microsoft.com/office/drawing/2014/main" id="{991FC7CC-B3A6-9B42-AA68-3D97D707A3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829097" y="6330189"/>
            <a:ext cx="1838996" cy="398051"/>
          </a:xfrm>
          <a:prstGeom prst="rect">
            <a:avLst/>
          </a:prstGeom>
        </p:spPr>
      </p:pic>
    </p:spTree>
    <p:extLst>
      <p:ext uri="{BB962C8B-B14F-4D97-AF65-F5344CB8AC3E}">
        <p14:creationId xmlns:p14="http://schemas.microsoft.com/office/powerpoint/2010/main" val="419946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127966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ntent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4666"/>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51628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714500"/>
            <a:ext cx="399097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3990975"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0082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947672"/>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14985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183733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714500"/>
            <a:ext cx="318983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4805363"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26481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947672"/>
            <a:ext cx="318983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959474" y="1714500"/>
            <a:ext cx="3165475"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4805363"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4805363"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06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3">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1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714500"/>
            <a:ext cx="4831310"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714500"/>
            <a:ext cx="3189836"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830860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3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0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947672"/>
            <a:ext cx="483131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4318000" y="1714500"/>
            <a:ext cx="4806949"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943100"/>
            <a:ext cx="3189836"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3175001"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3082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ong">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3934984"/>
            <a:ext cx="8147049" cy="2089387"/>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1193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5449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Long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159566"/>
            <a:ext cx="8147049" cy="186480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5" y="3934985"/>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18907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95809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Long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025472"/>
            <a:ext cx="8147049" cy="19989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198120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922981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Long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5495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0058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ong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583113"/>
            <a:ext cx="8147049" cy="1441258"/>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6" y="4355673"/>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23209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62706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Long 3:2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4"/>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233661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48633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ng Chart and Table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9 September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4" name="Table">
            <a:extLst>
              <a:ext uri="{FF2B5EF4-FFF2-40B4-BE49-F238E27FC236}">
                <a16:creationId xmlns:a16="http://schemas.microsoft.com/office/drawing/2014/main" id="{932B51FA-CE55-1B4B-AF5B-1B420C4A2AB3}"/>
              </a:ext>
            </a:extLst>
          </p:cNvPr>
          <p:cNvSpPr>
            <a:spLocks noGrp="1"/>
          </p:cNvSpPr>
          <p:nvPr>
            <p:ph type="tbl" sz="quarter" idx="18"/>
          </p:nvPr>
        </p:nvSpPr>
        <p:spPr>
          <a:xfrm>
            <a:off x="977900" y="4351338"/>
            <a:ext cx="8147048" cy="1668462"/>
          </a:xfrm>
          <a:solidFill>
            <a:schemeClr val="tx1">
              <a:lumMod val="10000"/>
              <a:lumOff val="90000"/>
            </a:schemeClr>
          </a:solidFill>
        </p:spPr>
        <p:txBody>
          <a:bodyPr/>
          <a:lstStyle/>
          <a:p>
            <a:r>
              <a:rPr lang="en-US"/>
              <a:t>Click icon to add table</a:t>
            </a:r>
          </a:p>
        </p:txBody>
      </p:sp>
      <p:sp>
        <p:nvSpPr>
          <p:cNvPr id="10" name="Chart">
            <a:extLst>
              <a:ext uri="{FF2B5EF4-FFF2-40B4-BE49-F238E27FC236}">
                <a16:creationId xmlns:a16="http://schemas.microsoft.com/office/drawing/2014/main" id="{2623D900-715A-3247-BE45-23EF1E657179}"/>
              </a:ext>
            </a:extLst>
          </p:cNvPr>
          <p:cNvSpPr>
            <a:spLocks noGrp="1"/>
          </p:cNvSpPr>
          <p:nvPr>
            <p:ph type="chart" sz="quarter" idx="17"/>
          </p:nvPr>
        </p:nvSpPr>
        <p:spPr>
          <a:xfrm>
            <a:off x="977900" y="1943100"/>
            <a:ext cx="8147048" cy="2408238"/>
          </a:xfrm>
          <a:solidFill>
            <a:schemeClr val="tx1">
              <a:lumMod val="10000"/>
              <a:lumOff val="90000"/>
            </a:schemeClr>
          </a:solidFill>
        </p:spPr>
        <p:txBody>
          <a:bodyPr/>
          <a:lstStyle/>
          <a:p>
            <a:r>
              <a:rPr lang="en-US"/>
              <a:t>Click icon to add chart</a:t>
            </a:r>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77933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9 September 2026</a:t>
            </a:fld>
            <a:endParaRPr lang="en-US" dirty="0"/>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98175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 Takeawa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9 September 2026</a:t>
            </a:fld>
            <a:endParaRPr lang="en-US" dirty="0"/>
          </a:p>
        </p:txBody>
      </p:sp>
      <p:sp>
        <p:nvSpPr>
          <p:cNvPr id="6" name="Takeaway">
            <a:extLst>
              <a:ext uri="{FF2B5EF4-FFF2-40B4-BE49-F238E27FC236}">
                <a16:creationId xmlns:a16="http://schemas.microsoft.com/office/drawing/2014/main" id="{42D88858-AD18-EF46-8120-719FF25E64F5}"/>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2421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9 September 2026</a:t>
            </a:fld>
            <a:endParaRPr lang="en-US" dirty="0"/>
          </a:p>
        </p:txBody>
      </p:sp>
      <p:sp>
        <p:nvSpPr>
          <p:cNvPr id="8" name="Background">
            <a:extLst>
              <a:ext uri="{FF2B5EF4-FFF2-40B4-BE49-F238E27FC236}">
                <a16:creationId xmlns:a16="http://schemas.microsoft.com/office/drawing/2014/main" id="{41E8B0BB-1145-8141-BF92-2A78C0995A7E}"/>
              </a:ext>
            </a:extLst>
          </p:cNvPr>
          <p:cNvSpPr/>
          <p:nvPr userDrawn="1"/>
        </p:nvSpPr>
        <p:spPr>
          <a:xfrm>
            <a:off x="977900" y="1485900"/>
            <a:ext cx="8147051" cy="4610100"/>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7" name="Content">
            <a:extLst>
              <a:ext uri="{FF2B5EF4-FFF2-40B4-BE49-F238E27FC236}">
                <a16:creationId xmlns:a16="http://schemas.microsoft.com/office/drawing/2014/main" id="{61B9E6D4-AA43-8845-8A3C-AC6D4AD1E58E}"/>
              </a:ext>
            </a:extLst>
          </p:cNvPr>
          <p:cNvSpPr>
            <a:spLocks noGrp="1"/>
          </p:cNvSpPr>
          <p:nvPr>
            <p:ph type="body" sz="quarter" idx="13" hasCustomPrompt="1"/>
          </p:nvPr>
        </p:nvSpPr>
        <p:spPr>
          <a:xfrm>
            <a:off x="978409" y="1485900"/>
            <a:ext cx="8146542" cy="323165"/>
          </a:xfrm>
        </p:spPr>
        <p:txBody>
          <a:bodyPr lIns="91440" tIns="91440" rIns="91440" bIns="91440"/>
          <a:lstStyle>
            <a:lvl1pPr marL="0" indent="0">
              <a:spcAft>
                <a:spcPts val="0"/>
              </a:spcAft>
              <a:buNone/>
              <a:defRPr sz="900">
                <a:latin typeface="+mn-lt"/>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add asset class name</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3609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9 September 2026</a:t>
            </a:fld>
            <a:endParaRPr lang="en-US" dirty="0"/>
          </a:p>
        </p:txBody>
      </p:sp>
      <p:sp>
        <p:nvSpPr>
          <p:cNvPr id="6" name="_Disclaimer Text">
            <a:extLst>
              <a:ext uri="{FF2B5EF4-FFF2-40B4-BE49-F238E27FC236}">
                <a16:creationId xmlns:a16="http://schemas.microsoft.com/office/drawing/2014/main" id="{F4987954-63A9-EC41-B2E9-A1C67EFFEEEA}"/>
              </a:ext>
            </a:extLst>
          </p:cNvPr>
          <p:cNvSpPr txBox="1">
            <a:spLocks/>
          </p:cNvSpPr>
          <p:nvPr userDrawn="1"/>
        </p:nvSpPr>
        <p:spPr>
          <a:xfrm>
            <a:off x="980495" y="1877926"/>
            <a:ext cx="8143625" cy="3735477"/>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dirty="0">
                <a:solidFill>
                  <a:srgbClr val="212121"/>
                </a:solidFill>
                <a:effectLst/>
                <a:latin typeface="+mn-lt"/>
                <a:ea typeface="Calibri" panose="020F0502020204030204" pitchFamily="34" charset="0"/>
              </a:rPr>
              <a:t>This document is not intended for use or distribution by any person in any jurisdiction in which it is not authorised or permitted, or to anyone who would be an unlawful recipient. The original recipient is solely responsible for any actions in further distributing this document, and in doing so should be satisfied that there is no breach of local legislation or regulation. This document should not be reproduced or distributed except via original recipients acting as professional intermediaries. This document is not for distribution in the United States. Any opinions expressed herein are those at the date this document is issued. Data, models and other statistics are sourced from our own records, unless otherwise stated. We believe that the information contained is from reliable sources, but we do not guarantee the relevance, accuracy or completeness thereof. Unless otherwise provided under UK law, CAIM does not accept liability for irrelevant, inaccurate or incomplete information contained, or for the correctness of opinions expressed. The value of investments may fluctuate, and it is possible that an investor may incur losses, including a loss of the principal invested. Past performance is not indicative of future performance. Investors whose reference currency differs from that in which the underlying assets are invested may be subject to exchange rate movements that alter the value of their investments. This document is only intended for use by the original recipient, either a CAIM client or prospective client, and does not constitute investment advice or an offer or solicitation to buy or sell.</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 </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CAIM (Company Registration No.  02169973) has its registered office at 3 More London, Riverside, London SE1 2AQ. </a:t>
            </a:r>
          </a:p>
          <a:p>
            <a:r>
              <a:rPr lang="en-GB" sz="1200" dirty="0">
                <a:effectLst/>
                <a:latin typeface="+mn-lt"/>
                <a:ea typeface="Calibri" panose="020F0502020204030204" pitchFamily="34" charset="0"/>
              </a:rPr>
              <a:t>CAIM is authorised and regulated by the Financial Conduct Authority. ©CAIM 2026.</a:t>
            </a:r>
          </a:p>
        </p:txBody>
      </p:sp>
      <p:sp>
        <p:nvSpPr>
          <p:cNvPr id="7" name="_Disclaimer Title">
            <a:extLst>
              <a:ext uri="{FF2B5EF4-FFF2-40B4-BE49-F238E27FC236}">
                <a16:creationId xmlns:a16="http://schemas.microsoft.com/office/drawing/2014/main" id="{F791F9B1-A65B-C847-A1C6-D91F9E5C564D}"/>
              </a:ext>
            </a:extLst>
          </p:cNvPr>
          <p:cNvSpPr txBox="1">
            <a:spLocks/>
          </p:cNvSpPr>
          <p:nvPr userDrawn="1"/>
        </p:nvSpPr>
        <p:spPr>
          <a:xfrm>
            <a:off x="872929" y="627105"/>
            <a:ext cx="8001000" cy="4103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1993">
              <a:buClr>
                <a:srgbClr val="585858"/>
              </a:buClr>
            </a:pPr>
            <a:r>
              <a:rPr lang="en-GB" sz="2400" b="0" i="0" cap="all" spc="50" baseline="0" dirty="0">
                <a:solidFill>
                  <a:srgbClr val="29214A"/>
                </a:solidFill>
                <a:latin typeface="+mj-lt"/>
                <a:ea typeface="+mj-ea"/>
                <a:cs typeface="Arial" panose="020B0604020202020204" pitchFamily="34" charset="0"/>
              </a:rPr>
              <a:t>Disclaimer</a:t>
            </a:r>
          </a:p>
          <a:p>
            <a:endParaRPr lang="en-GB" sz="1200" kern="0" cap="all" spc="50" baseline="0" dirty="0">
              <a:solidFill>
                <a:sysClr val="windowText" lastClr="000000"/>
              </a:solidFill>
              <a:latin typeface="+mj-lt"/>
              <a:cs typeface="Arial" panose="020B0604020202020204" pitchFamily="34" charset="0"/>
            </a:endParaRPr>
          </a:p>
          <a:p>
            <a:endParaRPr lang="en-GB" sz="1200" kern="0" cap="all" spc="50" baseline="0" dirty="0">
              <a:solidFill>
                <a:sysClr val="windowText" lastClr="000000"/>
              </a:solidFill>
              <a:latin typeface="+mj-lt"/>
              <a:cs typeface="Arial" panose="020B0604020202020204" pitchFamily="34" charset="0"/>
            </a:endParaRPr>
          </a:p>
        </p:txBody>
      </p:sp>
    </p:spTree>
    <p:extLst>
      <p:ext uri="{BB962C8B-B14F-4D97-AF65-F5344CB8AC3E}">
        <p14:creationId xmlns:p14="http://schemas.microsoft.com/office/powerpoint/2010/main" val="2692037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28264B"/>
        </a:solidFill>
        <a:effectLst/>
      </p:bgPr>
    </p:bg>
    <p:spTree>
      <p:nvGrpSpPr>
        <p:cNvPr id="1" name=""/>
        <p:cNvGrpSpPr/>
        <p:nvPr/>
      </p:nvGrpSpPr>
      <p:grpSpPr>
        <a:xfrm>
          <a:off x="0" y="0"/>
          <a:ext cx="0" cy="0"/>
          <a:chOff x="0" y="0"/>
          <a:chExt cx="0" cy="0"/>
        </a:xfrm>
      </p:grpSpPr>
      <p:sp>
        <p:nvSpPr>
          <p:cNvPr id="7" name="_Bottom Footer Line">
            <a:extLst>
              <a:ext uri="{FF2B5EF4-FFF2-40B4-BE49-F238E27FC236}">
                <a16:creationId xmlns:a16="http://schemas.microsoft.com/office/drawing/2014/main" id="{53385F4D-7848-4B9F-9B22-78E080B4F82C}"/>
              </a:ext>
            </a:extLst>
          </p:cNvPr>
          <p:cNvSpPr/>
          <p:nvPr userDrawn="1"/>
        </p:nvSpPr>
        <p:spPr>
          <a:xfrm>
            <a:off x="0" y="6257667"/>
            <a:ext cx="9421535" cy="0"/>
          </a:xfrm>
          <a:custGeom>
            <a:avLst/>
            <a:gdLst/>
            <a:ahLst/>
            <a:cxnLst/>
            <a:rect l="l" t="t" r="r" b="b"/>
            <a:pathLst>
              <a:path w="11595735">
                <a:moveTo>
                  <a:pt x="0" y="0"/>
                </a:moveTo>
                <a:lnTo>
                  <a:pt x="11595186" y="0"/>
                </a:lnTo>
              </a:path>
            </a:pathLst>
          </a:custGeom>
          <a:ln w="19050">
            <a:solidFill>
              <a:srgbClr val="D12E28"/>
            </a:solidFill>
          </a:ln>
        </p:spPr>
        <p:txBody>
          <a:bodyPr wrap="square" lIns="0" tIns="0" rIns="0" bIns="0" rtlCol="0"/>
          <a:lstStyle/>
          <a:p>
            <a:endParaRPr sz="1463"/>
          </a:p>
        </p:txBody>
      </p:sp>
      <p:sp>
        <p:nvSpPr>
          <p:cNvPr id="13" name="_FCA Text">
            <a:extLst>
              <a:ext uri="{FF2B5EF4-FFF2-40B4-BE49-F238E27FC236}">
                <a16:creationId xmlns:a16="http://schemas.microsoft.com/office/drawing/2014/main" id="{94F202A5-6B34-4047-92D1-B19808E154CC}"/>
              </a:ext>
            </a:extLst>
          </p:cNvPr>
          <p:cNvSpPr txBox="1"/>
          <p:nvPr userDrawn="1"/>
        </p:nvSpPr>
        <p:spPr>
          <a:xfrm>
            <a:off x="457200" y="5991101"/>
            <a:ext cx="8964335" cy="246221"/>
          </a:xfrm>
          <a:prstGeom prst="rect">
            <a:avLst/>
          </a:prstGeom>
          <a:noFill/>
        </p:spPr>
        <p:txBody>
          <a:bodyPr wrap="square" lIns="0" rIns="0" rtlCol="0">
            <a:spAutoFit/>
          </a:bodyPr>
          <a:lstStyle/>
          <a:p>
            <a:pPr algn="l" defTabSz="861993">
              <a:buClr>
                <a:srgbClr val="585858"/>
              </a:buClr>
            </a:pPr>
            <a:r>
              <a:rPr lang="en-GB" sz="1000" kern="0" dirty="0">
                <a:solidFill>
                  <a:schemeClr val="bg1"/>
                </a:solidFill>
                <a:latin typeface="+mn-lt"/>
                <a:cs typeface="Arial" panose="020B0604020202020204" pitchFamily="34" charset="0"/>
              </a:rPr>
              <a:t>Authorised and regulated by the Financial Conduct Authority in the UK (Financial Services Register number: 119207)</a:t>
            </a:r>
          </a:p>
        </p:txBody>
      </p:sp>
      <p:sp>
        <p:nvSpPr>
          <p:cNvPr id="9" name="_Email">
            <a:extLst>
              <a:ext uri="{FF2B5EF4-FFF2-40B4-BE49-F238E27FC236}">
                <a16:creationId xmlns:a16="http://schemas.microsoft.com/office/drawing/2014/main" id="{4417115D-D1CD-4602-907A-E6BD418D51D8}"/>
              </a:ext>
            </a:extLst>
          </p:cNvPr>
          <p:cNvSpPr txBox="1"/>
          <p:nvPr userDrawn="1"/>
        </p:nvSpPr>
        <p:spPr>
          <a:xfrm>
            <a:off x="484907" y="3949330"/>
            <a:ext cx="2882271" cy="1544990"/>
          </a:xfrm>
          <a:prstGeom prst="rect">
            <a:avLst/>
          </a:prstGeom>
        </p:spPr>
        <p:txBody>
          <a:bodyPr vert="horz" wrap="square" lIns="0" tIns="13414" rIns="0" bIns="0" rtlCol="0">
            <a:spAutoFit/>
          </a:bodyPr>
          <a:lstStyle/>
          <a:p>
            <a:pPr marL="10319">
              <a:lnSpc>
                <a:spcPts val="1471"/>
              </a:lnSpc>
            </a:pPr>
            <a:r>
              <a:rPr lang="en-GB" sz="1200" b="0" spc="20" baseline="0" dirty="0" err="1">
                <a:solidFill>
                  <a:schemeClr val="bg1"/>
                </a:solidFill>
                <a:latin typeface="+mn-lt"/>
                <a:cs typeface="Arial" panose="020B0604020202020204" pitchFamily="34" charset="0"/>
              </a:rPr>
              <a:t>www.caiml.com</a:t>
            </a:r>
            <a:endParaRPr lang="en-GB" sz="1200" b="0" spc="20" baseline="0" dirty="0">
              <a:solidFill>
                <a:schemeClr val="bg1"/>
              </a:solidFill>
              <a:latin typeface="+mn-lt"/>
              <a:cs typeface="Arial" panose="020B0604020202020204" pitchFamily="34" charset="0"/>
            </a:endParaRPr>
          </a:p>
          <a:p>
            <a:pPr marL="10319">
              <a:lnSpc>
                <a:spcPts val="1471"/>
              </a:lnSpc>
            </a:pPr>
            <a:endParaRPr lang="en-US" sz="1200" b="0" kern="1200" spc="20" baseline="0" dirty="0">
              <a:solidFill>
                <a:schemeClr val="bg1"/>
              </a:solidFill>
              <a:latin typeface="+mn-lt"/>
              <a:ea typeface="+mn-ea"/>
              <a:cs typeface="Arial" panose="020B0604020202020204" pitchFamily="34" charset="0"/>
            </a:endParaRPr>
          </a:p>
          <a:p>
            <a:pPr marL="10319">
              <a:lnSpc>
                <a:spcPts val="1471"/>
              </a:lnSpc>
            </a:pPr>
            <a:r>
              <a:rPr lang="en-GB" sz="1200" kern="1200" spc="20" baseline="0" dirty="0">
                <a:solidFill>
                  <a:schemeClr val="bg1"/>
                </a:solidFill>
                <a:latin typeface="+mn-lt"/>
                <a:ea typeface="+mn-ea"/>
                <a:cs typeface="Arial" panose="020B0604020202020204" pitchFamily="34" charset="0"/>
              </a:rPr>
              <a:t>3 More London,</a:t>
            </a:r>
          </a:p>
          <a:p>
            <a:pPr marL="10319">
              <a:lnSpc>
                <a:spcPts val="1471"/>
              </a:lnSpc>
            </a:pPr>
            <a:r>
              <a:rPr lang="en-GB" sz="1200" kern="1200" spc="20" baseline="0" dirty="0">
                <a:solidFill>
                  <a:schemeClr val="bg1"/>
                </a:solidFill>
                <a:latin typeface="+mn-lt"/>
                <a:ea typeface="+mn-ea"/>
                <a:cs typeface="Arial" panose="020B0604020202020204" pitchFamily="34" charset="0"/>
              </a:rPr>
              <a:t>Riverside,</a:t>
            </a:r>
          </a:p>
          <a:p>
            <a:pPr marL="10319">
              <a:lnSpc>
                <a:spcPts val="1471"/>
              </a:lnSpc>
            </a:pPr>
            <a:r>
              <a:rPr lang="en-GB" sz="1200" kern="1200" spc="20" baseline="0" dirty="0">
                <a:solidFill>
                  <a:schemeClr val="bg1"/>
                </a:solidFill>
                <a:latin typeface="+mn-lt"/>
                <a:ea typeface="+mn-ea"/>
                <a:cs typeface="Arial" panose="020B0604020202020204" pitchFamily="34" charset="0"/>
              </a:rPr>
              <a:t>London SE1 2AQ </a:t>
            </a:r>
          </a:p>
          <a:p>
            <a:pPr marL="10319">
              <a:lnSpc>
                <a:spcPts val="1471"/>
              </a:lnSpc>
            </a:pPr>
            <a:r>
              <a:rPr lang="en-GB" sz="1200" kern="1200" spc="20" baseline="0" dirty="0">
                <a:solidFill>
                  <a:schemeClr val="bg1"/>
                </a:solidFill>
                <a:latin typeface="+mn-lt"/>
                <a:ea typeface="+mn-ea"/>
                <a:cs typeface="Arial" panose="020B0604020202020204" pitchFamily="34" charset="0"/>
              </a:rPr>
              <a:t>United Kingdom</a:t>
            </a:r>
          </a:p>
          <a:p>
            <a:pPr marL="10319">
              <a:lnSpc>
                <a:spcPts val="1471"/>
              </a:lnSpc>
            </a:pPr>
            <a:endParaRPr lang="en-GB" sz="1200" b="0" spc="20" baseline="0" dirty="0">
              <a:solidFill>
                <a:schemeClr val="bg1"/>
              </a:solidFill>
              <a:latin typeface="+mn-lt"/>
              <a:cs typeface="Arial" panose="020B0604020202020204" pitchFamily="34" charset="0"/>
            </a:endParaRPr>
          </a:p>
          <a:p>
            <a:pPr marL="10319">
              <a:lnSpc>
                <a:spcPts val="1471"/>
              </a:lnSpc>
            </a:pPr>
            <a:r>
              <a:rPr lang="en-GB" sz="1200" b="0" kern="1200" spc="20" baseline="0" dirty="0">
                <a:solidFill>
                  <a:schemeClr val="bg1"/>
                </a:solidFill>
                <a:latin typeface="+mn-lt"/>
                <a:ea typeface="+mn-ea"/>
                <a:cs typeface="Arial" panose="020B0604020202020204" pitchFamily="34" charset="0"/>
              </a:rPr>
              <a:t>T: +44 (0)20 7489 7223</a:t>
            </a:r>
          </a:p>
        </p:txBody>
      </p:sp>
      <p:sp>
        <p:nvSpPr>
          <p:cNvPr id="6" name="_Top Footer Line">
            <a:extLst>
              <a:ext uri="{FF2B5EF4-FFF2-40B4-BE49-F238E27FC236}">
                <a16:creationId xmlns:a16="http://schemas.microsoft.com/office/drawing/2014/main" id="{7C8A749F-3BBB-49C4-A758-11B1FC8FB679}"/>
              </a:ext>
            </a:extLst>
          </p:cNvPr>
          <p:cNvSpPr/>
          <p:nvPr userDrawn="1"/>
        </p:nvSpPr>
        <p:spPr>
          <a:xfrm>
            <a:off x="484907" y="3812972"/>
            <a:ext cx="9421535" cy="0"/>
          </a:xfrm>
          <a:custGeom>
            <a:avLst/>
            <a:gdLst/>
            <a:ahLst/>
            <a:cxnLst/>
            <a:rect l="l" t="t" r="r" b="b"/>
            <a:pathLst>
              <a:path w="11595735">
                <a:moveTo>
                  <a:pt x="0" y="0"/>
                </a:moveTo>
                <a:lnTo>
                  <a:pt x="11595193" y="0"/>
                </a:lnTo>
              </a:path>
            </a:pathLst>
          </a:custGeom>
          <a:ln w="31750">
            <a:solidFill>
              <a:srgbClr val="D12E28"/>
            </a:solidFill>
          </a:ln>
        </p:spPr>
        <p:txBody>
          <a:bodyPr wrap="square" lIns="0" tIns="0" rIns="0" bIns="0" rtlCol="0"/>
          <a:lstStyle/>
          <a:p>
            <a:endParaRPr sz="1463"/>
          </a:p>
        </p:txBody>
      </p:sp>
      <p:pic>
        <p:nvPicPr>
          <p:cNvPr id="11" name="Picture 10">
            <a:extLst>
              <a:ext uri="{FF2B5EF4-FFF2-40B4-BE49-F238E27FC236}">
                <a16:creationId xmlns:a16="http://schemas.microsoft.com/office/drawing/2014/main" id="{278DF61B-C13B-8141-8B77-8E29D83749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039" y="502011"/>
            <a:ext cx="2861624" cy="645965"/>
          </a:xfrm>
          <a:prstGeom prst="rect">
            <a:avLst/>
          </a:prstGeom>
        </p:spPr>
      </p:pic>
    </p:spTree>
    <p:extLst>
      <p:ext uri="{BB962C8B-B14F-4D97-AF65-F5344CB8AC3E}">
        <p14:creationId xmlns:p14="http://schemas.microsoft.com/office/powerpoint/2010/main" val="203505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_Blue Sidebar">
            <a:extLst>
              <a:ext uri="{FF2B5EF4-FFF2-40B4-BE49-F238E27FC236}">
                <a16:creationId xmlns:a16="http://schemas.microsoft.com/office/drawing/2014/main" id="{8EAA307B-09C3-4921-BCA2-8CB0361FA8AD}"/>
              </a:ext>
            </a:extLst>
          </p:cNvPr>
          <p:cNvSpPr/>
          <p:nvPr userDrawn="1"/>
        </p:nvSpPr>
        <p:spPr>
          <a:xfrm>
            <a:off x="0" y="0"/>
            <a:ext cx="253841" cy="6858000"/>
          </a:xfrm>
          <a:custGeom>
            <a:avLst/>
            <a:gdLst/>
            <a:ahLst/>
            <a:cxnLst/>
            <a:rect l="l" t="t" r="r" b="b"/>
            <a:pathLst>
              <a:path w="312420" h="6858000">
                <a:moveTo>
                  <a:pt x="0" y="6858000"/>
                </a:moveTo>
                <a:lnTo>
                  <a:pt x="311924" y="6858000"/>
                </a:lnTo>
                <a:lnTo>
                  <a:pt x="311924" y="0"/>
                </a:lnTo>
                <a:lnTo>
                  <a:pt x="0" y="0"/>
                </a:lnTo>
                <a:lnTo>
                  <a:pt x="0" y="6858000"/>
                </a:lnTo>
                <a:close/>
              </a:path>
            </a:pathLst>
          </a:custGeom>
          <a:solidFill>
            <a:srgbClr val="29214A"/>
          </a:solidFill>
        </p:spPr>
        <p:txBody>
          <a:bodyPr wrap="square" lIns="0" tIns="0" rIns="0" bIns="0" rtlCol="0"/>
          <a:lstStyle/>
          <a:p>
            <a:endParaRPr sz="1463"/>
          </a:p>
        </p:txBody>
      </p:sp>
      <p:sp>
        <p:nvSpPr>
          <p:cNvPr id="6" name="_Page Number x"/>
          <p:cNvSpPr>
            <a:spLocks noGrp="1"/>
          </p:cNvSpPr>
          <p:nvPr>
            <p:ph type="sldNum" sz="quarter" idx="4"/>
          </p:nvPr>
        </p:nvSpPr>
        <p:spPr>
          <a:xfrm>
            <a:off x="9149310" y="6225470"/>
            <a:ext cx="576581" cy="329184"/>
          </a:xfrm>
          <a:prstGeom prst="rect">
            <a:avLst/>
          </a:prstGeom>
        </p:spPr>
        <p:txBody>
          <a:bodyPr vert="horz" wrap="square" lIns="91440" tIns="0" rIns="0" bIns="0" rtlCol="0" anchor="t" anchorCtr="0">
            <a:spAutoFit/>
          </a:bodyPr>
          <a:lstStyle>
            <a:lvl1pPr algn="l">
              <a:defRPr sz="2400">
                <a:solidFill>
                  <a:schemeClr val="tx1">
                    <a:lumMod val="25000"/>
                    <a:lumOff val="75000"/>
                  </a:schemeClr>
                </a:solidFill>
                <a:latin typeface="+mj-lt"/>
              </a:defRPr>
            </a:lvl1pPr>
          </a:lstStyle>
          <a:p>
            <a:fld id="{4D6F2D72-4CB1-486D-B1A1-88BC527D97A4}" type="slidenum">
              <a:rPr lang="en-GB" smtClean="0"/>
              <a:pPr/>
              <a:t>‹#›</a:t>
            </a:fld>
            <a:r>
              <a:rPr lang="en-GB"/>
              <a:t> </a:t>
            </a:r>
            <a:endParaRPr lang="en-GB" dirty="0"/>
          </a:p>
        </p:txBody>
      </p:sp>
      <p:sp>
        <p:nvSpPr>
          <p:cNvPr id="7" name="_Page Number">
            <a:extLst>
              <a:ext uri="{FF2B5EF4-FFF2-40B4-BE49-F238E27FC236}">
                <a16:creationId xmlns:a16="http://schemas.microsoft.com/office/drawing/2014/main" id="{F610D52C-3D1F-4C4D-AD6F-52EB8C4D8C12}"/>
              </a:ext>
            </a:extLst>
          </p:cNvPr>
          <p:cNvSpPr txBox="1"/>
          <p:nvPr userDrawn="1"/>
        </p:nvSpPr>
        <p:spPr>
          <a:xfrm>
            <a:off x="8629708" y="6601968"/>
            <a:ext cx="512064" cy="153888"/>
          </a:xfrm>
          <a:prstGeom prst="rect">
            <a:avLst/>
          </a:prstGeom>
          <a:noFill/>
        </p:spPr>
        <p:txBody>
          <a:bodyPr wrap="square" lIns="0" tIns="0" rIns="0" bIns="0" rtlCol="0">
            <a:spAutoFit/>
          </a:bodyPr>
          <a:lstStyle/>
          <a:p>
            <a:pPr algn="r"/>
            <a:fld id="{4D6F2D72-4CB1-486D-B1A1-88BC527D97A4}" type="slidenum">
              <a:rPr lang="en-GB" sz="1000" smtClean="0">
                <a:solidFill>
                  <a:schemeClr val="tx1">
                    <a:lumMod val="75000"/>
                    <a:lumOff val="25000"/>
                  </a:schemeClr>
                </a:solidFill>
                <a:latin typeface="+mj-lt"/>
              </a:rPr>
              <a:pPr algn="r"/>
              <a:t>‹#›</a:t>
            </a:fld>
            <a:endParaRPr lang="en-US" sz="1000" dirty="0">
              <a:solidFill>
                <a:schemeClr val="tx1">
                  <a:lumMod val="75000"/>
                  <a:lumOff val="25000"/>
                </a:schemeClr>
              </a:solidFill>
              <a:latin typeface="+mj-lt"/>
            </a:endParaRPr>
          </a:p>
        </p:txBody>
      </p:sp>
      <p:sp>
        <p:nvSpPr>
          <p:cNvPr id="16" name="_Confidential">
            <a:extLst>
              <a:ext uri="{FF2B5EF4-FFF2-40B4-BE49-F238E27FC236}">
                <a16:creationId xmlns:a16="http://schemas.microsoft.com/office/drawing/2014/main" id="{2987CFCB-7E0F-480F-8775-D262F4E94F35}"/>
              </a:ext>
            </a:extLst>
          </p:cNvPr>
          <p:cNvSpPr txBox="1"/>
          <p:nvPr userDrawn="1"/>
        </p:nvSpPr>
        <p:spPr>
          <a:xfrm>
            <a:off x="3999041" y="6601968"/>
            <a:ext cx="2101933" cy="153888"/>
          </a:xfrm>
          <a:prstGeom prst="rect">
            <a:avLst/>
          </a:prstGeom>
        </p:spPr>
        <p:txBody>
          <a:bodyPr vert="horz" wrap="square" lIns="0" tIns="10319" rIns="0" bIns="0" rtlCol="0">
            <a:spAutoFit/>
          </a:bodyPr>
          <a:lstStyle/>
          <a:p>
            <a:pPr marL="10319" algn="ctr">
              <a:lnSpc>
                <a:spcPct val="100000"/>
              </a:lnSpc>
              <a:spcBef>
                <a:spcPts val="81"/>
              </a:spcBef>
            </a:pPr>
            <a:r>
              <a:rPr lang="en-GB" sz="894" b="0" spc="50" baseline="0" dirty="0">
                <a:solidFill>
                  <a:schemeClr val="tx1">
                    <a:lumMod val="75000"/>
                    <a:lumOff val="25000"/>
                  </a:schemeClr>
                </a:solidFill>
                <a:latin typeface="+mj-lt"/>
                <a:cs typeface="Muli-ExtraBold"/>
              </a:rPr>
              <a:t>PRIVATE &amp; CONFIDENTIAL</a:t>
            </a:r>
            <a:endParaRPr sz="650" b="0" spc="50" baseline="0" dirty="0">
              <a:solidFill>
                <a:schemeClr val="tx1">
                  <a:lumMod val="75000"/>
                  <a:lumOff val="25000"/>
                </a:schemeClr>
              </a:solidFill>
              <a:latin typeface="+mj-lt"/>
              <a:cs typeface="Muli"/>
            </a:endParaRPr>
          </a:p>
        </p:txBody>
      </p:sp>
      <p:sp>
        <p:nvSpPr>
          <p:cNvPr id="5" name="_Date">
            <a:extLst>
              <a:ext uri="{FF2B5EF4-FFF2-40B4-BE49-F238E27FC236}">
                <a16:creationId xmlns:a16="http://schemas.microsoft.com/office/drawing/2014/main" id="{3652B116-39EC-8746-8928-48250FB6D606}"/>
              </a:ext>
            </a:extLst>
          </p:cNvPr>
          <p:cNvSpPr>
            <a:spLocks noGrp="1"/>
          </p:cNvSpPr>
          <p:nvPr>
            <p:ph type="dt" sz="half" idx="2"/>
          </p:nvPr>
        </p:nvSpPr>
        <p:spPr>
          <a:xfrm>
            <a:off x="978408" y="6605428"/>
            <a:ext cx="1282192" cy="138499"/>
          </a:xfrm>
          <a:prstGeom prst="rect">
            <a:avLst/>
          </a:prstGeom>
        </p:spPr>
        <p:txBody>
          <a:bodyPr vert="horz" wrap="square" lIns="0" tIns="0" rIns="0" bIns="0" rtlCol="0" anchor="t" anchorCtr="0">
            <a:spAutoFit/>
          </a:bodyPr>
          <a:lstStyle>
            <a:lvl1pPr algn="l">
              <a:defRPr sz="900" cap="all" spc="50" baseline="0">
                <a:solidFill>
                  <a:schemeClr val="tx1">
                    <a:lumMod val="75000"/>
                    <a:lumOff val="25000"/>
                  </a:schemeClr>
                </a:solidFill>
                <a:latin typeface="+mj-lt"/>
              </a:defRPr>
            </a:lvl1pPr>
          </a:lstStyle>
          <a:p>
            <a:fld id="{97556E8B-0A47-5B4E-9FDB-B8A05728CEB8}" type="datetime3">
              <a:rPr lang="en-US" smtClean="0"/>
              <a:pPr/>
              <a:t>9 September 2026</a:t>
            </a:fld>
            <a:endParaRPr lang="en-US" dirty="0"/>
          </a:p>
        </p:txBody>
      </p:sp>
      <p:sp>
        <p:nvSpPr>
          <p:cNvPr id="14" name="_Footer Line">
            <a:extLst>
              <a:ext uri="{FF2B5EF4-FFF2-40B4-BE49-F238E27FC236}">
                <a16:creationId xmlns:a16="http://schemas.microsoft.com/office/drawing/2014/main" id="{A977F192-B19C-4879-9145-EC003AA1A667}"/>
              </a:ext>
            </a:extLst>
          </p:cNvPr>
          <p:cNvSpPr/>
          <p:nvPr userDrawn="1"/>
        </p:nvSpPr>
        <p:spPr>
          <a:xfrm flipV="1">
            <a:off x="1" y="6453336"/>
            <a:ext cx="9144000" cy="101838"/>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dirty="0"/>
          </a:p>
        </p:txBody>
      </p:sp>
      <p:sp>
        <p:nvSpPr>
          <p:cNvPr id="12" name="_Title Line">
            <a:extLst>
              <a:ext uri="{FF2B5EF4-FFF2-40B4-BE49-F238E27FC236}">
                <a16:creationId xmlns:a16="http://schemas.microsoft.com/office/drawing/2014/main" id="{D4DDF4E4-F644-41E6-9D71-089E97EEB1CE}"/>
              </a:ext>
            </a:extLst>
          </p:cNvPr>
          <p:cNvSpPr/>
          <p:nvPr userDrawn="1"/>
        </p:nvSpPr>
        <p:spPr>
          <a:xfrm flipV="1">
            <a:off x="980496" y="957860"/>
            <a:ext cx="8925504" cy="108940"/>
          </a:xfrm>
          <a:custGeom>
            <a:avLst/>
            <a:gdLst/>
            <a:ahLst/>
            <a:cxnLst/>
            <a:rect l="l" t="t" r="r" b="b"/>
            <a:pathLst>
              <a:path w="5942965">
                <a:moveTo>
                  <a:pt x="0" y="0"/>
                </a:moveTo>
                <a:lnTo>
                  <a:pt x="5942368" y="0"/>
                </a:lnTo>
              </a:path>
            </a:pathLst>
          </a:custGeom>
          <a:ln w="19050">
            <a:solidFill>
              <a:schemeClr val="accent2"/>
            </a:solidFill>
          </a:ln>
        </p:spPr>
        <p:txBody>
          <a:bodyPr wrap="square" lIns="0" tIns="0" rIns="0" bIns="0" rtlCol="0"/>
          <a:lstStyle/>
          <a:p>
            <a:endParaRPr sz="1800"/>
          </a:p>
        </p:txBody>
      </p:sp>
      <p:sp>
        <p:nvSpPr>
          <p:cNvPr id="4" name="Document Code">
            <a:extLst>
              <a:ext uri="{FF2B5EF4-FFF2-40B4-BE49-F238E27FC236}">
                <a16:creationId xmlns:a16="http://schemas.microsoft.com/office/drawing/2014/main" id="{66FCF43D-FEA1-ED4A-905D-F27A5293F7C4}"/>
              </a:ext>
            </a:extLst>
          </p:cNvPr>
          <p:cNvSpPr>
            <a:spLocks noGrp="1"/>
          </p:cNvSpPr>
          <p:nvPr>
            <p:ph type="ftr" sz="quarter" idx="3"/>
          </p:nvPr>
        </p:nvSpPr>
        <p:spPr>
          <a:xfrm rot="16200000">
            <a:off x="-251468" y="5850645"/>
            <a:ext cx="1184110" cy="123111"/>
          </a:xfrm>
          <a:prstGeom prst="rect">
            <a:avLst/>
          </a:prstGeom>
        </p:spPr>
        <p:txBody>
          <a:bodyPr vert="horz" wrap="square" lIns="0" tIns="0" rIns="0" bIns="0" rtlCol="0" anchor="ctr">
            <a:spAutoFit/>
          </a:bodyPr>
          <a:lstStyle>
            <a:lvl1pPr algn="l">
              <a:defRPr sz="800" b="0">
                <a:solidFill>
                  <a:schemeClr val="tx1">
                    <a:lumMod val="25000"/>
                    <a:lumOff val="75000"/>
                  </a:schemeClr>
                </a:solidFill>
                <a:latin typeface="+mn-lt"/>
              </a:defRPr>
            </a:lvl1pPr>
          </a:lstStyle>
          <a:p>
            <a:r>
              <a:rPr lang="en-US">
                <a:ea typeface="Source Sans CAIM" panose="020B0303030403020204" pitchFamily="34" charset="0"/>
              </a:rPr>
              <a:t>Document</a:t>
            </a:r>
            <a:r>
              <a:rPr lang="en-US"/>
              <a:t> Code</a:t>
            </a:r>
            <a:endParaRPr lang="en-US" dirty="0"/>
          </a:p>
        </p:txBody>
      </p:sp>
      <p:sp>
        <p:nvSpPr>
          <p:cNvPr id="3" name="Content"/>
          <p:cNvSpPr>
            <a:spLocks noGrp="1"/>
          </p:cNvSpPr>
          <p:nvPr>
            <p:ph type="body" idx="1"/>
          </p:nvPr>
        </p:nvSpPr>
        <p:spPr>
          <a:xfrm>
            <a:off x="978408" y="1719072"/>
            <a:ext cx="8143200" cy="1261884"/>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979200" y="666368"/>
            <a:ext cx="6316950" cy="341632"/>
          </a:xfrm>
          <a:prstGeom prst="rect">
            <a:avLst/>
          </a:prstGeom>
        </p:spPr>
        <p:txBody>
          <a:bodyPr vert="horz" wrap="square" lIns="0" tIns="0" rIns="0" bIns="0" rtlCol="0" anchor="b" anchorCtr="0">
            <a:spAutoFit/>
          </a:bodyPr>
          <a:lstStyle/>
          <a:p>
            <a:r>
              <a:rPr lang="en-US"/>
              <a:t>Click to edit Master title style</a:t>
            </a:r>
            <a:endParaRPr lang="en-US" dirty="0"/>
          </a:p>
        </p:txBody>
      </p:sp>
      <p:pic>
        <p:nvPicPr>
          <p:cNvPr id="10" name="Picture 9" descr="Logo&#10;&#10;Description automatically generated">
            <a:extLst>
              <a:ext uri="{FF2B5EF4-FFF2-40B4-BE49-F238E27FC236}">
                <a16:creationId xmlns:a16="http://schemas.microsoft.com/office/drawing/2014/main" id="{A3C3C617-1191-1642-ADE0-290536539490}"/>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7640318" y="377086"/>
            <a:ext cx="1838996" cy="398051"/>
          </a:xfrm>
          <a:prstGeom prst="rect">
            <a:avLst/>
          </a:prstGeom>
        </p:spPr>
      </p:pic>
    </p:spTree>
    <p:extLst>
      <p:ext uri="{BB962C8B-B14F-4D97-AF65-F5344CB8AC3E}">
        <p14:creationId xmlns:p14="http://schemas.microsoft.com/office/powerpoint/2010/main" val="372872143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03" r:id="rId3"/>
    <p:sldLayoutId id="2147483704" r:id="rId4"/>
    <p:sldLayoutId id="2147483706" r:id="rId5"/>
    <p:sldLayoutId id="2147483705"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20" r:id="rId18"/>
    <p:sldLayoutId id="2147483719" r:id="rId19"/>
    <p:sldLayoutId id="2147483721" r:id="rId20"/>
    <p:sldLayoutId id="2147483722" r:id="rId21"/>
    <p:sldLayoutId id="2147483690" r:id="rId22"/>
  </p:sldLayoutIdLst>
  <p:hf sldNum="0" hdr="0" ftr="0" dt="0"/>
  <p:txStyles>
    <p:titleStyle>
      <a:lvl1pPr algn="l" defTabSz="914400" rtl="0" eaLnBrk="1" latinLnBrk="0" hangingPunct="1">
        <a:lnSpc>
          <a:spcPct val="90000"/>
        </a:lnSpc>
        <a:spcBef>
          <a:spcPct val="0"/>
        </a:spcBef>
        <a:buNone/>
        <a:defRPr sz="2400" kern="1200" cap="all" spc="50" baseline="0">
          <a:solidFill>
            <a:schemeClr val="accent1"/>
          </a:solidFill>
          <a:latin typeface="+mj-lt"/>
          <a:ea typeface="+mj-ea"/>
          <a:cs typeface="+mj-cs"/>
        </a:defRPr>
      </a:lvl1pPr>
    </p:titleStyle>
    <p:body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80">
          <p15:clr>
            <a:srgbClr val="F26B43"/>
          </p15:clr>
        </p15:guide>
        <p15:guide id="2" pos="616">
          <p15:clr>
            <a:srgbClr val="F26B43"/>
          </p15:clr>
        </p15:guide>
        <p15:guide id="3" orient="horz" pos="3792">
          <p15:clr>
            <a:srgbClr val="F26B43"/>
          </p15:clr>
        </p15:guide>
        <p15:guide id="5" pos="5748">
          <p15:clr>
            <a:srgbClr val="F26B43"/>
          </p15:clr>
        </p15:guide>
        <p15:guide id="6" orient="horz" pos="1224">
          <p15:clr>
            <a:srgbClr val="F26B43"/>
          </p15:clr>
        </p15:guide>
        <p15:guide id="8" orient="horz" pos="3840">
          <p15:clr>
            <a:srgbClr val="F26B43"/>
          </p15:clr>
        </p15:guide>
        <p15:guide id="9" pos="3130">
          <p15:clr>
            <a:srgbClr val="F26B43"/>
          </p15:clr>
        </p15:guide>
        <p15:guide id="10" pos="3240">
          <p15:clr>
            <a:srgbClr val="F26B43"/>
          </p15:clr>
        </p15:guide>
        <p15:guide id="11" orient="horz" pos="2415">
          <p15:clr>
            <a:srgbClr val="9FCC3B"/>
          </p15:clr>
        </p15:guide>
        <p15:guide id="12" orient="horz" pos="2472">
          <p15:clr>
            <a:srgbClr val="9FCC3B"/>
          </p15:clr>
        </p15:guide>
        <p15:guide id="13" orient="horz" pos="2616">
          <p15:clr>
            <a:srgbClr val="9FCC3B"/>
          </p15:clr>
        </p15:guide>
        <p15:guide id="14" pos="2616">
          <p15:clr>
            <a:srgbClr val="FBAE40"/>
          </p15:clr>
        </p15:guide>
        <p15:guide id="15" pos="2720">
          <p15:clr>
            <a:srgbClr val="FBAE40"/>
          </p15:clr>
        </p15:guide>
        <p15:guide id="16" pos="3643">
          <p15:clr>
            <a:srgbClr val="FBAE40"/>
          </p15:clr>
        </p15:guide>
        <p15:guide id="17" pos="3754">
          <p15:clr>
            <a:srgbClr val="FBAE40"/>
          </p15:clr>
        </p15:guide>
        <p15:guide id="18" orient="horz" pos="2686">
          <p15:clr>
            <a:srgbClr val="5ACBF0"/>
          </p15:clr>
        </p15:guide>
        <p15:guide id="19" orient="horz" pos="2741">
          <p15:clr>
            <a:srgbClr val="5ACBF0"/>
          </p15:clr>
        </p15:guide>
        <p15:guide id="20" orient="horz" pos="2887">
          <p15:clr>
            <a:srgbClr val="5ACBF0"/>
          </p15:clr>
        </p15:guide>
        <p15:guide id="21" orient="horz" pos="936">
          <p15:clr>
            <a:srgbClr val="F26B43"/>
          </p15:clr>
        </p15:guide>
        <p15:guide id="22" orient="horz" pos="7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F29F68-6B6A-084F-8C23-D89DF59BF9C5}"/>
              </a:ext>
            </a:extLst>
          </p:cNvPr>
          <p:cNvSpPr>
            <a:spLocks noGrp="1"/>
          </p:cNvSpPr>
          <p:nvPr>
            <p:ph type="body" sz="quarter" idx="13"/>
          </p:nvPr>
        </p:nvSpPr>
        <p:spPr>
          <a:xfrm>
            <a:off x="6791067" y="6053638"/>
            <a:ext cx="2619788" cy="246221"/>
          </a:xfrm>
        </p:spPr>
        <p:txBody>
          <a:bodyPr/>
          <a:lstStyle/>
          <a:p>
            <a:r>
              <a:rPr lang="en-US" dirty="0"/>
              <a:t>OCTOBER 2026</a:t>
            </a:r>
          </a:p>
        </p:txBody>
      </p:sp>
      <p:sp>
        <p:nvSpPr>
          <p:cNvPr id="6" name="Title 5">
            <a:extLst>
              <a:ext uri="{FF2B5EF4-FFF2-40B4-BE49-F238E27FC236}">
                <a16:creationId xmlns:a16="http://schemas.microsoft.com/office/drawing/2014/main" id="{B9C75BA2-9DB5-0940-92EB-CC8B28D1363B}"/>
              </a:ext>
            </a:extLst>
          </p:cNvPr>
          <p:cNvSpPr>
            <a:spLocks noGrp="1"/>
          </p:cNvSpPr>
          <p:nvPr>
            <p:ph type="ctrTitle"/>
          </p:nvPr>
        </p:nvSpPr>
        <p:spPr>
          <a:xfrm>
            <a:off x="461006" y="5524543"/>
            <a:ext cx="6135738" cy="775597"/>
          </a:xfrm>
        </p:spPr>
        <p:txBody>
          <a:bodyPr/>
          <a:lstStyle/>
          <a:p>
            <a:r>
              <a:rPr lang="en-US" dirty="0"/>
              <a:t>SIMPLE SCENARIO bootstrapping	</a:t>
            </a:r>
            <a:endParaRPr lang="en-US" dirty="0">
              <a:solidFill>
                <a:schemeClr val="bg1">
                  <a:lumMod val="65000"/>
                </a:schemeClr>
              </a:solidFill>
            </a:endParaRPr>
          </a:p>
        </p:txBody>
      </p:sp>
    </p:spTree>
    <p:extLst>
      <p:ext uri="{BB962C8B-B14F-4D97-AF65-F5344CB8AC3E}">
        <p14:creationId xmlns:p14="http://schemas.microsoft.com/office/powerpoint/2010/main" val="313781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Ways of generating scenarios</a:t>
            </a:r>
          </a:p>
        </p:txBody>
      </p:sp>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2" y="1390263"/>
            <a:ext cx="7953990" cy="1800493"/>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To recap: there are several ways of generating scenarios, which include:</a:t>
            </a:r>
          </a:p>
          <a:p>
            <a:pPr lvl="1">
              <a:spcAft>
                <a:spcPts val="1800"/>
              </a:spcAft>
            </a:pPr>
            <a:r>
              <a:rPr lang="en-GB" sz="1800" dirty="0">
                <a:latin typeface="+mn-lt"/>
              </a:rPr>
              <a:t>Using history</a:t>
            </a:r>
          </a:p>
          <a:p>
            <a:pPr lvl="1">
              <a:spcAft>
                <a:spcPts val="1800"/>
              </a:spcAft>
            </a:pPr>
            <a:r>
              <a:rPr lang="en-GB" sz="1800" dirty="0">
                <a:latin typeface="+mn-lt"/>
              </a:rPr>
              <a:t>Monte Carlo simulation</a:t>
            </a:r>
          </a:p>
          <a:p>
            <a:pPr lvl="1">
              <a:spcAft>
                <a:spcPts val="1800"/>
              </a:spcAft>
            </a:pPr>
            <a:r>
              <a:rPr lang="en-GB" sz="1800" dirty="0">
                <a:latin typeface="+mn-lt"/>
              </a:rPr>
              <a:t>Boot-strapping</a:t>
            </a:r>
          </a:p>
        </p:txBody>
      </p:sp>
      <p:sp>
        <p:nvSpPr>
          <p:cNvPr id="2" name="Content Placeholder 13">
            <a:extLst>
              <a:ext uri="{FF2B5EF4-FFF2-40B4-BE49-F238E27FC236}">
                <a16:creationId xmlns:a16="http://schemas.microsoft.com/office/drawing/2014/main" id="{B952D6A5-F6AC-8777-A8BE-6FFBA622DEC8}"/>
              </a:ext>
            </a:extLst>
          </p:cNvPr>
          <p:cNvSpPr txBox="1">
            <a:spLocks/>
          </p:cNvSpPr>
          <p:nvPr/>
        </p:nvSpPr>
        <p:spPr>
          <a:xfrm>
            <a:off x="1063262" y="3766477"/>
            <a:ext cx="7953990" cy="1846659"/>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Boot-strapping is a way of taking short periods from history and combining them to generate </a:t>
            </a:r>
            <a:r>
              <a:rPr lang="en-GB" sz="1800" dirty="0"/>
              <a:t>lots of scenarios of longer length.</a:t>
            </a:r>
          </a:p>
          <a:p>
            <a:pPr>
              <a:spcAft>
                <a:spcPts val="1800"/>
              </a:spcAft>
            </a:pPr>
            <a:endParaRPr lang="en-GB" sz="1800" dirty="0"/>
          </a:p>
          <a:p>
            <a:pPr>
              <a:spcAft>
                <a:spcPts val="1800"/>
              </a:spcAft>
            </a:pPr>
            <a:r>
              <a:rPr lang="en-GB" sz="1800" dirty="0"/>
              <a:t>It takes a small number of historical periods and can generate many times more simulated scenarios.</a:t>
            </a:r>
          </a:p>
        </p:txBody>
      </p:sp>
    </p:spTree>
    <p:extLst>
      <p:ext uri="{BB962C8B-B14F-4D97-AF65-F5344CB8AC3E}">
        <p14:creationId xmlns:p14="http://schemas.microsoft.com/office/powerpoint/2010/main" val="1672068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C12EE48-A485-D228-49CF-B7356F77D293}"/>
              </a:ext>
            </a:extLst>
          </p:cNvPr>
          <p:cNvSpPr>
            <a:spLocks noGrp="1"/>
          </p:cNvSpPr>
          <p:nvPr>
            <p:ph type="title"/>
          </p:nvPr>
        </p:nvSpPr>
        <p:spPr/>
        <p:txBody>
          <a:bodyPr/>
          <a:lstStyle/>
          <a:p>
            <a:r>
              <a:rPr lang="en-GB" dirty="0"/>
              <a:t>How it works</a:t>
            </a:r>
          </a:p>
        </p:txBody>
      </p:sp>
      <mc:AlternateContent xmlns:mc="http://schemas.openxmlformats.org/markup-compatibility/2006" xmlns:a14="http://schemas.microsoft.com/office/drawing/2010/main">
        <mc:Choice Requires="a14">
          <p:sp>
            <p:nvSpPr>
              <p:cNvPr id="13" name="Content Placeholder 13">
                <a:extLst>
                  <a:ext uri="{FF2B5EF4-FFF2-40B4-BE49-F238E27FC236}">
                    <a16:creationId xmlns:a16="http://schemas.microsoft.com/office/drawing/2014/main" id="{E74639ED-4F6D-973D-7AD8-A365002622EC}"/>
                  </a:ext>
                </a:extLst>
              </p:cNvPr>
              <p:cNvSpPr txBox="1">
                <a:spLocks/>
              </p:cNvSpPr>
              <p:nvPr/>
            </p:nvSpPr>
            <p:spPr>
              <a:xfrm>
                <a:off x="1063262" y="1390263"/>
                <a:ext cx="7953990" cy="1825115"/>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Say we have 100 historical monthly returns.</a:t>
                </a:r>
              </a:p>
              <a:p>
                <a:pPr>
                  <a:spcAft>
                    <a:spcPts val="1800"/>
                  </a:spcAft>
                </a:pPr>
                <a:r>
                  <a:rPr lang="en-GB" sz="1800" dirty="0">
                    <a:latin typeface="+mn-lt"/>
                  </a:rPr>
                  <a:t>To create a simulated annual return we can select 12 monthly returns at random and compound them together.</a:t>
                </a:r>
              </a:p>
              <a:p>
                <a:pPr>
                  <a:spcAft>
                    <a:spcPts val="1800"/>
                  </a:spcAft>
                </a:pPr>
                <a:r>
                  <a:rPr lang="en-GB" sz="1800" dirty="0">
                    <a:latin typeface="+mn-lt"/>
                  </a:rPr>
                  <a:t>There are  </a:t>
                </a:r>
                <a14:m>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111!</m:t>
                        </m:r>
                      </m:num>
                      <m:den>
                        <m:r>
                          <a:rPr lang="en-GB" sz="2400" b="0" i="1" smtClean="0">
                            <a:latin typeface="Cambria Math" panose="02040503050406030204" pitchFamily="18" charset="0"/>
                          </a:rPr>
                          <m:t>99!12!</m:t>
                        </m:r>
                      </m:den>
                    </m:f>
                  </m:oMath>
                </a14:m>
                <a:r>
                  <a:rPr lang="en-GB" sz="2400" dirty="0">
                    <a:latin typeface="+mn-lt"/>
                  </a:rPr>
                  <a:t>  </a:t>
                </a:r>
                <a:r>
                  <a:rPr lang="en-GB" sz="1800" dirty="0">
                    <a:latin typeface="+mn-lt"/>
                  </a:rPr>
                  <a:t>(&gt; 10</a:t>
                </a:r>
                <a:r>
                  <a:rPr lang="en-GB" sz="1800" baseline="30000" dirty="0">
                    <a:latin typeface="+mn-lt"/>
                  </a:rPr>
                  <a:t>15</a:t>
                </a:r>
                <a:r>
                  <a:rPr lang="en-GB" sz="1800" dirty="0">
                    <a:latin typeface="+mn-lt"/>
                  </a:rPr>
                  <a:t>, i.e. a lot of) ways of doing this.</a:t>
                </a:r>
              </a:p>
            </p:txBody>
          </p:sp>
        </mc:Choice>
        <mc:Fallback xmlns="">
          <p:sp>
            <p:nvSpPr>
              <p:cNvPr id="13" name="Content Placeholder 13">
                <a:extLst>
                  <a:ext uri="{FF2B5EF4-FFF2-40B4-BE49-F238E27FC236}">
                    <a16:creationId xmlns:a16="http://schemas.microsoft.com/office/drawing/2014/main" id="{E74639ED-4F6D-973D-7AD8-A365002622EC}"/>
                  </a:ext>
                </a:extLst>
              </p:cNvPr>
              <p:cNvSpPr txBox="1">
                <a:spLocks noRot="1" noChangeAspect="1" noMove="1" noResize="1" noEditPoints="1" noAdjustHandles="1" noChangeArrowheads="1" noChangeShapeType="1" noTextEdit="1"/>
              </p:cNvSpPr>
              <p:nvPr/>
            </p:nvSpPr>
            <p:spPr>
              <a:xfrm>
                <a:off x="1063262" y="1390263"/>
                <a:ext cx="7953990" cy="1825115"/>
              </a:xfrm>
              <a:prstGeom prst="rect">
                <a:avLst/>
              </a:prstGeom>
              <a:blipFill>
                <a:blip r:embed="rId2"/>
                <a:stretch>
                  <a:fillRect l="-1609" t="-4348" b="-2007"/>
                </a:stretch>
              </a:blipFill>
            </p:spPr>
            <p:txBody>
              <a:bodyPr/>
              <a:lstStyle/>
              <a:p>
                <a:r>
                  <a:rPr lang="en-GB">
                    <a:noFill/>
                  </a:rPr>
                  <a:t> </a:t>
                </a:r>
              </a:p>
            </p:txBody>
          </p:sp>
        </mc:Fallback>
      </mc:AlternateContent>
      <p:sp>
        <p:nvSpPr>
          <p:cNvPr id="2" name="Content Placeholder 13">
            <a:extLst>
              <a:ext uri="{FF2B5EF4-FFF2-40B4-BE49-F238E27FC236}">
                <a16:creationId xmlns:a16="http://schemas.microsoft.com/office/drawing/2014/main" id="{B952D6A5-F6AC-8777-A8BE-6FFBA622DEC8}"/>
              </a:ext>
            </a:extLst>
          </p:cNvPr>
          <p:cNvSpPr txBox="1">
            <a:spLocks/>
          </p:cNvSpPr>
          <p:nvPr/>
        </p:nvSpPr>
        <p:spPr>
          <a:xfrm>
            <a:off x="1063262" y="3624714"/>
            <a:ext cx="7953990" cy="2123658"/>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800"/>
              </a:spcAft>
            </a:pPr>
            <a:r>
              <a:rPr lang="en-GB" sz="1800" dirty="0">
                <a:latin typeface="+mn-lt"/>
              </a:rPr>
              <a:t>So even if we generate 1,000 years’ worth of scenarios, they will still be practically independent of each other.</a:t>
            </a:r>
          </a:p>
          <a:p>
            <a:pPr>
              <a:spcAft>
                <a:spcPts val="1800"/>
              </a:spcAft>
            </a:pPr>
            <a:r>
              <a:rPr lang="en-GB" sz="1800" dirty="0"/>
              <a:t>Which means we get rid of serial correlation – any tendency for one scenario to influence the next.</a:t>
            </a:r>
          </a:p>
          <a:p>
            <a:pPr>
              <a:spcAft>
                <a:spcPts val="1800"/>
              </a:spcAft>
            </a:pPr>
            <a:r>
              <a:rPr lang="en-GB" sz="1800" dirty="0"/>
              <a:t>But because we are using </a:t>
            </a:r>
            <a:r>
              <a:rPr lang="en-GB" sz="1800" b="1" i="1" dirty="0"/>
              <a:t>the same months for each asset</a:t>
            </a:r>
            <a:r>
              <a:rPr lang="en-GB" sz="1800" i="1" dirty="0"/>
              <a:t> </a:t>
            </a:r>
            <a:r>
              <a:rPr lang="en-GB" sz="1800" dirty="0"/>
              <a:t>we </a:t>
            </a:r>
            <a:r>
              <a:rPr lang="en-GB" sz="1800" i="1" dirty="0"/>
              <a:t>are</a:t>
            </a:r>
            <a:r>
              <a:rPr lang="en-GB" sz="1800" dirty="0"/>
              <a:t> preserving the correlations between their returns.</a:t>
            </a:r>
          </a:p>
        </p:txBody>
      </p:sp>
    </p:spTree>
    <p:extLst>
      <p:ext uri="{BB962C8B-B14F-4D97-AF65-F5344CB8AC3E}">
        <p14:creationId xmlns:p14="http://schemas.microsoft.com/office/powerpoint/2010/main" val="827809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28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392466"/>
      </p:ext>
    </p:extLst>
  </p:cSld>
  <p:clrMapOvr>
    <a:masterClrMapping/>
  </p:clrMapOvr>
</p:sld>
</file>

<file path=ppt/theme/theme1.xml><?xml version="1.0" encoding="utf-8"?>
<a:theme xmlns:a="http://schemas.openxmlformats.org/drawingml/2006/main" name="Office Theme">
  <a:themeElements>
    <a:clrScheme name="CAIM">
      <a:dk1>
        <a:srgbClr val="2C2824"/>
      </a:dk1>
      <a:lt1>
        <a:srgbClr val="FFFFFF"/>
      </a:lt1>
      <a:dk2>
        <a:srgbClr val="D12E28"/>
      </a:dk2>
      <a:lt2>
        <a:srgbClr val="69B578"/>
      </a:lt2>
      <a:accent1>
        <a:srgbClr val="28264B"/>
      </a:accent1>
      <a:accent2>
        <a:srgbClr val="9A221D"/>
      </a:accent2>
      <a:accent3>
        <a:srgbClr val="707070"/>
      </a:accent3>
      <a:accent4>
        <a:srgbClr val="548BE9"/>
      </a:accent4>
      <a:accent5>
        <a:srgbClr val="82ACB3"/>
      </a:accent5>
      <a:accent6>
        <a:srgbClr val="E6BE8A"/>
      </a:accent6>
      <a:hlink>
        <a:srgbClr val="675D54"/>
      </a:hlink>
      <a:folHlink>
        <a:srgbClr val="9E9388"/>
      </a:folHlink>
    </a:clrScheme>
    <a:fontScheme name="CAIM OpenSans SourceSansCAIM">
      <a:majorFont>
        <a:latin typeface="Open Sans"/>
        <a:ea typeface=""/>
        <a:cs typeface=""/>
      </a:majorFont>
      <a:minorFont>
        <a:latin typeface="Source Sans CAIM"/>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519AE100-2625-4348-BC27-CA6A15F6162E}" vid="{2873D34A-7D07-4342-B9AD-29D302CD21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CAIM PPTX Template</Template>
  <TotalTime>5480</TotalTime>
  <Words>180</Words>
  <Application>Microsoft Office PowerPoint</Application>
  <PresentationFormat>A4 Paper (210x297 mm)</PresentationFormat>
  <Paragraphs>18</Paragraphs>
  <Slides>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Cambria Math</vt:lpstr>
      <vt:lpstr>Open Sans</vt:lpstr>
      <vt:lpstr>Source Sans CAIM</vt:lpstr>
      <vt:lpstr>System Font Regular</vt:lpstr>
      <vt:lpstr>Office Theme</vt:lpstr>
      <vt:lpstr>SIMPLE SCENARIO bootstrapping </vt:lpstr>
      <vt:lpstr>Ways of generating scenarios</vt:lpstr>
      <vt:lpstr>How it works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Grava, Roberts</dc:creator>
  <cp:lastModifiedBy>Alan Cubbon</cp:lastModifiedBy>
  <cp:revision>148</cp:revision>
  <dcterms:created xsi:type="dcterms:W3CDTF">2021-11-18T14:21:31Z</dcterms:created>
  <dcterms:modified xsi:type="dcterms:W3CDTF">2026-09-09T07:33:57Z</dcterms:modified>
</cp:coreProperties>
</file>