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1"/>
  </p:notesMasterIdLst>
  <p:sldIdLst>
    <p:sldId id="256" r:id="rId2"/>
    <p:sldId id="2102937635" r:id="rId3"/>
    <p:sldId id="2102937631" r:id="rId4"/>
    <p:sldId id="2102937627" r:id="rId5"/>
    <p:sldId id="2102937633" r:id="rId6"/>
    <p:sldId id="2102937632" r:id="rId7"/>
    <p:sldId id="2102937634" r:id="rId8"/>
    <p:sldId id="2102937619" r:id="rId9"/>
    <p:sldId id="2102937620" r:id="rId10"/>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1A73"/>
    <a:srgbClr val="878787"/>
    <a:srgbClr val="D12E28"/>
    <a:srgbClr val="06031B"/>
    <a:srgbClr val="A1D5FF"/>
    <a:srgbClr val="C6C6C6"/>
    <a:srgbClr val="FFED8F"/>
    <a:srgbClr val="C0B55E"/>
    <a:srgbClr val="548BE9"/>
    <a:srgbClr val="4B58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32" autoAdjust="0"/>
    <p:restoredTop sz="96165"/>
  </p:normalViewPr>
  <p:slideViewPr>
    <p:cSldViewPr snapToGrid="0">
      <p:cViewPr varScale="1">
        <p:scale>
          <a:sx n="77" d="100"/>
          <a:sy n="77" d="100"/>
        </p:scale>
        <p:origin x="1063" y="41"/>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5BF13E-0A9F-7A42-B666-707E8C2C3FC9}" type="datetimeFigureOut">
              <a:rPr lang="en-US" smtClean="0"/>
              <a:t>9/8/2026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3770A-0522-EE44-9D17-01699D29C038}" type="slidenum">
              <a:rPr lang="en-US" smtClean="0"/>
              <a:t>‹#›</a:t>
            </a:fld>
            <a:endParaRPr lang="en-US"/>
          </a:p>
        </p:txBody>
      </p:sp>
    </p:spTree>
    <p:extLst>
      <p:ext uri="{BB962C8B-B14F-4D97-AF65-F5344CB8AC3E}">
        <p14:creationId xmlns:p14="http://schemas.microsoft.com/office/powerpoint/2010/main" val="391986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3770A-0522-EE44-9D17-01699D29C038}" type="slidenum">
              <a:rPr lang="en-US" smtClean="0"/>
              <a:t>1</a:t>
            </a:fld>
            <a:endParaRPr lang="en-US"/>
          </a:p>
        </p:txBody>
      </p:sp>
    </p:spTree>
    <p:extLst>
      <p:ext uri="{BB962C8B-B14F-4D97-AF65-F5344CB8AC3E}">
        <p14:creationId xmlns:p14="http://schemas.microsoft.com/office/powerpoint/2010/main" val="28590739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9EA737-26A3-7F4D-9FE4-01A3EC7EBC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208"/>
          <a:stretch/>
        </p:blipFill>
        <p:spPr>
          <a:xfrm>
            <a:off x="0" y="0"/>
            <a:ext cx="9919803" cy="6858002"/>
          </a:xfrm>
          <a:prstGeom prst="rect">
            <a:avLst/>
          </a:prstGeom>
        </p:spPr>
      </p:pic>
      <p:sp>
        <p:nvSpPr>
          <p:cNvPr id="14" name="Date">
            <a:extLst>
              <a:ext uri="{FF2B5EF4-FFF2-40B4-BE49-F238E27FC236}">
                <a16:creationId xmlns:a16="http://schemas.microsoft.com/office/drawing/2014/main" id="{AB2A5CAA-6849-074F-AEE6-2652D32676B4}"/>
              </a:ext>
            </a:extLst>
          </p:cNvPr>
          <p:cNvSpPr>
            <a:spLocks noGrp="1"/>
          </p:cNvSpPr>
          <p:nvPr>
            <p:ph type="body" sz="quarter" idx="13" hasCustomPrompt="1"/>
          </p:nvPr>
        </p:nvSpPr>
        <p:spPr>
          <a:xfrm>
            <a:off x="6821403" y="5748376"/>
            <a:ext cx="2619788" cy="246221"/>
          </a:xfrm>
        </p:spPr>
        <p:txBody>
          <a:bodyPr/>
          <a:lstStyle>
            <a:lvl1pPr marL="0" indent="0" algn="r" fontAlgn="b">
              <a:buNone/>
              <a:defRPr sz="1600" b="0" i="0" cap="all" spc="100" baseline="0">
                <a:solidFill>
                  <a:schemeClr val="tx1">
                    <a:lumMod val="25000"/>
                    <a:lumOff val="75000"/>
                  </a:schemeClr>
                </a:solidFill>
                <a:latin typeface="+mj-lt"/>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Date </a:t>
            </a:r>
          </a:p>
        </p:txBody>
      </p:sp>
      <p:sp>
        <p:nvSpPr>
          <p:cNvPr id="13" name="Name 3">
            <a:extLst>
              <a:ext uri="{FF2B5EF4-FFF2-40B4-BE49-F238E27FC236}">
                <a16:creationId xmlns:a16="http://schemas.microsoft.com/office/drawing/2014/main" id="{B0A01171-0C95-0649-9A4B-BFE5CD9C1AAB}"/>
              </a:ext>
            </a:extLst>
          </p:cNvPr>
          <p:cNvSpPr>
            <a:spLocks noGrp="1"/>
          </p:cNvSpPr>
          <p:nvPr>
            <p:ph type="body" sz="quarter" idx="12" hasCustomPrompt="1"/>
          </p:nvPr>
        </p:nvSpPr>
        <p:spPr>
          <a:xfrm>
            <a:off x="3639302" y="6117708"/>
            <a:ext cx="2619788" cy="430887"/>
          </a:xfrm>
        </p:spPr>
        <p:txBody>
          <a:bodyPr/>
          <a:lstStyle>
            <a:lvl1pPr marL="0" indent="0" algn="ctr">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Presenter Name Three</a:t>
            </a:r>
          </a:p>
          <a:p>
            <a:pPr lvl="0"/>
            <a:r>
              <a:rPr lang="en-US" dirty="0"/>
              <a:t>Job Title</a:t>
            </a:r>
          </a:p>
        </p:txBody>
      </p:sp>
      <p:sp>
        <p:nvSpPr>
          <p:cNvPr id="11" name="Name 2">
            <a:extLst>
              <a:ext uri="{FF2B5EF4-FFF2-40B4-BE49-F238E27FC236}">
                <a16:creationId xmlns:a16="http://schemas.microsoft.com/office/drawing/2014/main" id="{FEE53DEA-97EC-6B4C-A05E-05736964EC83}"/>
              </a:ext>
            </a:extLst>
          </p:cNvPr>
          <p:cNvSpPr>
            <a:spLocks noGrp="1"/>
          </p:cNvSpPr>
          <p:nvPr>
            <p:ph type="body" sz="quarter" idx="11" hasCustomPrompt="1"/>
          </p:nvPr>
        </p:nvSpPr>
        <p:spPr>
          <a:xfrm>
            <a:off x="6821403" y="6117708"/>
            <a:ext cx="2619788" cy="430887"/>
          </a:xfrm>
        </p:spPr>
        <p:txBody>
          <a:bodyPr/>
          <a:lstStyle>
            <a:lvl1pPr marL="0" indent="0" algn="r">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Presenter Name Two</a:t>
            </a:r>
          </a:p>
          <a:p>
            <a:pPr lvl="0"/>
            <a:r>
              <a:rPr lang="en-US"/>
              <a:t>Job Title</a:t>
            </a:r>
          </a:p>
        </p:txBody>
      </p:sp>
      <p:sp>
        <p:nvSpPr>
          <p:cNvPr id="9" name="Name 1">
            <a:extLst>
              <a:ext uri="{FF2B5EF4-FFF2-40B4-BE49-F238E27FC236}">
                <a16:creationId xmlns:a16="http://schemas.microsoft.com/office/drawing/2014/main" id="{7D76FDFA-360A-4E1D-8E68-C41A237A2273}"/>
              </a:ext>
            </a:extLst>
          </p:cNvPr>
          <p:cNvSpPr>
            <a:spLocks noGrp="1"/>
          </p:cNvSpPr>
          <p:nvPr>
            <p:ph type="body" sz="quarter" idx="10" hasCustomPrompt="1"/>
          </p:nvPr>
        </p:nvSpPr>
        <p:spPr>
          <a:xfrm>
            <a:off x="457200" y="6128080"/>
            <a:ext cx="2619788" cy="430887"/>
          </a:xfrm>
        </p:spPr>
        <p:txBody>
          <a:bodyPr/>
          <a:lstStyle>
            <a:lvl1pPr marL="0" indent="0">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Presenter Name One</a:t>
            </a:r>
          </a:p>
          <a:p>
            <a:pPr lvl="0"/>
            <a:r>
              <a:rPr lang="en-US" dirty="0"/>
              <a:t>Job Title</a:t>
            </a:r>
          </a:p>
        </p:txBody>
      </p:sp>
      <p:sp>
        <p:nvSpPr>
          <p:cNvPr id="10" name="Title">
            <a:extLst>
              <a:ext uri="{FF2B5EF4-FFF2-40B4-BE49-F238E27FC236}">
                <a16:creationId xmlns:a16="http://schemas.microsoft.com/office/drawing/2014/main" id="{527E1552-E90D-4F57-96D1-C05313AFBBA3}"/>
              </a:ext>
            </a:extLst>
          </p:cNvPr>
          <p:cNvSpPr>
            <a:spLocks noGrp="1"/>
          </p:cNvSpPr>
          <p:nvPr>
            <p:ph type="ctrTitle" hasCustomPrompt="1"/>
          </p:nvPr>
        </p:nvSpPr>
        <p:spPr>
          <a:xfrm>
            <a:off x="461005" y="5647325"/>
            <a:ext cx="6987102" cy="398571"/>
          </a:xfrm>
          <a:prstGeom prst="rect">
            <a:avLst/>
          </a:prstGeom>
        </p:spPr>
        <p:txBody>
          <a:bodyPr wrap="square" lIns="0" tIns="0" rIns="0" bIns="0">
            <a:spAutoFit/>
          </a:bodyPr>
          <a:lstStyle>
            <a:lvl1pPr>
              <a:defRPr sz="2800" b="0" i="0" kern="1200" cap="all" spc="150" baseline="0">
                <a:solidFill>
                  <a:srgbClr val="FFFFFF"/>
                </a:solidFill>
                <a:latin typeface="+mj-lt"/>
                <a:ea typeface="+mn-ea"/>
                <a:cs typeface="Arial" panose="020B0604020202020204" pitchFamily="34" charset="0"/>
              </a:defRPr>
            </a:lvl1pPr>
          </a:lstStyle>
          <a:p>
            <a:r>
              <a:rPr lang="en-US" dirty="0"/>
              <a:t>Click to edit title</a:t>
            </a:r>
            <a:endParaRPr dirty="0"/>
          </a:p>
        </p:txBody>
      </p:sp>
      <p:sp>
        <p:nvSpPr>
          <p:cNvPr id="8" name="_Footer Line">
            <a:extLst>
              <a:ext uri="{FF2B5EF4-FFF2-40B4-BE49-F238E27FC236}">
                <a16:creationId xmlns:a16="http://schemas.microsoft.com/office/drawing/2014/main" id="{F9755F95-7D3C-4CAB-BE69-1CE668760B23}"/>
              </a:ext>
            </a:extLst>
          </p:cNvPr>
          <p:cNvSpPr/>
          <p:nvPr userDrawn="1"/>
        </p:nvSpPr>
        <p:spPr>
          <a:xfrm flipV="1">
            <a:off x="448056" y="6601213"/>
            <a:ext cx="9464040" cy="45719"/>
          </a:xfrm>
          <a:custGeom>
            <a:avLst/>
            <a:gdLst/>
            <a:ahLst/>
            <a:cxnLst/>
            <a:rect l="l" t="t" r="r" b="b"/>
            <a:pathLst>
              <a:path w="11595735">
                <a:moveTo>
                  <a:pt x="0" y="0"/>
                </a:moveTo>
                <a:lnTo>
                  <a:pt x="11595193" y="0"/>
                </a:lnTo>
              </a:path>
            </a:pathLst>
          </a:custGeom>
          <a:ln w="38100">
            <a:solidFill>
              <a:srgbClr val="D12E28"/>
            </a:solidFill>
          </a:ln>
        </p:spPr>
        <p:txBody>
          <a:bodyPr wrap="square" lIns="0" tIns="0" rIns="0" bIns="0" rtlCol="0"/>
          <a:lstStyle/>
          <a:p>
            <a:endParaRPr sz="1463"/>
          </a:p>
        </p:txBody>
      </p:sp>
      <p:pic>
        <p:nvPicPr>
          <p:cNvPr id="3" name="Picture 2">
            <a:extLst>
              <a:ext uri="{FF2B5EF4-FFF2-40B4-BE49-F238E27FC236}">
                <a16:creationId xmlns:a16="http://schemas.microsoft.com/office/drawing/2014/main" id="{FC509157-F01A-FC4C-B6F4-7399574E8B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79568" y="500152"/>
            <a:ext cx="2861624" cy="645965"/>
          </a:xfrm>
          <a:prstGeom prst="rect">
            <a:avLst/>
          </a:prstGeom>
        </p:spPr>
      </p:pic>
    </p:spTree>
    <p:extLst>
      <p:ext uri="{BB962C8B-B14F-4D97-AF65-F5344CB8AC3E}">
        <p14:creationId xmlns:p14="http://schemas.microsoft.com/office/powerpoint/2010/main" val="304489584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5952">
          <p15:clr>
            <a:srgbClr val="FBAE40"/>
          </p15:clr>
        </p15:guide>
        <p15:guide id="4" pos="288">
          <p15:clr>
            <a:srgbClr val="FBAE40"/>
          </p15:clr>
        </p15:guide>
        <p15:guide id="5" orient="horz" pos="3884">
          <p15:clr>
            <a:srgbClr val="FBAE40"/>
          </p15:clr>
        </p15:guide>
        <p15:guide id="6" pos="4299">
          <p15:clr>
            <a:srgbClr val="FBAE40"/>
          </p15:clr>
        </p15:guide>
        <p15:guide id="7" orient="horz" pos="37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B">
    <p:bg>
      <p:bgPr>
        <a:solidFill>
          <a:schemeClr val="bg1"/>
        </a:solidFill>
        <a:effectLst/>
      </p:bgPr>
    </p:bg>
    <p:spTree>
      <p:nvGrpSpPr>
        <p:cNvPr id="1" name=""/>
        <p:cNvGrpSpPr/>
        <p:nvPr/>
      </p:nvGrpSpPr>
      <p:grpSpPr>
        <a:xfrm>
          <a:off x="0" y="0"/>
          <a:ext cx="0" cy="0"/>
          <a:chOff x="0" y="0"/>
          <a:chExt cx="0" cy="0"/>
        </a:xfrm>
      </p:grpSpPr>
      <p:pic>
        <p:nvPicPr>
          <p:cNvPr id="3" name="_Background Picture">
            <a:extLst>
              <a:ext uri="{FF2B5EF4-FFF2-40B4-BE49-F238E27FC236}">
                <a16:creationId xmlns:a16="http://schemas.microsoft.com/office/drawing/2014/main" id="{F28DA60E-A7E6-4177-B5D1-EF31D90A7454}"/>
              </a:ext>
            </a:extLst>
          </p:cNvPr>
          <p:cNvPicPr preferRelativeResize="0">
            <a:picLocks/>
          </p:cNvPicPr>
          <p:nvPr userDrawn="1"/>
        </p:nvPicPr>
        <p:blipFill rotWithShape="1">
          <a:blip r:embed="rId2">
            <a:extLst>
              <a:ext uri="{BEBA8EAE-BF5A-486C-A8C5-ECC9F3942E4B}">
                <a14:imgProps xmlns:a14="http://schemas.microsoft.com/office/drawing/2010/main">
                  <a14:imgLayer r:embed="rId3">
                    <a14:imgEffect>
                      <a14:saturation sat="25000"/>
                    </a14:imgEffect>
                  </a14:imgLayer>
                </a14:imgProps>
              </a:ext>
              <a:ext uri="{28A0092B-C50C-407E-A947-70E740481C1C}">
                <a14:useLocalDpi xmlns:a14="http://schemas.microsoft.com/office/drawing/2010/main" val="0"/>
              </a:ext>
            </a:extLst>
          </a:blip>
          <a:srcRect t="5725" b="36005"/>
          <a:stretch/>
        </p:blipFill>
        <p:spPr>
          <a:xfrm>
            <a:off x="0" y="2285999"/>
            <a:ext cx="9812740" cy="3125337"/>
          </a:xfrm>
          <a:prstGeom prst="rect">
            <a:avLst/>
          </a:prstGeom>
        </p:spPr>
      </p:pic>
      <p:sp>
        <p:nvSpPr>
          <p:cNvPr id="13" name="_Left Gradient">
            <a:extLst>
              <a:ext uri="{FF2B5EF4-FFF2-40B4-BE49-F238E27FC236}">
                <a16:creationId xmlns:a16="http://schemas.microsoft.com/office/drawing/2014/main" id="{F5B8FC14-1311-4784-AD0E-EC6AF7811891}"/>
              </a:ext>
            </a:extLst>
          </p:cNvPr>
          <p:cNvSpPr/>
          <p:nvPr userDrawn="1"/>
        </p:nvSpPr>
        <p:spPr>
          <a:xfrm rot="16200000">
            <a:off x="3336901" y="-1050654"/>
            <a:ext cx="3124201" cy="9798002"/>
          </a:xfrm>
          <a:prstGeom prst="rect">
            <a:avLst/>
          </a:prstGeom>
          <a:gradFill>
            <a:gsLst>
              <a:gs pos="23000">
                <a:srgbClr val="06031B"/>
              </a:gs>
              <a:gs pos="100000">
                <a:schemeClr val="bg1">
                  <a:lumMod val="95000"/>
                  <a:alpha val="52000"/>
                </a:schemeClr>
              </a:gs>
              <a:gs pos="51000">
                <a:srgbClr val="271A73">
                  <a:alpha val="6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_Red Sidebar">
            <a:extLst>
              <a:ext uri="{FF2B5EF4-FFF2-40B4-BE49-F238E27FC236}">
                <a16:creationId xmlns:a16="http://schemas.microsoft.com/office/drawing/2014/main" id="{64DAF4AE-D5C4-47F9-B1F0-C56B2C2366CA}"/>
              </a:ext>
            </a:extLst>
          </p:cNvPr>
          <p:cNvSpPr/>
          <p:nvPr userDrawn="1"/>
        </p:nvSpPr>
        <p:spPr>
          <a:xfrm flipH="1">
            <a:off x="9798000" y="2285997"/>
            <a:ext cx="108000" cy="3124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_Footer Line">
            <a:extLst>
              <a:ext uri="{FF2B5EF4-FFF2-40B4-BE49-F238E27FC236}">
                <a16:creationId xmlns:a16="http://schemas.microsoft.com/office/drawing/2014/main" id="{2D074338-30F1-4FBE-963F-57A7E82365EE}"/>
              </a:ext>
            </a:extLst>
          </p:cNvPr>
          <p:cNvSpPr/>
          <p:nvPr userDrawn="1"/>
        </p:nvSpPr>
        <p:spPr>
          <a:xfrm flipV="1">
            <a:off x="1" y="6453336"/>
            <a:ext cx="7772400" cy="67600"/>
          </a:xfrm>
          <a:custGeom>
            <a:avLst/>
            <a:gdLst/>
            <a:ahLst/>
            <a:cxnLst/>
            <a:rect l="l" t="t" r="r" b="b"/>
            <a:pathLst>
              <a:path w="5758815">
                <a:moveTo>
                  <a:pt x="0" y="0"/>
                </a:moveTo>
                <a:lnTo>
                  <a:pt x="5758218" y="0"/>
                </a:lnTo>
              </a:path>
            </a:pathLst>
          </a:custGeom>
          <a:ln w="12700">
            <a:solidFill>
              <a:schemeClr val="accent2"/>
            </a:solidFill>
          </a:ln>
        </p:spPr>
        <p:txBody>
          <a:bodyPr wrap="square" lIns="0" tIns="0" rIns="0" bIns="0" rtlCol="0"/>
          <a:lstStyle/>
          <a:p>
            <a:endParaRPr sz="1463"/>
          </a:p>
        </p:txBody>
      </p:sp>
      <p:sp>
        <p:nvSpPr>
          <p:cNvPr id="8" name="_Page Number x">
            <a:extLst>
              <a:ext uri="{FF2B5EF4-FFF2-40B4-BE49-F238E27FC236}">
                <a16:creationId xmlns:a16="http://schemas.microsoft.com/office/drawing/2014/main" id="{6DC44914-55A9-264E-8575-EF9130453419}"/>
              </a:ext>
            </a:extLst>
          </p:cNvPr>
          <p:cNvSpPr>
            <a:spLocks noGrp="1"/>
          </p:cNvSpPr>
          <p:nvPr>
            <p:ph type="sldNum" sz="quarter" idx="12"/>
          </p:nvPr>
        </p:nvSpPr>
        <p:spPr>
          <a:xfrm>
            <a:off x="9208685" y="1807859"/>
            <a:ext cx="576581" cy="329184"/>
          </a:xfrm>
        </p:spPr>
        <p:txBody>
          <a:bodyPr/>
          <a:lstStyle/>
          <a:p>
            <a:fld id="{4D6F2D72-4CB1-486D-B1A1-88BC527D97A4}" type="slidenum">
              <a:rPr lang="en-GB" smtClean="0"/>
              <a:pPr/>
              <a:t>‹#›</a:t>
            </a:fld>
            <a:r>
              <a:rPr lang="en-GB"/>
              <a:t> </a:t>
            </a:r>
            <a:endParaRPr lang="en-GB" dirty="0"/>
          </a:p>
        </p:txBody>
      </p:sp>
      <p:sp>
        <p:nvSpPr>
          <p:cNvPr id="7" name="Document Code">
            <a:extLst>
              <a:ext uri="{FF2B5EF4-FFF2-40B4-BE49-F238E27FC236}">
                <a16:creationId xmlns:a16="http://schemas.microsoft.com/office/drawing/2014/main" id="{BB47E38D-B1A8-8643-9C5F-09922957023C}"/>
              </a:ext>
            </a:extLst>
          </p:cNvPr>
          <p:cNvSpPr>
            <a:spLocks noGrp="1"/>
          </p:cNvSpPr>
          <p:nvPr>
            <p:ph type="ftr" sz="quarter" idx="11"/>
          </p:nvPr>
        </p:nvSpPr>
        <p:spPr>
          <a:xfrm rot="16200000">
            <a:off x="-396449" y="5871918"/>
            <a:ext cx="1046559" cy="123111"/>
          </a:xfrm>
        </p:spPr>
        <p:txBody>
          <a:bodyPr/>
          <a:lstStyle/>
          <a:p>
            <a:r>
              <a:rPr lang="en-US" dirty="0"/>
              <a:t>Document Code</a:t>
            </a:r>
          </a:p>
        </p:txBody>
      </p:sp>
      <p:sp>
        <p:nvSpPr>
          <p:cNvPr id="12" name="_Confidential">
            <a:extLst>
              <a:ext uri="{FF2B5EF4-FFF2-40B4-BE49-F238E27FC236}">
                <a16:creationId xmlns:a16="http://schemas.microsoft.com/office/drawing/2014/main" id="{D95578A3-B718-43FB-ABD3-99427DB02B18}"/>
              </a:ext>
            </a:extLst>
          </p:cNvPr>
          <p:cNvSpPr txBox="1"/>
          <p:nvPr userDrawn="1"/>
        </p:nvSpPr>
        <p:spPr>
          <a:xfrm>
            <a:off x="3941594" y="6599110"/>
            <a:ext cx="1547813" cy="150426"/>
          </a:xfrm>
          <a:prstGeom prst="rect">
            <a:avLst/>
          </a:prstGeom>
        </p:spPr>
        <p:txBody>
          <a:bodyPr vert="horz" wrap="square" lIns="0" tIns="10319" rIns="0" bIns="0" rtlCol="0">
            <a:spAutoFit/>
          </a:bodyPr>
          <a:lstStyle/>
          <a:p>
            <a:pPr marL="10319" algn="ctr">
              <a:lnSpc>
                <a:spcPct val="100000"/>
              </a:lnSpc>
              <a:spcBef>
                <a:spcPts val="81"/>
              </a:spcBef>
            </a:pPr>
            <a:r>
              <a:rPr lang="en-GB" sz="900" b="0" spc="50" baseline="0" dirty="0">
                <a:solidFill>
                  <a:schemeClr val="tx1">
                    <a:lumMod val="75000"/>
                    <a:lumOff val="25000"/>
                  </a:schemeClr>
                </a:solidFill>
                <a:latin typeface="+mj-lt"/>
                <a:cs typeface="Muli-ExtraBold"/>
              </a:rPr>
              <a:t>PRIVATE &amp; CONFIDENTIAL</a:t>
            </a:r>
            <a:endParaRPr sz="900" b="0" spc="50" baseline="0" dirty="0">
              <a:solidFill>
                <a:schemeClr val="tx1">
                  <a:lumMod val="75000"/>
                  <a:lumOff val="25000"/>
                </a:schemeClr>
              </a:solidFill>
              <a:latin typeface="+mj-lt"/>
              <a:cs typeface="Muli"/>
            </a:endParaRPr>
          </a:p>
        </p:txBody>
      </p:sp>
      <p:sp>
        <p:nvSpPr>
          <p:cNvPr id="14" name="_Page Number">
            <a:extLst>
              <a:ext uri="{FF2B5EF4-FFF2-40B4-BE49-F238E27FC236}">
                <a16:creationId xmlns:a16="http://schemas.microsoft.com/office/drawing/2014/main" id="{A6906AB3-4D08-994A-8654-9CB3353BBF70}"/>
              </a:ext>
            </a:extLst>
          </p:cNvPr>
          <p:cNvSpPr txBox="1"/>
          <p:nvPr userDrawn="1"/>
        </p:nvSpPr>
        <p:spPr>
          <a:xfrm>
            <a:off x="7253277" y="6594890"/>
            <a:ext cx="512064" cy="138499"/>
          </a:xfrm>
          <a:prstGeom prst="rect">
            <a:avLst/>
          </a:prstGeom>
          <a:noFill/>
        </p:spPr>
        <p:txBody>
          <a:bodyPr wrap="square" lIns="0" tIns="0" rIns="0" bIns="0" rtlCol="0">
            <a:spAutoFit/>
          </a:bodyPr>
          <a:lstStyle/>
          <a:p>
            <a:pPr algn="r"/>
            <a:fld id="{4D6F2D72-4CB1-486D-B1A1-88BC527D97A4}" type="slidenum">
              <a:rPr lang="en-GB" sz="900" smtClean="0">
                <a:solidFill>
                  <a:schemeClr val="tx1">
                    <a:lumMod val="75000"/>
                    <a:lumOff val="25000"/>
                  </a:schemeClr>
                </a:solidFill>
                <a:latin typeface="+mj-lt"/>
              </a:rPr>
              <a:pPr algn="r"/>
              <a:t>‹#›</a:t>
            </a:fld>
            <a:endParaRPr lang="en-US" sz="900" dirty="0">
              <a:solidFill>
                <a:schemeClr val="tx1">
                  <a:lumMod val="75000"/>
                  <a:lumOff val="25000"/>
                </a:schemeClr>
              </a:solidFill>
              <a:latin typeface="+mj-lt"/>
            </a:endParaRPr>
          </a:p>
        </p:txBody>
      </p:sp>
      <p:sp>
        <p:nvSpPr>
          <p:cNvPr id="6" name="Date">
            <a:extLst>
              <a:ext uri="{FF2B5EF4-FFF2-40B4-BE49-F238E27FC236}">
                <a16:creationId xmlns:a16="http://schemas.microsoft.com/office/drawing/2014/main" id="{F936FBD9-C5DE-8D48-BD68-549672570E37}"/>
              </a:ext>
            </a:extLst>
          </p:cNvPr>
          <p:cNvSpPr>
            <a:spLocks noGrp="1"/>
          </p:cNvSpPr>
          <p:nvPr>
            <p:ph type="dt" sz="half" idx="10"/>
          </p:nvPr>
        </p:nvSpPr>
        <p:spPr/>
        <p:txBody>
          <a:bodyPr/>
          <a:lstStyle/>
          <a:p>
            <a:fld id="{97556E8B-0A47-5B4E-9FDB-B8A05728CEB8}" type="datetime3">
              <a:rPr lang="en-US" smtClean="0"/>
              <a:pPr/>
              <a:t>8 September 2026</a:t>
            </a:fld>
            <a:endParaRPr lang="en-US" dirty="0"/>
          </a:p>
        </p:txBody>
      </p:sp>
      <p:sp>
        <p:nvSpPr>
          <p:cNvPr id="36" name="Title">
            <a:extLst>
              <a:ext uri="{FF2B5EF4-FFF2-40B4-BE49-F238E27FC236}">
                <a16:creationId xmlns:a16="http://schemas.microsoft.com/office/drawing/2014/main" id="{592822F8-A1CA-4A06-88C8-56575B949DED}"/>
              </a:ext>
            </a:extLst>
          </p:cNvPr>
          <p:cNvSpPr>
            <a:spLocks noGrp="1"/>
          </p:cNvSpPr>
          <p:nvPr>
            <p:ph type="title" hasCustomPrompt="1"/>
          </p:nvPr>
        </p:nvSpPr>
        <p:spPr>
          <a:xfrm>
            <a:off x="974028" y="4428403"/>
            <a:ext cx="7898686" cy="332399"/>
          </a:xfrm>
        </p:spPr>
        <p:txBody>
          <a:bodyPr lIns="0" tIns="0" rIns="0" bIns="0" anchor="b" anchorCtr="0"/>
          <a:lstStyle>
            <a:lvl1pPr>
              <a:defRPr sz="2400" b="0" i="0" spc="100" baseline="0" dirty="0">
                <a:solidFill>
                  <a:schemeClr val="bg1"/>
                </a:solidFill>
                <a:latin typeface="+mj-lt"/>
                <a:ea typeface="+mj-ea"/>
                <a:cs typeface="Arial" panose="020B0604020202020204" pitchFamily="34" charset="0"/>
              </a:defRPr>
            </a:lvl1pPr>
          </a:lstStyle>
          <a:p>
            <a:r>
              <a:rPr lang="en-US" dirty="0"/>
              <a:t>Click to edit section title</a:t>
            </a:r>
            <a:endParaRPr dirty="0"/>
          </a:p>
        </p:txBody>
      </p:sp>
      <p:pic>
        <p:nvPicPr>
          <p:cNvPr id="15" name="Picture 14" descr="Logo&#10;&#10;Description automatically generated">
            <a:extLst>
              <a:ext uri="{FF2B5EF4-FFF2-40B4-BE49-F238E27FC236}">
                <a16:creationId xmlns:a16="http://schemas.microsoft.com/office/drawing/2014/main" id="{991FC7CC-B3A6-9B42-AA68-3D97D707A3E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829097" y="6330189"/>
            <a:ext cx="1838996" cy="398051"/>
          </a:xfrm>
          <a:prstGeom prst="rect">
            <a:avLst/>
          </a:prstGeom>
        </p:spPr>
      </p:pic>
    </p:spTree>
    <p:extLst>
      <p:ext uri="{BB962C8B-B14F-4D97-AF65-F5344CB8AC3E}">
        <p14:creationId xmlns:p14="http://schemas.microsoft.com/office/powerpoint/2010/main" val="4199460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5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127966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ntent w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5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Title">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4666"/>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516286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174210"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158335" y="1714500"/>
            <a:ext cx="3990975"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3990975"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600822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174210"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158335" y="1947672"/>
            <a:ext cx="399097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5149850" y="1714500"/>
            <a:ext cx="397510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399097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397510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183733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3:2">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959474" y="6096000"/>
            <a:ext cx="3189836"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959475" y="1714500"/>
            <a:ext cx="3189835"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4805362"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4805363"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26481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3:2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959474" y="6096000"/>
            <a:ext cx="3189835"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959475" y="1947672"/>
            <a:ext cx="318983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5959474" y="1714500"/>
            <a:ext cx="3165475"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4805362"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4805363"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899" y="1714500"/>
            <a:ext cx="4805363"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0068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3">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4318000" y="6096000"/>
            <a:ext cx="483131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4318001" y="1714500"/>
            <a:ext cx="4831310"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189836"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1" y="1714500"/>
            <a:ext cx="3189836"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830860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3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4318000" y="6096000"/>
            <a:ext cx="483130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4318001" y="1947672"/>
            <a:ext cx="4831310"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4318000" y="1714500"/>
            <a:ext cx="4806949"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189835"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1" y="1943100"/>
            <a:ext cx="3189836"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899" y="1714500"/>
            <a:ext cx="3175001"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30820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ong">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8147048"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3934984"/>
            <a:ext cx="8147049" cy="2089387"/>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211931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05449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Long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159566"/>
            <a:ext cx="8147049" cy="186480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Bottom">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993775" y="3934985"/>
            <a:ext cx="8131174"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189071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958099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Long w Top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025472"/>
            <a:ext cx="8147049" cy="19989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099"/>
            <a:ext cx="8147050" cy="198120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922981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Long 3:2">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8147048"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351338"/>
            <a:ext cx="8147049" cy="167303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254952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000582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Long 3:2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583113"/>
            <a:ext cx="8147049" cy="1441258"/>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Bottom">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993776" y="4355673"/>
            <a:ext cx="8131174"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232092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627061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Long 3:2 w Top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351338"/>
            <a:ext cx="8147049" cy="1673034"/>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099"/>
            <a:ext cx="8147050" cy="233661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48633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ong Chart and Table w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8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4" name="Table">
            <a:extLst>
              <a:ext uri="{FF2B5EF4-FFF2-40B4-BE49-F238E27FC236}">
                <a16:creationId xmlns:a16="http://schemas.microsoft.com/office/drawing/2014/main" id="{932B51FA-CE55-1B4B-AF5B-1B420C4A2AB3}"/>
              </a:ext>
            </a:extLst>
          </p:cNvPr>
          <p:cNvSpPr>
            <a:spLocks noGrp="1"/>
          </p:cNvSpPr>
          <p:nvPr>
            <p:ph type="tbl" sz="quarter" idx="18"/>
          </p:nvPr>
        </p:nvSpPr>
        <p:spPr>
          <a:xfrm>
            <a:off x="977900" y="4351338"/>
            <a:ext cx="8147048" cy="1668462"/>
          </a:xfrm>
          <a:solidFill>
            <a:schemeClr val="tx1">
              <a:lumMod val="10000"/>
              <a:lumOff val="90000"/>
            </a:schemeClr>
          </a:solidFill>
        </p:spPr>
        <p:txBody>
          <a:bodyPr/>
          <a:lstStyle/>
          <a:p>
            <a:r>
              <a:rPr lang="en-US"/>
              <a:t>Click icon to add table</a:t>
            </a:r>
          </a:p>
        </p:txBody>
      </p:sp>
      <p:sp>
        <p:nvSpPr>
          <p:cNvPr id="10" name="Chart">
            <a:extLst>
              <a:ext uri="{FF2B5EF4-FFF2-40B4-BE49-F238E27FC236}">
                <a16:creationId xmlns:a16="http://schemas.microsoft.com/office/drawing/2014/main" id="{2623D900-715A-3247-BE45-23EF1E657179}"/>
              </a:ext>
            </a:extLst>
          </p:cNvPr>
          <p:cNvSpPr>
            <a:spLocks noGrp="1"/>
          </p:cNvSpPr>
          <p:nvPr>
            <p:ph type="chart" sz="quarter" idx="17"/>
          </p:nvPr>
        </p:nvSpPr>
        <p:spPr>
          <a:xfrm>
            <a:off x="977900" y="1943100"/>
            <a:ext cx="8147048" cy="2408238"/>
          </a:xfrm>
          <a:solidFill>
            <a:schemeClr val="tx1">
              <a:lumMod val="10000"/>
              <a:lumOff val="90000"/>
            </a:schemeClr>
          </a:solidFill>
        </p:spPr>
        <p:txBody>
          <a:bodyPr/>
          <a:lstStyle/>
          <a:p>
            <a:r>
              <a:rPr lang="en-US"/>
              <a:t>Click icon to add chart</a:t>
            </a:r>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6779331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8 September 2026</a:t>
            </a:fld>
            <a:endParaRPr lang="en-US" dirty="0"/>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098175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w Takeaway">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8 September 2026</a:t>
            </a:fld>
            <a:endParaRPr lang="en-US" dirty="0"/>
          </a:p>
        </p:txBody>
      </p:sp>
      <p:sp>
        <p:nvSpPr>
          <p:cNvPr id="6" name="Takeaway">
            <a:extLst>
              <a:ext uri="{FF2B5EF4-FFF2-40B4-BE49-F238E27FC236}">
                <a16:creationId xmlns:a16="http://schemas.microsoft.com/office/drawing/2014/main" id="{42D88858-AD18-EF46-8120-719FF25E64F5}"/>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2242110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8 September 2026</a:t>
            </a:fld>
            <a:endParaRPr lang="en-US" dirty="0"/>
          </a:p>
        </p:txBody>
      </p:sp>
      <p:sp>
        <p:nvSpPr>
          <p:cNvPr id="8" name="Background">
            <a:extLst>
              <a:ext uri="{FF2B5EF4-FFF2-40B4-BE49-F238E27FC236}">
                <a16:creationId xmlns:a16="http://schemas.microsoft.com/office/drawing/2014/main" id="{41E8B0BB-1145-8141-BF92-2A78C0995A7E}"/>
              </a:ext>
            </a:extLst>
          </p:cNvPr>
          <p:cNvSpPr/>
          <p:nvPr userDrawn="1"/>
        </p:nvSpPr>
        <p:spPr>
          <a:xfrm>
            <a:off x="977900" y="1485900"/>
            <a:ext cx="8147051" cy="4610100"/>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7" name="Content">
            <a:extLst>
              <a:ext uri="{FF2B5EF4-FFF2-40B4-BE49-F238E27FC236}">
                <a16:creationId xmlns:a16="http://schemas.microsoft.com/office/drawing/2014/main" id="{61B9E6D4-AA43-8845-8A3C-AC6D4AD1E58E}"/>
              </a:ext>
            </a:extLst>
          </p:cNvPr>
          <p:cNvSpPr>
            <a:spLocks noGrp="1"/>
          </p:cNvSpPr>
          <p:nvPr>
            <p:ph type="body" sz="quarter" idx="13" hasCustomPrompt="1"/>
          </p:nvPr>
        </p:nvSpPr>
        <p:spPr>
          <a:xfrm>
            <a:off x="978409" y="1485900"/>
            <a:ext cx="8146542" cy="323165"/>
          </a:xfrm>
        </p:spPr>
        <p:txBody>
          <a:bodyPr lIns="91440" tIns="91440" rIns="91440" bIns="91440"/>
          <a:lstStyle>
            <a:lvl1pPr marL="0" indent="0">
              <a:spcAft>
                <a:spcPts val="0"/>
              </a:spcAft>
              <a:buNone/>
              <a:defRPr sz="900">
                <a:latin typeface="+mn-lt"/>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add asset class name</a:t>
            </a:r>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236092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8 September 2026</a:t>
            </a:fld>
            <a:endParaRPr lang="en-US" dirty="0"/>
          </a:p>
        </p:txBody>
      </p:sp>
      <p:sp>
        <p:nvSpPr>
          <p:cNvPr id="6" name="_Disclaimer Text">
            <a:extLst>
              <a:ext uri="{FF2B5EF4-FFF2-40B4-BE49-F238E27FC236}">
                <a16:creationId xmlns:a16="http://schemas.microsoft.com/office/drawing/2014/main" id="{F4987954-63A9-EC41-B2E9-A1C67EFFEEEA}"/>
              </a:ext>
            </a:extLst>
          </p:cNvPr>
          <p:cNvSpPr txBox="1">
            <a:spLocks/>
          </p:cNvSpPr>
          <p:nvPr userDrawn="1"/>
        </p:nvSpPr>
        <p:spPr>
          <a:xfrm>
            <a:off x="980495" y="1877926"/>
            <a:ext cx="8143625" cy="3735477"/>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dirty="0">
                <a:solidFill>
                  <a:srgbClr val="212121"/>
                </a:solidFill>
                <a:effectLst/>
                <a:latin typeface="+mn-lt"/>
                <a:ea typeface="Calibri" panose="020F0502020204030204" pitchFamily="34" charset="0"/>
              </a:rPr>
              <a:t>This document is not intended for use or distribution by any person in any jurisdiction in which it is not authorised or permitted, or to anyone who would be an unlawful recipient. The original recipient is solely responsible for any actions in further distributing this document, and in doing so should be satisfied that there is no breach of local legislation or regulation. This document should not be reproduced or distributed except via original recipients acting as professional intermediaries. This document is not for distribution in the United States. Any opinions expressed herein are those at the date this document is issued. Data, models and other statistics are sourced from our own records, unless otherwise stated. We believe that the information contained is from reliable sources, but we do not guarantee the relevance, accuracy or completeness thereof. Unless otherwise provided under UK law, CAIM does not accept liability for irrelevant, inaccurate or incomplete information contained, or for the correctness of opinions expressed. The value of investments may fluctuate, and it is possible that an investor may incur losses, including a loss of the principal invested. Past performance is not indicative of future performance. Investors whose reference currency differs from that in which the underlying assets are invested may be subject to exchange rate movements that alter the value of their investments. This document is only intended for use by the original recipient, either a CAIM client or prospective client, and does not constitute investment advice or an offer or solicitation to buy or sell.</a:t>
            </a:r>
            <a:endParaRPr lang="en-GB" sz="1200" dirty="0">
              <a:effectLst/>
              <a:latin typeface="+mn-lt"/>
              <a:ea typeface="Calibri" panose="020F0502020204030204" pitchFamily="34" charset="0"/>
            </a:endParaRPr>
          </a:p>
          <a:p>
            <a:r>
              <a:rPr lang="en-GB" sz="1200" dirty="0">
                <a:solidFill>
                  <a:srgbClr val="212121"/>
                </a:solidFill>
                <a:effectLst/>
                <a:latin typeface="+mn-lt"/>
                <a:ea typeface="Calibri" panose="020F0502020204030204" pitchFamily="34" charset="0"/>
              </a:rPr>
              <a:t> </a:t>
            </a:r>
            <a:endParaRPr lang="en-GB" sz="1200" dirty="0">
              <a:effectLst/>
              <a:latin typeface="+mn-lt"/>
              <a:ea typeface="Calibri" panose="020F0502020204030204" pitchFamily="34" charset="0"/>
            </a:endParaRPr>
          </a:p>
          <a:p>
            <a:r>
              <a:rPr lang="en-GB" sz="1200" dirty="0">
                <a:solidFill>
                  <a:srgbClr val="212121"/>
                </a:solidFill>
                <a:effectLst/>
                <a:latin typeface="+mn-lt"/>
                <a:ea typeface="Calibri" panose="020F0502020204030204" pitchFamily="34" charset="0"/>
              </a:rPr>
              <a:t>CAIM (Company Registration No.  02169973) has its registered office at 3 More London Riverside, London SE1 2AQ</a:t>
            </a:r>
            <a:r>
              <a:rPr lang="en-GB" sz="1200" dirty="0">
                <a:effectLst/>
                <a:latin typeface="+mn-lt"/>
                <a:ea typeface="Calibri" panose="020F0502020204030204" pitchFamily="34" charset="0"/>
              </a:rPr>
              <a:t>. </a:t>
            </a:r>
          </a:p>
          <a:p>
            <a:r>
              <a:rPr lang="en-GB" sz="1200" dirty="0">
                <a:effectLst/>
                <a:latin typeface="+mn-lt"/>
                <a:ea typeface="Calibri" panose="020F0502020204030204" pitchFamily="34" charset="0"/>
              </a:rPr>
              <a:t>CAIM is authorised and regulated by the Financial Conduct Authority. ©CAIM 2026.</a:t>
            </a:r>
          </a:p>
        </p:txBody>
      </p:sp>
      <p:sp>
        <p:nvSpPr>
          <p:cNvPr id="7" name="_Disclaimer Title">
            <a:extLst>
              <a:ext uri="{FF2B5EF4-FFF2-40B4-BE49-F238E27FC236}">
                <a16:creationId xmlns:a16="http://schemas.microsoft.com/office/drawing/2014/main" id="{F791F9B1-A65B-C847-A1C6-D91F9E5C564D}"/>
              </a:ext>
            </a:extLst>
          </p:cNvPr>
          <p:cNvSpPr txBox="1">
            <a:spLocks/>
          </p:cNvSpPr>
          <p:nvPr userDrawn="1"/>
        </p:nvSpPr>
        <p:spPr>
          <a:xfrm>
            <a:off x="872929" y="627105"/>
            <a:ext cx="8001000" cy="41031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861993">
              <a:buClr>
                <a:srgbClr val="585858"/>
              </a:buClr>
            </a:pPr>
            <a:r>
              <a:rPr lang="en-GB" sz="2400" b="0" i="0" cap="all" spc="50" baseline="0" dirty="0">
                <a:solidFill>
                  <a:srgbClr val="29214A"/>
                </a:solidFill>
                <a:latin typeface="+mj-lt"/>
                <a:ea typeface="+mj-ea"/>
                <a:cs typeface="Arial" panose="020B0604020202020204" pitchFamily="34" charset="0"/>
              </a:rPr>
              <a:t>Disclaimer</a:t>
            </a:r>
          </a:p>
          <a:p>
            <a:endParaRPr lang="en-GB" sz="1200" kern="0" cap="all" spc="50" baseline="0" dirty="0">
              <a:solidFill>
                <a:sysClr val="windowText" lastClr="000000"/>
              </a:solidFill>
              <a:latin typeface="+mj-lt"/>
              <a:cs typeface="Arial" panose="020B0604020202020204" pitchFamily="34" charset="0"/>
            </a:endParaRPr>
          </a:p>
          <a:p>
            <a:endParaRPr lang="en-GB" sz="1200" kern="0" cap="all" spc="50" baseline="0" dirty="0">
              <a:solidFill>
                <a:sysClr val="windowText" lastClr="000000"/>
              </a:solidFill>
              <a:latin typeface="+mj-lt"/>
              <a:cs typeface="Arial" panose="020B0604020202020204" pitchFamily="34" charset="0"/>
            </a:endParaRPr>
          </a:p>
        </p:txBody>
      </p:sp>
    </p:spTree>
    <p:extLst>
      <p:ext uri="{BB962C8B-B14F-4D97-AF65-F5344CB8AC3E}">
        <p14:creationId xmlns:p14="http://schemas.microsoft.com/office/powerpoint/2010/main" val="26920379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28264B"/>
        </a:solidFill>
        <a:effectLst/>
      </p:bgPr>
    </p:bg>
    <p:spTree>
      <p:nvGrpSpPr>
        <p:cNvPr id="1" name=""/>
        <p:cNvGrpSpPr/>
        <p:nvPr/>
      </p:nvGrpSpPr>
      <p:grpSpPr>
        <a:xfrm>
          <a:off x="0" y="0"/>
          <a:ext cx="0" cy="0"/>
          <a:chOff x="0" y="0"/>
          <a:chExt cx="0" cy="0"/>
        </a:xfrm>
      </p:grpSpPr>
      <p:sp>
        <p:nvSpPr>
          <p:cNvPr id="7" name="_Bottom Footer Line">
            <a:extLst>
              <a:ext uri="{FF2B5EF4-FFF2-40B4-BE49-F238E27FC236}">
                <a16:creationId xmlns:a16="http://schemas.microsoft.com/office/drawing/2014/main" id="{53385F4D-7848-4B9F-9B22-78E080B4F82C}"/>
              </a:ext>
            </a:extLst>
          </p:cNvPr>
          <p:cNvSpPr/>
          <p:nvPr userDrawn="1"/>
        </p:nvSpPr>
        <p:spPr>
          <a:xfrm>
            <a:off x="0" y="6257667"/>
            <a:ext cx="9421535" cy="0"/>
          </a:xfrm>
          <a:custGeom>
            <a:avLst/>
            <a:gdLst/>
            <a:ahLst/>
            <a:cxnLst/>
            <a:rect l="l" t="t" r="r" b="b"/>
            <a:pathLst>
              <a:path w="11595735">
                <a:moveTo>
                  <a:pt x="0" y="0"/>
                </a:moveTo>
                <a:lnTo>
                  <a:pt x="11595186" y="0"/>
                </a:lnTo>
              </a:path>
            </a:pathLst>
          </a:custGeom>
          <a:ln w="19050">
            <a:solidFill>
              <a:srgbClr val="D12E28"/>
            </a:solidFill>
          </a:ln>
        </p:spPr>
        <p:txBody>
          <a:bodyPr wrap="square" lIns="0" tIns="0" rIns="0" bIns="0" rtlCol="0"/>
          <a:lstStyle/>
          <a:p>
            <a:endParaRPr sz="1463"/>
          </a:p>
        </p:txBody>
      </p:sp>
      <p:sp>
        <p:nvSpPr>
          <p:cNvPr id="13" name="_FCA Text">
            <a:extLst>
              <a:ext uri="{FF2B5EF4-FFF2-40B4-BE49-F238E27FC236}">
                <a16:creationId xmlns:a16="http://schemas.microsoft.com/office/drawing/2014/main" id="{94F202A5-6B34-4047-92D1-B19808E154CC}"/>
              </a:ext>
            </a:extLst>
          </p:cNvPr>
          <p:cNvSpPr txBox="1"/>
          <p:nvPr userDrawn="1"/>
        </p:nvSpPr>
        <p:spPr>
          <a:xfrm>
            <a:off x="457200" y="5991101"/>
            <a:ext cx="8964335" cy="246221"/>
          </a:xfrm>
          <a:prstGeom prst="rect">
            <a:avLst/>
          </a:prstGeom>
          <a:noFill/>
        </p:spPr>
        <p:txBody>
          <a:bodyPr wrap="square" lIns="0" rIns="0" rtlCol="0">
            <a:spAutoFit/>
          </a:bodyPr>
          <a:lstStyle/>
          <a:p>
            <a:pPr algn="l" defTabSz="861993">
              <a:buClr>
                <a:srgbClr val="585858"/>
              </a:buClr>
            </a:pPr>
            <a:r>
              <a:rPr lang="en-GB" sz="1000" kern="0" dirty="0">
                <a:solidFill>
                  <a:schemeClr val="bg1"/>
                </a:solidFill>
                <a:latin typeface="+mn-lt"/>
                <a:cs typeface="Arial" panose="020B0604020202020204" pitchFamily="34" charset="0"/>
              </a:rPr>
              <a:t>Authorised and regulated by the Financial Conduct Authority in the UK (Financial Services Register number: 119207)</a:t>
            </a:r>
          </a:p>
        </p:txBody>
      </p:sp>
      <p:sp>
        <p:nvSpPr>
          <p:cNvPr id="9" name="_Email">
            <a:extLst>
              <a:ext uri="{FF2B5EF4-FFF2-40B4-BE49-F238E27FC236}">
                <a16:creationId xmlns:a16="http://schemas.microsoft.com/office/drawing/2014/main" id="{4417115D-D1CD-4602-907A-E6BD418D51D8}"/>
              </a:ext>
            </a:extLst>
          </p:cNvPr>
          <p:cNvSpPr txBox="1"/>
          <p:nvPr userDrawn="1"/>
        </p:nvSpPr>
        <p:spPr>
          <a:xfrm>
            <a:off x="484907" y="3949330"/>
            <a:ext cx="2882271" cy="1352630"/>
          </a:xfrm>
          <a:prstGeom prst="rect">
            <a:avLst/>
          </a:prstGeom>
        </p:spPr>
        <p:txBody>
          <a:bodyPr vert="horz" wrap="square" lIns="0" tIns="13414" rIns="0" bIns="0" rtlCol="0">
            <a:spAutoFit/>
          </a:bodyPr>
          <a:lstStyle/>
          <a:p>
            <a:pPr marL="10319">
              <a:lnSpc>
                <a:spcPts val="1471"/>
              </a:lnSpc>
            </a:pPr>
            <a:r>
              <a:rPr lang="en-GB" sz="1200" b="0" spc="20" baseline="0" dirty="0" err="1">
                <a:solidFill>
                  <a:schemeClr val="bg1"/>
                </a:solidFill>
                <a:latin typeface="+mn-lt"/>
                <a:cs typeface="Arial" panose="020B0604020202020204" pitchFamily="34" charset="0"/>
              </a:rPr>
              <a:t>www.caiml.com</a:t>
            </a:r>
            <a:endParaRPr lang="en-GB" sz="1200" b="0" spc="20" baseline="0" dirty="0">
              <a:solidFill>
                <a:schemeClr val="bg1"/>
              </a:solidFill>
              <a:latin typeface="+mn-lt"/>
              <a:cs typeface="Arial" panose="020B0604020202020204" pitchFamily="34" charset="0"/>
            </a:endParaRPr>
          </a:p>
          <a:p>
            <a:pPr marL="10319">
              <a:lnSpc>
                <a:spcPts val="1471"/>
              </a:lnSpc>
            </a:pPr>
            <a:endParaRPr lang="en-US" sz="1200" b="0" kern="1200" spc="20" baseline="0" dirty="0">
              <a:solidFill>
                <a:schemeClr val="bg1"/>
              </a:solidFill>
              <a:latin typeface="+mn-lt"/>
              <a:ea typeface="+mn-ea"/>
              <a:cs typeface="Arial" panose="020B0604020202020204" pitchFamily="34" charset="0"/>
            </a:endParaRPr>
          </a:p>
          <a:p>
            <a:pPr marL="10319">
              <a:lnSpc>
                <a:spcPts val="1471"/>
              </a:lnSpc>
            </a:pPr>
            <a:r>
              <a:rPr lang="en-GB" sz="1200" kern="1200" spc="20" baseline="0" dirty="0">
                <a:solidFill>
                  <a:schemeClr val="bg1"/>
                </a:solidFill>
                <a:latin typeface="+mn-lt"/>
                <a:ea typeface="+mn-ea"/>
                <a:cs typeface="Arial" panose="020B0604020202020204" pitchFamily="34" charset="0"/>
              </a:rPr>
              <a:t>3 More London Riverside</a:t>
            </a:r>
          </a:p>
          <a:p>
            <a:pPr marL="10319">
              <a:lnSpc>
                <a:spcPts val="1471"/>
              </a:lnSpc>
            </a:pPr>
            <a:r>
              <a:rPr lang="en-GB" sz="1200" kern="1200" spc="20" baseline="0" dirty="0">
                <a:solidFill>
                  <a:schemeClr val="bg1"/>
                </a:solidFill>
                <a:latin typeface="+mn-lt"/>
                <a:ea typeface="+mn-ea"/>
                <a:cs typeface="Arial" panose="020B0604020202020204" pitchFamily="34" charset="0"/>
              </a:rPr>
              <a:t>London SE1 2AQ </a:t>
            </a:r>
          </a:p>
          <a:p>
            <a:pPr marL="10319">
              <a:lnSpc>
                <a:spcPts val="1471"/>
              </a:lnSpc>
            </a:pPr>
            <a:r>
              <a:rPr lang="en-GB" sz="1200" kern="1200" spc="20" baseline="0" dirty="0">
                <a:solidFill>
                  <a:schemeClr val="bg1"/>
                </a:solidFill>
                <a:latin typeface="+mn-lt"/>
                <a:ea typeface="+mn-ea"/>
                <a:cs typeface="Arial" panose="020B0604020202020204" pitchFamily="34" charset="0"/>
              </a:rPr>
              <a:t>United Kingdom</a:t>
            </a:r>
          </a:p>
          <a:p>
            <a:pPr marL="10319">
              <a:lnSpc>
                <a:spcPts val="1471"/>
              </a:lnSpc>
            </a:pPr>
            <a:endParaRPr lang="en-GB" sz="1200" b="0" spc="20" baseline="0" dirty="0">
              <a:solidFill>
                <a:schemeClr val="bg1"/>
              </a:solidFill>
              <a:latin typeface="+mn-lt"/>
              <a:cs typeface="Arial" panose="020B0604020202020204" pitchFamily="34" charset="0"/>
            </a:endParaRPr>
          </a:p>
          <a:p>
            <a:pPr marL="10319">
              <a:lnSpc>
                <a:spcPts val="1471"/>
              </a:lnSpc>
            </a:pPr>
            <a:r>
              <a:rPr lang="en-GB" sz="1200" b="0" kern="1200" spc="20" baseline="0" dirty="0">
                <a:solidFill>
                  <a:schemeClr val="bg1"/>
                </a:solidFill>
                <a:latin typeface="+mn-lt"/>
                <a:ea typeface="+mn-ea"/>
                <a:cs typeface="Arial" panose="020B0604020202020204" pitchFamily="34" charset="0"/>
              </a:rPr>
              <a:t>T: +44 (0)20 7489 7223</a:t>
            </a:r>
          </a:p>
        </p:txBody>
      </p:sp>
      <p:sp>
        <p:nvSpPr>
          <p:cNvPr id="6" name="_Top Footer Line">
            <a:extLst>
              <a:ext uri="{FF2B5EF4-FFF2-40B4-BE49-F238E27FC236}">
                <a16:creationId xmlns:a16="http://schemas.microsoft.com/office/drawing/2014/main" id="{7C8A749F-3BBB-49C4-A758-11B1FC8FB679}"/>
              </a:ext>
            </a:extLst>
          </p:cNvPr>
          <p:cNvSpPr/>
          <p:nvPr userDrawn="1"/>
        </p:nvSpPr>
        <p:spPr>
          <a:xfrm>
            <a:off x="484907" y="3812972"/>
            <a:ext cx="9421535" cy="0"/>
          </a:xfrm>
          <a:custGeom>
            <a:avLst/>
            <a:gdLst/>
            <a:ahLst/>
            <a:cxnLst/>
            <a:rect l="l" t="t" r="r" b="b"/>
            <a:pathLst>
              <a:path w="11595735">
                <a:moveTo>
                  <a:pt x="0" y="0"/>
                </a:moveTo>
                <a:lnTo>
                  <a:pt x="11595193" y="0"/>
                </a:lnTo>
              </a:path>
            </a:pathLst>
          </a:custGeom>
          <a:ln w="31750">
            <a:solidFill>
              <a:srgbClr val="D12E28"/>
            </a:solidFill>
          </a:ln>
        </p:spPr>
        <p:txBody>
          <a:bodyPr wrap="square" lIns="0" tIns="0" rIns="0" bIns="0" rtlCol="0"/>
          <a:lstStyle/>
          <a:p>
            <a:endParaRPr sz="1463"/>
          </a:p>
        </p:txBody>
      </p:sp>
      <p:pic>
        <p:nvPicPr>
          <p:cNvPr id="11" name="Picture 10">
            <a:extLst>
              <a:ext uri="{FF2B5EF4-FFF2-40B4-BE49-F238E27FC236}">
                <a16:creationId xmlns:a16="http://schemas.microsoft.com/office/drawing/2014/main" id="{278DF61B-C13B-8141-8B77-8E29D83749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7039" y="502011"/>
            <a:ext cx="2861624" cy="645965"/>
          </a:xfrm>
          <a:prstGeom prst="rect">
            <a:avLst/>
          </a:prstGeom>
        </p:spPr>
      </p:pic>
    </p:spTree>
    <p:extLst>
      <p:ext uri="{BB962C8B-B14F-4D97-AF65-F5344CB8AC3E}">
        <p14:creationId xmlns:p14="http://schemas.microsoft.com/office/powerpoint/2010/main" val="2035059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_Blue Sidebar">
            <a:extLst>
              <a:ext uri="{FF2B5EF4-FFF2-40B4-BE49-F238E27FC236}">
                <a16:creationId xmlns:a16="http://schemas.microsoft.com/office/drawing/2014/main" id="{8EAA307B-09C3-4921-BCA2-8CB0361FA8AD}"/>
              </a:ext>
            </a:extLst>
          </p:cNvPr>
          <p:cNvSpPr/>
          <p:nvPr userDrawn="1"/>
        </p:nvSpPr>
        <p:spPr>
          <a:xfrm>
            <a:off x="0" y="0"/>
            <a:ext cx="253841" cy="6858000"/>
          </a:xfrm>
          <a:custGeom>
            <a:avLst/>
            <a:gdLst/>
            <a:ahLst/>
            <a:cxnLst/>
            <a:rect l="l" t="t" r="r" b="b"/>
            <a:pathLst>
              <a:path w="312420" h="6858000">
                <a:moveTo>
                  <a:pt x="0" y="6858000"/>
                </a:moveTo>
                <a:lnTo>
                  <a:pt x="311924" y="6858000"/>
                </a:lnTo>
                <a:lnTo>
                  <a:pt x="311924" y="0"/>
                </a:lnTo>
                <a:lnTo>
                  <a:pt x="0" y="0"/>
                </a:lnTo>
                <a:lnTo>
                  <a:pt x="0" y="6858000"/>
                </a:lnTo>
                <a:close/>
              </a:path>
            </a:pathLst>
          </a:custGeom>
          <a:solidFill>
            <a:srgbClr val="29214A"/>
          </a:solidFill>
        </p:spPr>
        <p:txBody>
          <a:bodyPr wrap="square" lIns="0" tIns="0" rIns="0" bIns="0" rtlCol="0"/>
          <a:lstStyle/>
          <a:p>
            <a:endParaRPr sz="1463"/>
          </a:p>
        </p:txBody>
      </p:sp>
      <p:sp>
        <p:nvSpPr>
          <p:cNvPr id="6" name="_Page Number x"/>
          <p:cNvSpPr>
            <a:spLocks noGrp="1"/>
          </p:cNvSpPr>
          <p:nvPr>
            <p:ph type="sldNum" sz="quarter" idx="4"/>
          </p:nvPr>
        </p:nvSpPr>
        <p:spPr>
          <a:xfrm>
            <a:off x="9149310" y="6225470"/>
            <a:ext cx="576581" cy="329184"/>
          </a:xfrm>
          <a:prstGeom prst="rect">
            <a:avLst/>
          </a:prstGeom>
        </p:spPr>
        <p:txBody>
          <a:bodyPr vert="horz" wrap="square" lIns="91440" tIns="0" rIns="0" bIns="0" rtlCol="0" anchor="t" anchorCtr="0">
            <a:spAutoFit/>
          </a:bodyPr>
          <a:lstStyle>
            <a:lvl1pPr algn="l">
              <a:defRPr sz="2400">
                <a:solidFill>
                  <a:schemeClr val="tx1">
                    <a:lumMod val="25000"/>
                    <a:lumOff val="75000"/>
                  </a:schemeClr>
                </a:solidFill>
                <a:latin typeface="+mj-lt"/>
              </a:defRPr>
            </a:lvl1pPr>
          </a:lstStyle>
          <a:p>
            <a:fld id="{4D6F2D72-4CB1-486D-B1A1-88BC527D97A4}" type="slidenum">
              <a:rPr lang="en-GB" smtClean="0"/>
              <a:pPr/>
              <a:t>‹#›</a:t>
            </a:fld>
            <a:r>
              <a:rPr lang="en-GB"/>
              <a:t> </a:t>
            </a:r>
            <a:endParaRPr lang="en-GB" dirty="0"/>
          </a:p>
        </p:txBody>
      </p:sp>
      <p:sp>
        <p:nvSpPr>
          <p:cNvPr id="7" name="_Page Number">
            <a:extLst>
              <a:ext uri="{FF2B5EF4-FFF2-40B4-BE49-F238E27FC236}">
                <a16:creationId xmlns:a16="http://schemas.microsoft.com/office/drawing/2014/main" id="{F610D52C-3D1F-4C4D-AD6F-52EB8C4D8C12}"/>
              </a:ext>
            </a:extLst>
          </p:cNvPr>
          <p:cNvSpPr txBox="1"/>
          <p:nvPr userDrawn="1"/>
        </p:nvSpPr>
        <p:spPr>
          <a:xfrm>
            <a:off x="8629708" y="6601968"/>
            <a:ext cx="512064" cy="153888"/>
          </a:xfrm>
          <a:prstGeom prst="rect">
            <a:avLst/>
          </a:prstGeom>
          <a:noFill/>
        </p:spPr>
        <p:txBody>
          <a:bodyPr wrap="square" lIns="0" tIns="0" rIns="0" bIns="0" rtlCol="0">
            <a:spAutoFit/>
          </a:bodyPr>
          <a:lstStyle/>
          <a:p>
            <a:pPr algn="r"/>
            <a:fld id="{4D6F2D72-4CB1-486D-B1A1-88BC527D97A4}" type="slidenum">
              <a:rPr lang="en-GB" sz="1000" smtClean="0">
                <a:solidFill>
                  <a:schemeClr val="tx1">
                    <a:lumMod val="75000"/>
                    <a:lumOff val="25000"/>
                  </a:schemeClr>
                </a:solidFill>
                <a:latin typeface="+mj-lt"/>
              </a:rPr>
              <a:pPr algn="r"/>
              <a:t>‹#›</a:t>
            </a:fld>
            <a:endParaRPr lang="en-US" sz="1000" dirty="0">
              <a:solidFill>
                <a:schemeClr val="tx1">
                  <a:lumMod val="75000"/>
                  <a:lumOff val="25000"/>
                </a:schemeClr>
              </a:solidFill>
              <a:latin typeface="+mj-lt"/>
            </a:endParaRPr>
          </a:p>
        </p:txBody>
      </p:sp>
      <p:sp>
        <p:nvSpPr>
          <p:cNvPr id="16" name="_Confidential">
            <a:extLst>
              <a:ext uri="{FF2B5EF4-FFF2-40B4-BE49-F238E27FC236}">
                <a16:creationId xmlns:a16="http://schemas.microsoft.com/office/drawing/2014/main" id="{2987CFCB-7E0F-480F-8775-D262F4E94F35}"/>
              </a:ext>
            </a:extLst>
          </p:cNvPr>
          <p:cNvSpPr txBox="1"/>
          <p:nvPr userDrawn="1"/>
        </p:nvSpPr>
        <p:spPr>
          <a:xfrm>
            <a:off x="3999041" y="6601968"/>
            <a:ext cx="2101933" cy="153888"/>
          </a:xfrm>
          <a:prstGeom prst="rect">
            <a:avLst/>
          </a:prstGeom>
        </p:spPr>
        <p:txBody>
          <a:bodyPr vert="horz" wrap="square" lIns="0" tIns="10319" rIns="0" bIns="0" rtlCol="0">
            <a:spAutoFit/>
          </a:bodyPr>
          <a:lstStyle/>
          <a:p>
            <a:pPr marL="10319" algn="ctr">
              <a:lnSpc>
                <a:spcPct val="100000"/>
              </a:lnSpc>
              <a:spcBef>
                <a:spcPts val="81"/>
              </a:spcBef>
            </a:pPr>
            <a:r>
              <a:rPr lang="en-GB" sz="894" b="0" spc="50" baseline="0" dirty="0">
                <a:solidFill>
                  <a:schemeClr val="tx1">
                    <a:lumMod val="75000"/>
                    <a:lumOff val="25000"/>
                  </a:schemeClr>
                </a:solidFill>
                <a:latin typeface="+mj-lt"/>
                <a:cs typeface="Muli-ExtraBold"/>
              </a:rPr>
              <a:t>PRIVATE &amp; CONFIDENTIAL</a:t>
            </a:r>
            <a:endParaRPr sz="650" b="0" spc="50" baseline="0" dirty="0">
              <a:solidFill>
                <a:schemeClr val="tx1">
                  <a:lumMod val="75000"/>
                  <a:lumOff val="25000"/>
                </a:schemeClr>
              </a:solidFill>
              <a:latin typeface="+mj-lt"/>
              <a:cs typeface="Muli"/>
            </a:endParaRPr>
          </a:p>
        </p:txBody>
      </p:sp>
      <p:sp>
        <p:nvSpPr>
          <p:cNvPr id="5" name="_Date">
            <a:extLst>
              <a:ext uri="{FF2B5EF4-FFF2-40B4-BE49-F238E27FC236}">
                <a16:creationId xmlns:a16="http://schemas.microsoft.com/office/drawing/2014/main" id="{3652B116-39EC-8746-8928-48250FB6D606}"/>
              </a:ext>
            </a:extLst>
          </p:cNvPr>
          <p:cNvSpPr>
            <a:spLocks noGrp="1"/>
          </p:cNvSpPr>
          <p:nvPr>
            <p:ph type="dt" sz="half" idx="2"/>
          </p:nvPr>
        </p:nvSpPr>
        <p:spPr>
          <a:xfrm>
            <a:off x="978408" y="6605428"/>
            <a:ext cx="1282192" cy="138499"/>
          </a:xfrm>
          <a:prstGeom prst="rect">
            <a:avLst/>
          </a:prstGeom>
        </p:spPr>
        <p:txBody>
          <a:bodyPr vert="horz" wrap="square" lIns="0" tIns="0" rIns="0" bIns="0" rtlCol="0" anchor="t" anchorCtr="0">
            <a:spAutoFit/>
          </a:bodyPr>
          <a:lstStyle>
            <a:lvl1pPr algn="l">
              <a:defRPr sz="900" cap="all" spc="50" baseline="0">
                <a:solidFill>
                  <a:schemeClr val="tx1">
                    <a:lumMod val="75000"/>
                    <a:lumOff val="25000"/>
                  </a:schemeClr>
                </a:solidFill>
                <a:latin typeface="+mj-lt"/>
              </a:defRPr>
            </a:lvl1pPr>
          </a:lstStyle>
          <a:p>
            <a:fld id="{97556E8B-0A47-5B4E-9FDB-B8A05728CEB8}" type="datetime3">
              <a:rPr lang="en-US" smtClean="0"/>
              <a:pPr/>
              <a:t>8 September 2026</a:t>
            </a:fld>
            <a:endParaRPr lang="en-US" dirty="0"/>
          </a:p>
        </p:txBody>
      </p:sp>
      <p:sp>
        <p:nvSpPr>
          <p:cNvPr id="14" name="_Footer Line">
            <a:extLst>
              <a:ext uri="{FF2B5EF4-FFF2-40B4-BE49-F238E27FC236}">
                <a16:creationId xmlns:a16="http://schemas.microsoft.com/office/drawing/2014/main" id="{A977F192-B19C-4879-9145-EC003AA1A667}"/>
              </a:ext>
            </a:extLst>
          </p:cNvPr>
          <p:cNvSpPr/>
          <p:nvPr userDrawn="1"/>
        </p:nvSpPr>
        <p:spPr>
          <a:xfrm flipV="1">
            <a:off x="1" y="6453336"/>
            <a:ext cx="9144000" cy="101838"/>
          </a:xfrm>
          <a:custGeom>
            <a:avLst/>
            <a:gdLst/>
            <a:ahLst/>
            <a:cxnLst/>
            <a:rect l="l" t="t" r="r" b="b"/>
            <a:pathLst>
              <a:path w="5758815">
                <a:moveTo>
                  <a:pt x="0" y="0"/>
                </a:moveTo>
                <a:lnTo>
                  <a:pt x="5758218" y="0"/>
                </a:lnTo>
              </a:path>
            </a:pathLst>
          </a:custGeom>
          <a:ln w="12700">
            <a:solidFill>
              <a:schemeClr val="accent2"/>
            </a:solidFill>
          </a:ln>
        </p:spPr>
        <p:txBody>
          <a:bodyPr wrap="square" lIns="0" tIns="0" rIns="0" bIns="0" rtlCol="0"/>
          <a:lstStyle/>
          <a:p>
            <a:endParaRPr sz="1463" dirty="0"/>
          </a:p>
        </p:txBody>
      </p:sp>
      <p:sp>
        <p:nvSpPr>
          <p:cNvPr id="12" name="_Title Line">
            <a:extLst>
              <a:ext uri="{FF2B5EF4-FFF2-40B4-BE49-F238E27FC236}">
                <a16:creationId xmlns:a16="http://schemas.microsoft.com/office/drawing/2014/main" id="{D4DDF4E4-F644-41E6-9D71-089E97EEB1CE}"/>
              </a:ext>
            </a:extLst>
          </p:cNvPr>
          <p:cNvSpPr/>
          <p:nvPr userDrawn="1"/>
        </p:nvSpPr>
        <p:spPr>
          <a:xfrm flipV="1">
            <a:off x="980496" y="957860"/>
            <a:ext cx="8925504" cy="108940"/>
          </a:xfrm>
          <a:custGeom>
            <a:avLst/>
            <a:gdLst/>
            <a:ahLst/>
            <a:cxnLst/>
            <a:rect l="l" t="t" r="r" b="b"/>
            <a:pathLst>
              <a:path w="5942965">
                <a:moveTo>
                  <a:pt x="0" y="0"/>
                </a:moveTo>
                <a:lnTo>
                  <a:pt x="5942368" y="0"/>
                </a:lnTo>
              </a:path>
            </a:pathLst>
          </a:custGeom>
          <a:ln w="19050">
            <a:solidFill>
              <a:schemeClr val="accent2"/>
            </a:solidFill>
          </a:ln>
        </p:spPr>
        <p:txBody>
          <a:bodyPr wrap="square" lIns="0" tIns="0" rIns="0" bIns="0" rtlCol="0"/>
          <a:lstStyle/>
          <a:p>
            <a:endParaRPr sz="1800"/>
          </a:p>
        </p:txBody>
      </p:sp>
      <p:sp>
        <p:nvSpPr>
          <p:cNvPr id="4" name="Document Code">
            <a:extLst>
              <a:ext uri="{FF2B5EF4-FFF2-40B4-BE49-F238E27FC236}">
                <a16:creationId xmlns:a16="http://schemas.microsoft.com/office/drawing/2014/main" id="{66FCF43D-FEA1-ED4A-905D-F27A5293F7C4}"/>
              </a:ext>
            </a:extLst>
          </p:cNvPr>
          <p:cNvSpPr>
            <a:spLocks noGrp="1"/>
          </p:cNvSpPr>
          <p:nvPr>
            <p:ph type="ftr" sz="quarter" idx="3"/>
          </p:nvPr>
        </p:nvSpPr>
        <p:spPr>
          <a:xfrm rot="16200000">
            <a:off x="-251468" y="5850645"/>
            <a:ext cx="1184110" cy="123111"/>
          </a:xfrm>
          <a:prstGeom prst="rect">
            <a:avLst/>
          </a:prstGeom>
        </p:spPr>
        <p:txBody>
          <a:bodyPr vert="horz" wrap="square" lIns="0" tIns="0" rIns="0" bIns="0" rtlCol="0" anchor="ctr">
            <a:spAutoFit/>
          </a:bodyPr>
          <a:lstStyle>
            <a:lvl1pPr algn="l">
              <a:defRPr sz="800" b="0">
                <a:solidFill>
                  <a:schemeClr val="tx1">
                    <a:lumMod val="25000"/>
                    <a:lumOff val="75000"/>
                  </a:schemeClr>
                </a:solidFill>
                <a:latin typeface="+mn-lt"/>
              </a:defRPr>
            </a:lvl1pPr>
          </a:lstStyle>
          <a:p>
            <a:r>
              <a:rPr lang="en-US">
                <a:ea typeface="Source Sans CAIM" panose="020B0303030403020204" pitchFamily="34" charset="0"/>
              </a:rPr>
              <a:t>Document</a:t>
            </a:r>
            <a:r>
              <a:rPr lang="en-US"/>
              <a:t> Code</a:t>
            </a:r>
            <a:endParaRPr lang="en-US" dirty="0"/>
          </a:p>
        </p:txBody>
      </p:sp>
      <p:sp>
        <p:nvSpPr>
          <p:cNvPr id="3" name="Content"/>
          <p:cNvSpPr>
            <a:spLocks noGrp="1"/>
          </p:cNvSpPr>
          <p:nvPr>
            <p:ph type="body" idx="1"/>
          </p:nvPr>
        </p:nvSpPr>
        <p:spPr>
          <a:xfrm>
            <a:off x="978408" y="1719072"/>
            <a:ext cx="8143200" cy="1261884"/>
          </a:xfrm>
          <a:prstGeom prst="rect">
            <a:avLst/>
          </a:prstGeom>
        </p:spPr>
        <p:txBody>
          <a:bodyPr vert="horz" lIns="0" tIns="0" rIns="0" bIns="0" rtlCol="0"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a:xfrm>
            <a:off x="979200" y="666368"/>
            <a:ext cx="6316950" cy="341632"/>
          </a:xfrm>
          <a:prstGeom prst="rect">
            <a:avLst/>
          </a:prstGeom>
        </p:spPr>
        <p:txBody>
          <a:bodyPr vert="horz" wrap="square" lIns="0" tIns="0" rIns="0" bIns="0" rtlCol="0" anchor="b" anchorCtr="0">
            <a:spAutoFit/>
          </a:bodyPr>
          <a:lstStyle/>
          <a:p>
            <a:r>
              <a:rPr lang="en-US"/>
              <a:t>Click to edit Master title style</a:t>
            </a:r>
            <a:endParaRPr lang="en-US" dirty="0"/>
          </a:p>
        </p:txBody>
      </p:sp>
      <p:pic>
        <p:nvPicPr>
          <p:cNvPr id="10" name="Picture 9" descr="Logo&#10;&#10;Description automatically generated">
            <a:extLst>
              <a:ext uri="{FF2B5EF4-FFF2-40B4-BE49-F238E27FC236}">
                <a16:creationId xmlns:a16="http://schemas.microsoft.com/office/drawing/2014/main" id="{A3C3C617-1191-1642-ADE0-290536539490}"/>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7640318" y="377086"/>
            <a:ext cx="1838996" cy="398051"/>
          </a:xfrm>
          <a:prstGeom prst="rect">
            <a:avLst/>
          </a:prstGeom>
        </p:spPr>
      </p:pic>
    </p:spTree>
    <p:extLst>
      <p:ext uri="{BB962C8B-B14F-4D97-AF65-F5344CB8AC3E}">
        <p14:creationId xmlns:p14="http://schemas.microsoft.com/office/powerpoint/2010/main" val="372872143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03" r:id="rId3"/>
    <p:sldLayoutId id="2147483704" r:id="rId4"/>
    <p:sldLayoutId id="2147483706" r:id="rId5"/>
    <p:sldLayoutId id="2147483705"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20" r:id="rId18"/>
    <p:sldLayoutId id="2147483719" r:id="rId19"/>
    <p:sldLayoutId id="2147483721" r:id="rId20"/>
    <p:sldLayoutId id="2147483722" r:id="rId21"/>
    <p:sldLayoutId id="2147483690" r:id="rId22"/>
  </p:sldLayoutIdLst>
  <p:hf sldNum="0" hdr="0" ftr="0" dt="0"/>
  <p:txStyles>
    <p:titleStyle>
      <a:lvl1pPr algn="l" defTabSz="914400" rtl="0" eaLnBrk="1" latinLnBrk="0" hangingPunct="1">
        <a:lnSpc>
          <a:spcPct val="90000"/>
        </a:lnSpc>
        <a:spcBef>
          <a:spcPct val="0"/>
        </a:spcBef>
        <a:buNone/>
        <a:defRPr sz="2400" kern="1200" cap="all" spc="50" baseline="0">
          <a:solidFill>
            <a:schemeClr val="accent1"/>
          </a:solidFill>
          <a:latin typeface="+mj-lt"/>
          <a:ea typeface="+mj-ea"/>
          <a:cs typeface="+mj-cs"/>
        </a:defRPr>
      </a:lvl1pPr>
    </p:titleStyle>
    <p:body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80">
          <p15:clr>
            <a:srgbClr val="F26B43"/>
          </p15:clr>
        </p15:guide>
        <p15:guide id="2" pos="616">
          <p15:clr>
            <a:srgbClr val="F26B43"/>
          </p15:clr>
        </p15:guide>
        <p15:guide id="3" orient="horz" pos="3792">
          <p15:clr>
            <a:srgbClr val="F26B43"/>
          </p15:clr>
        </p15:guide>
        <p15:guide id="5" pos="5748">
          <p15:clr>
            <a:srgbClr val="F26B43"/>
          </p15:clr>
        </p15:guide>
        <p15:guide id="6" orient="horz" pos="1224">
          <p15:clr>
            <a:srgbClr val="F26B43"/>
          </p15:clr>
        </p15:guide>
        <p15:guide id="8" orient="horz" pos="3840">
          <p15:clr>
            <a:srgbClr val="F26B43"/>
          </p15:clr>
        </p15:guide>
        <p15:guide id="9" pos="3130">
          <p15:clr>
            <a:srgbClr val="F26B43"/>
          </p15:clr>
        </p15:guide>
        <p15:guide id="10" pos="3240">
          <p15:clr>
            <a:srgbClr val="F26B43"/>
          </p15:clr>
        </p15:guide>
        <p15:guide id="11" orient="horz" pos="2415">
          <p15:clr>
            <a:srgbClr val="9FCC3B"/>
          </p15:clr>
        </p15:guide>
        <p15:guide id="12" orient="horz" pos="2472">
          <p15:clr>
            <a:srgbClr val="9FCC3B"/>
          </p15:clr>
        </p15:guide>
        <p15:guide id="13" orient="horz" pos="2616">
          <p15:clr>
            <a:srgbClr val="9FCC3B"/>
          </p15:clr>
        </p15:guide>
        <p15:guide id="14" pos="2616">
          <p15:clr>
            <a:srgbClr val="FBAE40"/>
          </p15:clr>
        </p15:guide>
        <p15:guide id="15" pos="2720">
          <p15:clr>
            <a:srgbClr val="FBAE40"/>
          </p15:clr>
        </p15:guide>
        <p15:guide id="16" pos="3643">
          <p15:clr>
            <a:srgbClr val="FBAE40"/>
          </p15:clr>
        </p15:guide>
        <p15:guide id="17" pos="3754">
          <p15:clr>
            <a:srgbClr val="FBAE40"/>
          </p15:clr>
        </p15:guide>
        <p15:guide id="18" orient="horz" pos="2686">
          <p15:clr>
            <a:srgbClr val="5ACBF0"/>
          </p15:clr>
        </p15:guide>
        <p15:guide id="19" orient="horz" pos="2741">
          <p15:clr>
            <a:srgbClr val="5ACBF0"/>
          </p15:clr>
        </p15:guide>
        <p15:guide id="20" orient="horz" pos="2887">
          <p15:clr>
            <a:srgbClr val="5ACBF0"/>
          </p15:clr>
        </p15:guide>
        <p15:guide id="21" orient="horz" pos="936">
          <p15:clr>
            <a:srgbClr val="F26B43"/>
          </p15:clr>
        </p15:guide>
        <p15:guide id="22" orient="horz" pos="7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F29F68-6B6A-084F-8C23-D89DF59BF9C5}"/>
              </a:ext>
            </a:extLst>
          </p:cNvPr>
          <p:cNvSpPr>
            <a:spLocks noGrp="1"/>
          </p:cNvSpPr>
          <p:nvPr>
            <p:ph type="body" sz="quarter" idx="13"/>
          </p:nvPr>
        </p:nvSpPr>
        <p:spPr>
          <a:xfrm>
            <a:off x="6791067" y="6053638"/>
            <a:ext cx="2619788" cy="246221"/>
          </a:xfrm>
        </p:spPr>
        <p:txBody>
          <a:bodyPr/>
          <a:lstStyle/>
          <a:p>
            <a:r>
              <a:rPr lang="en-US" dirty="0"/>
              <a:t>OCTOBER 2026</a:t>
            </a:r>
          </a:p>
        </p:txBody>
      </p:sp>
      <p:sp>
        <p:nvSpPr>
          <p:cNvPr id="6" name="Title 5">
            <a:extLst>
              <a:ext uri="{FF2B5EF4-FFF2-40B4-BE49-F238E27FC236}">
                <a16:creationId xmlns:a16="http://schemas.microsoft.com/office/drawing/2014/main" id="{B9C75BA2-9DB5-0940-92EB-CC8B28D1363B}"/>
              </a:ext>
            </a:extLst>
          </p:cNvPr>
          <p:cNvSpPr>
            <a:spLocks noGrp="1"/>
          </p:cNvSpPr>
          <p:nvPr>
            <p:ph type="ctrTitle"/>
          </p:nvPr>
        </p:nvSpPr>
        <p:spPr>
          <a:xfrm>
            <a:off x="461006" y="5413743"/>
            <a:ext cx="6135738" cy="886397"/>
          </a:xfrm>
        </p:spPr>
        <p:txBody>
          <a:bodyPr/>
          <a:lstStyle/>
          <a:p>
            <a:r>
              <a:rPr lang="en-US" dirty="0"/>
              <a:t>Monte </a:t>
            </a:r>
            <a:r>
              <a:rPr lang="en-US" dirty="0" err="1"/>
              <a:t>carlo</a:t>
            </a:r>
            <a:r>
              <a:rPr lang="en-US" dirty="0"/>
              <a:t> simulation	</a:t>
            </a:r>
            <a:br>
              <a:rPr lang="en-US" dirty="0"/>
            </a:br>
            <a:r>
              <a:rPr lang="en-US" sz="1800" dirty="0">
                <a:solidFill>
                  <a:schemeClr val="bg1">
                    <a:lumMod val="65000"/>
                  </a:schemeClr>
                </a:solidFill>
              </a:rPr>
              <a:t>generating scenarios that can be used to measure portfolio risks</a:t>
            </a:r>
            <a:endParaRPr lang="en-US" dirty="0">
              <a:solidFill>
                <a:schemeClr val="bg1">
                  <a:lumMod val="65000"/>
                </a:schemeClr>
              </a:solidFill>
            </a:endParaRPr>
          </a:p>
        </p:txBody>
      </p:sp>
    </p:spTree>
    <p:extLst>
      <p:ext uri="{BB962C8B-B14F-4D97-AF65-F5344CB8AC3E}">
        <p14:creationId xmlns:p14="http://schemas.microsoft.com/office/powerpoint/2010/main" val="3137816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p:txBody>
          <a:bodyPr/>
          <a:lstStyle/>
          <a:p>
            <a:r>
              <a:rPr lang="en-GB" dirty="0"/>
              <a:t>Using scenarios</a:t>
            </a:r>
          </a:p>
        </p:txBody>
      </p:sp>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1063262" y="1390263"/>
            <a:ext cx="7953990" cy="4985980"/>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Suppose you want to build a bond portfolio to perform well over the next little while, but without taking on too much risk.</a:t>
            </a:r>
          </a:p>
          <a:p>
            <a:pPr>
              <a:spcAft>
                <a:spcPts val="1800"/>
              </a:spcAft>
            </a:pPr>
            <a:r>
              <a:rPr lang="en-GB" sz="1800" dirty="0">
                <a:latin typeface="+mn-lt"/>
              </a:rPr>
              <a:t>You have views about how yields of different maturities in different markets will move.</a:t>
            </a:r>
          </a:p>
          <a:p>
            <a:pPr>
              <a:spcAft>
                <a:spcPts val="1800"/>
              </a:spcAft>
            </a:pPr>
            <a:r>
              <a:rPr lang="en-GB" sz="1800" dirty="0">
                <a:latin typeface="+mn-lt"/>
              </a:rPr>
              <a:t>You have high levels of confidence in some of your views, less confidence in others.</a:t>
            </a:r>
          </a:p>
          <a:p>
            <a:pPr>
              <a:spcAft>
                <a:spcPts val="1800"/>
              </a:spcAft>
            </a:pPr>
            <a:r>
              <a:rPr lang="en-GB" sz="1800" dirty="0">
                <a:latin typeface="+mn-lt"/>
              </a:rPr>
              <a:t>You have no views on how returns of bonds will move together, so default to using historical return correlations.</a:t>
            </a:r>
          </a:p>
          <a:p>
            <a:pPr>
              <a:spcAft>
                <a:spcPts val="1800"/>
              </a:spcAft>
            </a:pPr>
            <a:r>
              <a:rPr lang="en-GB" sz="1800" dirty="0">
                <a:latin typeface="+mn-lt"/>
              </a:rPr>
              <a:t>If you can generate scenarios that capture your views on bond returns and risks, as well as on correlations, you have a powerful tool for evaluating the returns and risks of any portfolio of those bonds.</a:t>
            </a:r>
          </a:p>
          <a:p>
            <a:pPr marL="0" indent="0">
              <a:spcAft>
                <a:spcPts val="1800"/>
              </a:spcAft>
              <a:buNone/>
            </a:pPr>
            <a:endParaRPr lang="en-GB" sz="100" dirty="0">
              <a:latin typeface="+mn-lt"/>
            </a:endParaRPr>
          </a:p>
          <a:p>
            <a:pPr marL="0" indent="0">
              <a:spcAft>
                <a:spcPts val="1800"/>
              </a:spcAft>
              <a:buNone/>
            </a:pPr>
            <a:r>
              <a:rPr lang="en-GB" sz="1800" b="1" dirty="0">
                <a:solidFill>
                  <a:schemeClr val="accent2"/>
                </a:solidFill>
                <a:latin typeface="+mn-lt"/>
              </a:rPr>
              <a:t>There are a number of ways of achieving this</a:t>
            </a:r>
            <a:endParaRPr lang="en-GB" sz="1800" b="1" dirty="0">
              <a:solidFill>
                <a:schemeClr val="accent2"/>
              </a:solidFill>
            </a:endParaRPr>
          </a:p>
          <a:p>
            <a:pPr>
              <a:spcAft>
                <a:spcPts val="1800"/>
              </a:spcAft>
            </a:pPr>
            <a:endParaRPr lang="en-GB" sz="1800" dirty="0">
              <a:latin typeface="+mn-lt"/>
            </a:endParaRPr>
          </a:p>
        </p:txBody>
      </p:sp>
    </p:spTree>
    <p:extLst>
      <p:ext uri="{BB962C8B-B14F-4D97-AF65-F5344CB8AC3E}">
        <p14:creationId xmlns:p14="http://schemas.microsoft.com/office/powerpoint/2010/main" val="568250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p:txBody>
          <a:bodyPr/>
          <a:lstStyle/>
          <a:p>
            <a:r>
              <a:rPr lang="en-GB" dirty="0"/>
              <a:t>Generating scenarios</a:t>
            </a:r>
          </a:p>
        </p:txBody>
      </p:sp>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1063262" y="1390263"/>
            <a:ext cx="7953990" cy="4801314"/>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Commonly-used ways of obtaining scenarios include:</a:t>
            </a:r>
          </a:p>
          <a:p>
            <a:pPr lvl="1">
              <a:spcAft>
                <a:spcPts val="1800"/>
              </a:spcAft>
            </a:pPr>
            <a:r>
              <a:rPr lang="en-GB" sz="1800" dirty="0">
                <a:latin typeface="+mn-lt"/>
              </a:rPr>
              <a:t>Just use history</a:t>
            </a:r>
          </a:p>
          <a:p>
            <a:pPr lvl="1">
              <a:spcAft>
                <a:spcPts val="1800"/>
              </a:spcAft>
            </a:pPr>
            <a:r>
              <a:rPr lang="en-GB" sz="1800" dirty="0">
                <a:latin typeface="+mn-lt"/>
              </a:rPr>
              <a:t>Boot-strapping</a:t>
            </a:r>
          </a:p>
          <a:p>
            <a:pPr lvl="1">
              <a:spcAft>
                <a:spcPts val="1800"/>
              </a:spcAft>
            </a:pPr>
            <a:r>
              <a:rPr lang="en-GB" sz="1800" dirty="0">
                <a:latin typeface="+mn-lt"/>
              </a:rPr>
              <a:t>Monte Carlo simulation</a:t>
            </a:r>
            <a:endParaRPr lang="en-GB" sz="300" dirty="0">
              <a:latin typeface="+mn-lt"/>
            </a:endParaRPr>
          </a:p>
          <a:p>
            <a:pPr marL="180975" lvl="1" indent="0">
              <a:spcAft>
                <a:spcPts val="1800"/>
              </a:spcAft>
              <a:buNone/>
            </a:pPr>
            <a:endParaRPr lang="en-GB" sz="300" dirty="0">
              <a:latin typeface="+mn-lt"/>
            </a:endParaRPr>
          </a:p>
          <a:p>
            <a:pPr marL="180975" lvl="1" indent="0">
              <a:spcAft>
                <a:spcPts val="1800"/>
              </a:spcAft>
              <a:buNone/>
            </a:pPr>
            <a:endParaRPr lang="en-GB" sz="300" dirty="0">
              <a:latin typeface="+mn-lt"/>
            </a:endParaRPr>
          </a:p>
          <a:p>
            <a:pPr marL="180975" lvl="1" indent="0">
              <a:spcAft>
                <a:spcPts val="1800"/>
              </a:spcAft>
              <a:buNone/>
            </a:pPr>
            <a:endParaRPr lang="en-GB" sz="300" dirty="0">
              <a:latin typeface="+mn-lt"/>
            </a:endParaRPr>
          </a:p>
          <a:p>
            <a:pPr marL="180975" lvl="1" indent="0">
              <a:spcAft>
                <a:spcPts val="1800"/>
              </a:spcAft>
              <a:buNone/>
            </a:pPr>
            <a:endParaRPr lang="en-GB" sz="300" dirty="0">
              <a:latin typeface="+mn-lt"/>
            </a:endParaRPr>
          </a:p>
          <a:p>
            <a:pPr marL="180975" lvl="1" indent="0">
              <a:spcAft>
                <a:spcPts val="1800"/>
              </a:spcAft>
              <a:buNone/>
            </a:pPr>
            <a:endParaRPr lang="en-GB" sz="300" dirty="0">
              <a:latin typeface="+mn-lt"/>
            </a:endParaRPr>
          </a:p>
          <a:p>
            <a:pPr marL="180975" lvl="1" indent="0">
              <a:spcAft>
                <a:spcPts val="1800"/>
              </a:spcAft>
              <a:buNone/>
            </a:pPr>
            <a:endParaRPr lang="en-GB" sz="300" dirty="0">
              <a:latin typeface="+mn-lt"/>
            </a:endParaRPr>
          </a:p>
          <a:p>
            <a:pPr marL="180975" lvl="1" indent="0">
              <a:spcAft>
                <a:spcPts val="1800"/>
              </a:spcAft>
              <a:buNone/>
            </a:pPr>
            <a:endParaRPr lang="en-GB" sz="300" dirty="0">
              <a:latin typeface="+mn-lt"/>
            </a:endParaRPr>
          </a:p>
          <a:p>
            <a:pPr marL="180975" lvl="1" indent="0">
              <a:spcAft>
                <a:spcPts val="1800"/>
              </a:spcAft>
              <a:buNone/>
            </a:pPr>
            <a:endParaRPr lang="en-GB" sz="300" dirty="0">
              <a:latin typeface="+mn-lt"/>
            </a:endParaRPr>
          </a:p>
          <a:p>
            <a:pPr marL="0" indent="0">
              <a:spcAft>
                <a:spcPts val="1800"/>
              </a:spcAft>
              <a:buNone/>
            </a:pPr>
            <a:r>
              <a:rPr lang="en-GB" sz="1800" b="1" dirty="0">
                <a:solidFill>
                  <a:schemeClr val="accent2"/>
                </a:solidFill>
                <a:latin typeface="+mn-lt"/>
              </a:rPr>
              <a:t>Using scenarios helps create robust portfolios which leverage your market views in a risk-efficient manner </a:t>
            </a:r>
            <a:endParaRPr lang="en-GB" sz="1800" b="1" dirty="0">
              <a:solidFill>
                <a:schemeClr val="accent2"/>
              </a:solidFill>
            </a:endParaRPr>
          </a:p>
        </p:txBody>
      </p:sp>
      <p:sp>
        <p:nvSpPr>
          <p:cNvPr id="2" name="Content Placeholder 13">
            <a:extLst>
              <a:ext uri="{FF2B5EF4-FFF2-40B4-BE49-F238E27FC236}">
                <a16:creationId xmlns:a16="http://schemas.microsoft.com/office/drawing/2014/main" id="{1C909DB6-815A-1F2D-74C3-FA6E8ACC4D66}"/>
              </a:ext>
            </a:extLst>
          </p:cNvPr>
          <p:cNvSpPr txBox="1">
            <a:spLocks/>
          </p:cNvSpPr>
          <p:nvPr/>
        </p:nvSpPr>
        <p:spPr>
          <a:xfrm>
            <a:off x="1063262" y="3652420"/>
            <a:ext cx="7953990" cy="1615827"/>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Once you have a set of scenarios you can see how any given portfolio performs within it</a:t>
            </a:r>
          </a:p>
          <a:p>
            <a:pPr>
              <a:spcAft>
                <a:spcPts val="1800"/>
              </a:spcAft>
            </a:pPr>
            <a:r>
              <a:rPr lang="en-GB" sz="1800" dirty="0">
                <a:latin typeface="+mn-lt"/>
              </a:rPr>
              <a:t>The range of performances across scenarios gives you a measure of the expected risks and returns of a portfolio and gives you a framework in which you can investigate the effects of changing your portfolio holdings.</a:t>
            </a:r>
          </a:p>
        </p:txBody>
      </p:sp>
    </p:spTree>
    <p:extLst>
      <p:ext uri="{BB962C8B-B14F-4D97-AF65-F5344CB8AC3E}">
        <p14:creationId xmlns:p14="http://schemas.microsoft.com/office/powerpoint/2010/main" val="1672068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Rectangle 197">
            <a:extLst>
              <a:ext uri="{FF2B5EF4-FFF2-40B4-BE49-F238E27FC236}">
                <a16:creationId xmlns:a16="http://schemas.microsoft.com/office/drawing/2014/main" id="{C7DB91E6-F4FF-FE69-37DE-6927CD89FFEB}"/>
              </a:ext>
            </a:extLst>
          </p:cNvPr>
          <p:cNvSpPr/>
          <p:nvPr/>
        </p:nvSpPr>
        <p:spPr>
          <a:xfrm>
            <a:off x="977899" y="1666976"/>
            <a:ext cx="8147050" cy="3328416"/>
          </a:xfrm>
          <a:prstGeom prst="rect">
            <a:avLst/>
          </a:prstGeom>
          <a:solidFill>
            <a:schemeClr val="tx1">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7">
            <a:extLst>
              <a:ext uri="{FF2B5EF4-FFF2-40B4-BE49-F238E27FC236}">
                <a16:creationId xmlns:a16="http://schemas.microsoft.com/office/drawing/2014/main" id="{5B873AC8-B4FC-1E6A-B72C-27779D097F8B}"/>
              </a:ext>
            </a:extLst>
          </p:cNvPr>
          <p:cNvSpPr>
            <a:spLocks noGrp="1"/>
          </p:cNvSpPr>
          <p:nvPr>
            <p:ph type="body" sz="quarter" idx="13"/>
          </p:nvPr>
        </p:nvSpPr>
        <p:spPr/>
        <p:txBody>
          <a:bodyPr/>
          <a:lstStyle/>
          <a:p>
            <a:r>
              <a:rPr lang="en-GB" dirty="0"/>
              <a:t>Returns follow a normal distribution</a:t>
            </a:r>
          </a:p>
        </p:txBody>
      </p:sp>
      <p:sp>
        <p:nvSpPr>
          <p:cNvPr id="9" name="Title 8">
            <a:extLst>
              <a:ext uri="{FF2B5EF4-FFF2-40B4-BE49-F238E27FC236}">
                <a16:creationId xmlns:a16="http://schemas.microsoft.com/office/drawing/2014/main" id="{841253A0-9F12-2330-ED8D-7F1F73871B7E}"/>
              </a:ext>
            </a:extLst>
          </p:cNvPr>
          <p:cNvSpPr>
            <a:spLocks noGrp="1"/>
          </p:cNvSpPr>
          <p:nvPr>
            <p:ph type="title"/>
          </p:nvPr>
        </p:nvSpPr>
        <p:spPr/>
        <p:txBody>
          <a:bodyPr/>
          <a:lstStyle/>
          <a:p>
            <a:r>
              <a:rPr lang="en-GB" dirty="0"/>
              <a:t>The “standard model”</a:t>
            </a:r>
          </a:p>
        </p:txBody>
      </p:sp>
      <p:sp>
        <p:nvSpPr>
          <p:cNvPr id="10" name="Content Placeholder 13">
            <a:extLst>
              <a:ext uri="{FF2B5EF4-FFF2-40B4-BE49-F238E27FC236}">
                <a16:creationId xmlns:a16="http://schemas.microsoft.com/office/drawing/2014/main" id="{18B72489-DD10-015C-F2B3-E14CAFAEC0F3}"/>
              </a:ext>
            </a:extLst>
          </p:cNvPr>
          <p:cNvSpPr txBox="1">
            <a:spLocks/>
          </p:cNvSpPr>
          <p:nvPr/>
        </p:nvSpPr>
        <p:spPr>
          <a:xfrm>
            <a:off x="1175394" y="5185503"/>
            <a:ext cx="8059775" cy="1231106"/>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dirty="0"/>
              <a:t>Ignoring dividends and coupons, prices evolve such that asset returns are normally distributed</a:t>
            </a:r>
          </a:p>
          <a:p>
            <a:pPr>
              <a:spcAft>
                <a:spcPts val="1800"/>
              </a:spcAft>
            </a:pPr>
            <a:r>
              <a:rPr lang="en-GB" dirty="0"/>
              <a:t>Uncertainty – the breadth of return possibilities – increases with the square root of time </a:t>
            </a:r>
          </a:p>
          <a:p>
            <a:pPr marL="0" indent="0">
              <a:spcAft>
                <a:spcPts val="1800"/>
              </a:spcAft>
              <a:buNone/>
            </a:pPr>
            <a:r>
              <a:rPr lang="en-GB" sz="1800" b="1" dirty="0">
                <a:solidFill>
                  <a:schemeClr val="accent2"/>
                </a:solidFill>
                <a:latin typeface="+mn-lt"/>
              </a:rPr>
              <a:t>Our Monte Carlo simulation generates scenarios in line with this model</a:t>
            </a:r>
          </a:p>
        </p:txBody>
      </p:sp>
      <p:grpSp>
        <p:nvGrpSpPr>
          <p:cNvPr id="11" name="Group 10">
            <a:extLst>
              <a:ext uri="{FF2B5EF4-FFF2-40B4-BE49-F238E27FC236}">
                <a16:creationId xmlns:a16="http://schemas.microsoft.com/office/drawing/2014/main" id="{600FA15A-30F1-3215-5229-088701D36E6F}"/>
              </a:ext>
            </a:extLst>
          </p:cNvPr>
          <p:cNvGrpSpPr/>
          <p:nvPr/>
        </p:nvGrpSpPr>
        <p:grpSpPr>
          <a:xfrm>
            <a:off x="1053223" y="1859666"/>
            <a:ext cx="3917936" cy="3000205"/>
            <a:chOff x="979335" y="1469799"/>
            <a:chExt cx="4343914" cy="3000205"/>
          </a:xfrm>
        </p:grpSpPr>
        <p:sp>
          <p:nvSpPr>
            <p:cNvPr id="12" name="Rectangle 15">
              <a:extLst>
                <a:ext uri="{FF2B5EF4-FFF2-40B4-BE49-F238E27FC236}">
                  <a16:creationId xmlns:a16="http://schemas.microsoft.com/office/drawing/2014/main" id="{713796FF-6E8E-C849-7493-26894E87C655}"/>
                </a:ext>
              </a:extLst>
            </p:cNvPr>
            <p:cNvSpPr>
              <a:spLocks noChangeArrowheads="1"/>
            </p:cNvSpPr>
            <p:nvPr/>
          </p:nvSpPr>
          <p:spPr bwMode="auto">
            <a:xfrm>
              <a:off x="4532069" y="4275790"/>
              <a:ext cx="315913" cy="152400"/>
            </a:xfrm>
            <a:prstGeom prst="rect">
              <a:avLst/>
            </a:prstGeom>
            <a:noFill/>
            <a:ln w="9525">
              <a:noFill/>
              <a:miter lim="800000"/>
              <a:headEnd/>
              <a:tailEnd/>
            </a:ln>
            <a:effectLst/>
          </p:spPr>
          <p:txBody>
            <a:bodyPr lIns="0" tIns="0" rIns="0" bIns="0">
              <a:spAutoFit/>
            </a:bodyPr>
            <a:lstStyle/>
            <a:p>
              <a:pPr defTabSz="858838"/>
              <a:r>
                <a:rPr lang="en-GB" sz="1000" dirty="0">
                  <a:latin typeface="Arial" charset="0"/>
                </a:rPr>
                <a:t>Time</a:t>
              </a:r>
            </a:p>
          </p:txBody>
        </p:sp>
        <p:sp>
          <p:nvSpPr>
            <p:cNvPr id="13" name="Text Box 18">
              <a:extLst>
                <a:ext uri="{FF2B5EF4-FFF2-40B4-BE49-F238E27FC236}">
                  <a16:creationId xmlns:a16="http://schemas.microsoft.com/office/drawing/2014/main" id="{399E8270-B077-1CBD-7BBF-C95395C18765}"/>
                </a:ext>
              </a:extLst>
            </p:cNvPr>
            <p:cNvSpPr txBox="1">
              <a:spLocks noChangeArrowheads="1"/>
            </p:cNvSpPr>
            <p:nvPr/>
          </p:nvSpPr>
          <p:spPr bwMode="auto">
            <a:xfrm>
              <a:off x="2687683" y="4316116"/>
              <a:ext cx="128375" cy="153888"/>
            </a:xfrm>
            <a:prstGeom prst="rect">
              <a:avLst/>
            </a:prstGeom>
            <a:noFill/>
            <a:ln w="9525">
              <a:noFill/>
              <a:miter lim="800000"/>
              <a:headEnd/>
              <a:tailEnd/>
            </a:ln>
            <a:effectLst/>
          </p:spPr>
          <p:txBody>
            <a:bodyPr wrap="square" lIns="0" tIns="0" rIns="0" bIns="0">
              <a:spAutoFit/>
            </a:bodyPr>
            <a:lstStyle/>
            <a:p>
              <a:pPr defTabSz="858838"/>
              <a:r>
                <a:rPr lang="en-GB" sz="1000" b="1" i="1" dirty="0">
                  <a:latin typeface="Arial" charset="0"/>
                </a:rPr>
                <a:t>t</a:t>
              </a:r>
            </a:p>
          </p:txBody>
        </p:sp>
        <p:sp>
          <p:nvSpPr>
            <p:cNvPr id="14" name="Text Box 19">
              <a:extLst>
                <a:ext uri="{FF2B5EF4-FFF2-40B4-BE49-F238E27FC236}">
                  <a16:creationId xmlns:a16="http://schemas.microsoft.com/office/drawing/2014/main" id="{A5C460C6-DFB0-13D1-D78D-B5E3C39B8FA5}"/>
                </a:ext>
              </a:extLst>
            </p:cNvPr>
            <p:cNvSpPr txBox="1">
              <a:spLocks noChangeArrowheads="1"/>
            </p:cNvSpPr>
            <p:nvPr/>
          </p:nvSpPr>
          <p:spPr bwMode="auto">
            <a:xfrm>
              <a:off x="4137517" y="4316116"/>
              <a:ext cx="144463" cy="152400"/>
            </a:xfrm>
            <a:prstGeom prst="rect">
              <a:avLst/>
            </a:prstGeom>
            <a:noFill/>
            <a:ln w="9525">
              <a:noFill/>
              <a:miter lim="800000"/>
              <a:headEnd/>
              <a:tailEnd/>
            </a:ln>
            <a:effectLst/>
          </p:spPr>
          <p:txBody>
            <a:bodyPr lIns="0" tIns="0" rIns="0" bIns="0">
              <a:spAutoFit/>
            </a:bodyPr>
            <a:lstStyle/>
            <a:p>
              <a:pPr defTabSz="858838"/>
              <a:r>
                <a:rPr lang="en-GB" sz="1000" b="1" i="1" dirty="0" err="1"/>
                <a:t>2t</a:t>
              </a:r>
              <a:endParaRPr lang="en-GB" sz="1000" b="1" i="1" dirty="0"/>
            </a:p>
          </p:txBody>
        </p:sp>
        <p:sp>
          <p:nvSpPr>
            <p:cNvPr id="15" name="Line 31">
              <a:extLst>
                <a:ext uri="{FF2B5EF4-FFF2-40B4-BE49-F238E27FC236}">
                  <a16:creationId xmlns:a16="http://schemas.microsoft.com/office/drawing/2014/main" id="{C94A1A72-12EC-91D8-8B26-EF386EA4F4FD}"/>
                </a:ext>
              </a:extLst>
            </p:cNvPr>
            <p:cNvSpPr>
              <a:spLocks noChangeShapeType="1"/>
            </p:cNvSpPr>
            <p:nvPr/>
          </p:nvSpPr>
          <p:spPr bwMode="auto">
            <a:xfrm>
              <a:off x="1378097" y="1476376"/>
              <a:ext cx="0" cy="2733674"/>
            </a:xfrm>
            <a:prstGeom prst="line">
              <a:avLst/>
            </a:prstGeom>
            <a:noFill/>
            <a:ln w="9525">
              <a:solidFill>
                <a:schemeClr val="tx1"/>
              </a:solidFill>
              <a:round/>
              <a:headEnd type="triangle"/>
              <a:tailEnd/>
            </a:ln>
            <a:effectLst/>
          </p:spPr>
          <p:txBody>
            <a:bodyPr wrap="none" lIns="0" tIns="0" rIns="0" bIns="0" anchor="ctr"/>
            <a:lstStyle/>
            <a:p>
              <a:endParaRPr lang="en-GB"/>
            </a:p>
          </p:txBody>
        </p:sp>
        <p:sp>
          <p:nvSpPr>
            <p:cNvPr id="16" name="Line 32">
              <a:extLst>
                <a:ext uri="{FF2B5EF4-FFF2-40B4-BE49-F238E27FC236}">
                  <a16:creationId xmlns:a16="http://schemas.microsoft.com/office/drawing/2014/main" id="{CD9B5585-548F-7611-DA19-F6F73CD8C63A}"/>
                </a:ext>
              </a:extLst>
            </p:cNvPr>
            <p:cNvSpPr>
              <a:spLocks noChangeShapeType="1"/>
            </p:cNvSpPr>
            <p:nvPr/>
          </p:nvSpPr>
          <p:spPr bwMode="auto">
            <a:xfrm flipH="1">
              <a:off x="1380323" y="4211748"/>
              <a:ext cx="3520967" cy="0"/>
            </a:xfrm>
            <a:prstGeom prst="line">
              <a:avLst/>
            </a:prstGeom>
            <a:noFill/>
            <a:ln w="9525">
              <a:solidFill>
                <a:schemeClr val="tx1"/>
              </a:solidFill>
              <a:round/>
              <a:headEnd type="triangle"/>
              <a:tailEnd/>
            </a:ln>
            <a:effectLst/>
          </p:spPr>
          <p:txBody>
            <a:bodyPr wrap="none" lIns="0" tIns="0" rIns="0" bIns="0" anchor="ctr"/>
            <a:lstStyle/>
            <a:p>
              <a:endParaRPr lang="en-GB"/>
            </a:p>
          </p:txBody>
        </p:sp>
        <p:sp>
          <p:nvSpPr>
            <p:cNvPr id="17" name="Text Box 33">
              <a:extLst>
                <a:ext uri="{FF2B5EF4-FFF2-40B4-BE49-F238E27FC236}">
                  <a16:creationId xmlns:a16="http://schemas.microsoft.com/office/drawing/2014/main" id="{524DBC7D-E398-19CE-CFDB-448CAABBA9F6}"/>
                </a:ext>
              </a:extLst>
            </p:cNvPr>
            <p:cNvSpPr txBox="1">
              <a:spLocks noChangeArrowheads="1"/>
            </p:cNvSpPr>
            <p:nvPr/>
          </p:nvSpPr>
          <p:spPr bwMode="auto">
            <a:xfrm>
              <a:off x="979335" y="1469799"/>
              <a:ext cx="270908" cy="161583"/>
            </a:xfrm>
            <a:prstGeom prst="rect">
              <a:avLst/>
            </a:prstGeom>
            <a:noFill/>
            <a:ln w="9525">
              <a:noFill/>
              <a:miter lim="800000"/>
              <a:headEnd/>
              <a:tailEnd/>
            </a:ln>
            <a:effectLst/>
          </p:spPr>
          <p:txBody>
            <a:bodyPr wrap="none" lIns="0" tIns="0" rIns="0" bIns="0">
              <a:spAutoFit/>
            </a:bodyPr>
            <a:lstStyle/>
            <a:p>
              <a:pPr defTabSz="858838"/>
              <a:r>
                <a:rPr lang="en-GB" sz="1050" dirty="0"/>
                <a:t>Price</a:t>
              </a:r>
              <a:endParaRPr lang="en-GB" sz="1000" dirty="0"/>
            </a:p>
          </p:txBody>
        </p:sp>
        <p:grpSp>
          <p:nvGrpSpPr>
            <p:cNvPr id="18" name="Group 34">
              <a:extLst>
                <a:ext uri="{FF2B5EF4-FFF2-40B4-BE49-F238E27FC236}">
                  <a16:creationId xmlns:a16="http://schemas.microsoft.com/office/drawing/2014/main" id="{65E57672-4A34-A3C8-6AC4-C64FA22D3238}"/>
                </a:ext>
              </a:extLst>
            </p:cNvPr>
            <p:cNvGrpSpPr>
              <a:grpSpLocks/>
            </p:cNvGrpSpPr>
            <p:nvPr/>
          </p:nvGrpSpPr>
          <p:grpSpPr bwMode="auto">
            <a:xfrm>
              <a:off x="1221568" y="1709774"/>
              <a:ext cx="3032580" cy="2130335"/>
              <a:chOff x="816" y="1845"/>
              <a:chExt cx="1639" cy="1141"/>
            </a:xfrm>
          </p:grpSpPr>
          <p:sp>
            <p:nvSpPr>
              <p:cNvPr id="22" name="Freeform 35">
                <a:extLst>
                  <a:ext uri="{FF2B5EF4-FFF2-40B4-BE49-F238E27FC236}">
                    <a16:creationId xmlns:a16="http://schemas.microsoft.com/office/drawing/2014/main" id="{1F3FEC5B-2677-0E21-9E27-C8B5E5FA4464}"/>
                  </a:ext>
                </a:extLst>
              </p:cNvPr>
              <p:cNvSpPr>
                <a:spLocks/>
              </p:cNvSpPr>
              <p:nvPr/>
            </p:nvSpPr>
            <p:spPr bwMode="auto">
              <a:xfrm>
                <a:off x="905" y="1845"/>
                <a:ext cx="1532" cy="1098"/>
              </a:xfrm>
              <a:custGeom>
                <a:avLst/>
                <a:gdLst/>
                <a:ahLst/>
                <a:cxnLst>
                  <a:cxn ang="0">
                    <a:pos x="0" y="746"/>
                  </a:cxn>
                  <a:cxn ang="0">
                    <a:pos x="2" y="714"/>
                  </a:cxn>
                  <a:cxn ang="0">
                    <a:pos x="2" y="682"/>
                  </a:cxn>
                  <a:cxn ang="0">
                    <a:pos x="14" y="636"/>
                  </a:cxn>
                  <a:cxn ang="0">
                    <a:pos x="32" y="586"/>
                  </a:cxn>
                  <a:cxn ang="0">
                    <a:pos x="70" y="524"/>
                  </a:cxn>
                  <a:cxn ang="0">
                    <a:pos x="148" y="438"/>
                  </a:cxn>
                  <a:cxn ang="0">
                    <a:pos x="242" y="364"/>
                  </a:cxn>
                  <a:cxn ang="0">
                    <a:pos x="346" y="300"/>
                  </a:cxn>
                  <a:cxn ang="0">
                    <a:pos x="452" y="246"/>
                  </a:cxn>
                  <a:cxn ang="0">
                    <a:pos x="612" y="180"/>
                  </a:cxn>
                  <a:cxn ang="0">
                    <a:pos x="812" y="114"/>
                  </a:cxn>
                  <a:cxn ang="0">
                    <a:pos x="954" y="80"/>
                  </a:cxn>
                  <a:cxn ang="0">
                    <a:pos x="1150" y="42"/>
                  </a:cxn>
                  <a:cxn ang="0">
                    <a:pos x="1334" y="16"/>
                  </a:cxn>
                  <a:cxn ang="0">
                    <a:pos x="1524" y="0"/>
                  </a:cxn>
                  <a:cxn ang="0">
                    <a:pos x="1522" y="1086"/>
                  </a:cxn>
                  <a:cxn ang="0">
                    <a:pos x="1396" y="1092"/>
                  </a:cxn>
                  <a:cxn ang="0">
                    <a:pos x="1222" y="1098"/>
                  </a:cxn>
                  <a:cxn ang="0">
                    <a:pos x="1076" y="1096"/>
                  </a:cxn>
                  <a:cxn ang="0">
                    <a:pos x="894" y="1090"/>
                  </a:cxn>
                  <a:cxn ang="0">
                    <a:pos x="728" y="1072"/>
                  </a:cxn>
                  <a:cxn ang="0">
                    <a:pos x="558" y="1050"/>
                  </a:cxn>
                  <a:cxn ang="0">
                    <a:pos x="434" y="1026"/>
                  </a:cxn>
                  <a:cxn ang="0">
                    <a:pos x="328" y="996"/>
                  </a:cxn>
                  <a:cxn ang="0">
                    <a:pos x="242" y="964"/>
                  </a:cxn>
                  <a:cxn ang="0">
                    <a:pos x="166" y="932"/>
                  </a:cxn>
                  <a:cxn ang="0">
                    <a:pos x="104" y="894"/>
                  </a:cxn>
                  <a:cxn ang="0">
                    <a:pos x="52" y="852"/>
                  </a:cxn>
                  <a:cxn ang="0">
                    <a:pos x="24" y="820"/>
                  </a:cxn>
                  <a:cxn ang="0">
                    <a:pos x="8" y="786"/>
                  </a:cxn>
                  <a:cxn ang="0">
                    <a:pos x="0" y="746"/>
                  </a:cxn>
                </a:cxnLst>
                <a:rect l="0" t="0" r="r" b="b"/>
                <a:pathLst>
                  <a:path w="1524" h="1098">
                    <a:moveTo>
                      <a:pt x="0" y="746"/>
                    </a:moveTo>
                    <a:cubicBezTo>
                      <a:pt x="3" y="723"/>
                      <a:pt x="2" y="734"/>
                      <a:pt x="2" y="714"/>
                    </a:cubicBezTo>
                    <a:lnTo>
                      <a:pt x="2" y="682"/>
                    </a:lnTo>
                    <a:lnTo>
                      <a:pt x="14" y="636"/>
                    </a:lnTo>
                    <a:lnTo>
                      <a:pt x="32" y="586"/>
                    </a:lnTo>
                    <a:lnTo>
                      <a:pt x="70" y="524"/>
                    </a:lnTo>
                    <a:lnTo>
                      <a:pt x="148" y="438"/>
                    </a:lnTo>
                    <a:lnTo>
                      <a:pt x="242" y="364"/>
                    </a:lnTo>
                    <a:lnTo>
                      <a:pt x="346" y="300"/>
                    </a:lnTo>
                    <a:lnTo>
                      <a:pt x="452" y="246"/>
                    </a:lnTo>
                    <a:lnTo>
                      <a:pt x="612" y="180"/>
                    </a:lnTo>
                    <a:lnTo>
                      <a:pt x="812" y="114"/>
                    </a:lnTo>
                    <a:lnTo>
                      <a:pt x="954" y="80"/>
                    </a:lnTo>
                    <a:lnTo>
                      <a:pt x="1150" y="42"/>
                    </a:lnTo>
                    <a:lnTo>
                      <a:pt x="1334" y="16"/>
                    </a:lnTo>
                    <a:lnTo>
                      <a:pt x="1524" y="0"/>
                    </a:lnTo>
                    <a:lnTo>
                      <a:pt x="1522" y="1086"/>
                    </a:lnTo>
                    <a:lnTo>
                      <a:pt x="1396" y="1092"/>
                    </a:lnTo>
                    <a:lnTo>
                      <a:pt x="1222" y="1098"/>
                    </a:lnTo>
                    <a:lnTo>
                      <a:pt x="1076" y="1096"/>
                    </a:lnTo>
                    <a:lnTo>
                      <a:pt x="894" y="1090"/>
                    </a:lnTo>
                    <a:lnTo>
                      <a:pt x="728" y="1072"/>
                    </a:lnTo>
                    <a:lnTo>
                      <a:pt x="558" y="1050"/>
                    </a:lnTo>
                    <a:lnTo>
                      <a:pt x="434" y="1026"/>
                    </a:lnTo>
                    <a:lnTo>
                      <a:pt x="328" y="996"/>
                    </a:lnTo>
                    <a:lnTo>
                      <a:pt x="242" y="964"/>
                    </a:lnTo>
                    <a:lnTo>
                      <a:pt x="166" y="932"/>
                    </a:lnTo>
                    <a:lnTo>
                      <a:pt x="104" y="894"/>
                    </a:lnTo>
                    <a:lnTo>
                      <a:pt x="52" y="852"/>
                    </a:lnTo>
                    <a:lnTo>
                      <a:pt x="24" y="820"/>
                    </a:lnTo>
                    <a:lnTo>
                      <a:pt x="8" y="786"/>
                    </a:lnTo>
                    <a:lnTo>
                      <a:pt x="0" y="746"/>
                    </a:lnTo>
                    <a:close/>
                  </a:path>
                </a:pathLst>
              </a:custGeom>
              <a:solidFill>
                <a:schemeClr val="accent1">
                  <a:alpha val="50000"/>
                </a:schemeClr>
              </a:solidFill>
              <a:ln w="9525" cap="flat" cmpd="sng">
                <a:noFill/>
                <a:prstDash val="solid"/>
                <a:round/>
                <a:headEnd type="none" w="med" len="med"/>
                <a:tailEnd type="none" w="med" len="med"/>
              </a:ln>
              <a:effectLst/>
            </p:spPr>
            <p:txBody>
              <a:bodyPr wrap="none" lIns="0" tIns="0" rIns="0" bIns="0" anchor="ctr"/>
              <a:lstStyle/>
              <a:p>
                <a:endParaRPr lang="en-GB"/>
              </a:p>
            </p:txBody>
          </p:sp>
          <p:sp>
            <p:nvSpPr>
              <p:cNvPr id="23" name="Freeform 36">
                <a:extLst>
                  <a:ext uri="{FF2B5EF4-FFF2-40B4-BE49-F238E27FC236}">
                    <a16:creationId xmlns:a16="http://schemas.microsoft.com/office/drawing/2014/main" id="{8ABBD14B-629E-BB00-0CAB-AA21B8E03112}"/>
                  </a:ext>
                </a:extLst>
              </p:cNvPr>
              <p:cNvSpPr>
                <a:spLocks/>
              </p:cNvSpPr>
              <p:nvPr/>
            </p:nvSpPr>
            <p:spPr bwMode="auto">
              <a:xfrm>
                <a:off x="905" y="2017"/>
                <a:ext cx="1530" cy="822"/>
              </a:xfrm>
              <a:custGeom>
                <a:avLst/>
                <a:gdLst/>
                <a:ahLst/>
                <a:cxnLst>
                  <a:cxn ang="0">
                    <a:pos x="0" y="570"/>
                  </a:cxn>
                  <a:cxn ang="0">
                    <a:pos x="14" y="510"/>
                  </a:cxn>
                  <a:cxn ang="0">
                    <a:pos x="36" y="474"/>
                  </a:cxn>
                  <a:cxn ang="0">
                    <a:pos x="66" y="434"/>
                  </a:cxn>
                  <a:cxn ang="0">
                    <a:pos x="114" y="390"/>
                  </a:cxn>
                  <a:cxn ang="0">
                    <a:pos x="170" y="350"/>
                  </a:cxn>
                  <a:cxn ang="0">
                    <a:pos x="276" y="288"/>
                  </a:cxn>
                  <a:cxn ang="0">
                    <a:pos x="368" y="244"/>
                  </a:cxn>
                  <a:cxn ang="0">
                    <a:pos x="458" y="210"/>
                  </a:cxn>
                  <a:cxn ang="0">
                    <a:pos x="600" y="160"/>
                  </a:cxn>
                  <a:cxn ang="0">
                    <a:pos x="758" y="118"/>
                  </a:cxn>
                  <a:cxn ang="0">
                    <a:pos x="948" y="76"/>
                  </a:cxn>
                  <a:cxn ang="0">
                    <a:pos x="1084" y="52"/>
                  </a:cxn>
                  <a:cxn ang="0">
                    <a:pos x="1272" y="24"/>
                  </a:cxn>
                  <a:cxn ang="0">
                    <a:pos x="1428" y="8"/>
                  </a:cxn>
                  <a:cxn ang="0">
                    <a:pos x="1530" y="0"/>
                  </a:cxn>
                  <a:cxn ang="0">
                    <a:pos x="1530" y="806"/>
                  </a:cxn>
                  <a:cxn ang="0">
                    <a:pos x="1420" y="814"/>
                  </a:cxn>
                  <a:cxn ang="0">
                    <a:pos x="1294" y="820"/>
                  </a:cxn>
                  <a:cxn ang="0">
                    <a:pos x="1144" y="822"/>
                  </a:cxn>
                  <a:cxn ang="0">
                    <a:pos x="942" y="822"/>
                  </a:cxn>
                  <a:cxn ang="0">
                    <a:pos x="824" y="818"/>
                  </a:cxn>
                  <a:cxn ang="0">
                    <a:pos x="702" y="810"/>
                  </a:cxn>
                  <a:cxn ang="0">
                    <a:pos x="582" y="800"/>
                  </a:cxn>
                  <a:cxn ang="0">
                    <a:pos x="470" y="784"/>
                  </a:cxn>
                  <a:cxn ang="0">
                    <a:pos x="346" y="764"/>
                  </a:cxn>
                  <a:cxn ang="0">
                    <a:pos x="238" y="738"/>
                  </a:cxn>
                  <a:cxn ang="0">
                    <a:pos x="162" y="714"/>
                  </a:cxn>
                  <a:cxn ang="0">
                    <a:pos x="116" y="692"/>
                  </a:cxn>
                  <a:cxn ang="0">
                    <a:pos x="82" y="676"/>
                  </a:cxn>
                  <a:cxn ang="0">
                    <a:pos x="56" y="658"/>
                  </a:cxn>
                  <a:cxn ang="0">
                    <a:pos x="34" y="638"/>
                  </a:cxn>
                  <a:cxn ang="0">
                    <a:pos x="10" y="614"/>
                  </a:cxn>
                  <a:cxn ang="0">
                    <a:pos x="2" y="592"/>
                  </a:cxn>
                  <a:cxn ang="0">
                    <a:pos x="0" y="570"/>
                  </a:cxn>
                </a:cxnLst>
                <a:rect l="0" t="0" r="r" b="b"/>
                <a:pathLst>
                  <a:path w="1530" h="822">
                    <a:moveTo>
                      <a:pt x="0" y="570"/>
                    </a:moveTo>
                    <a:lnTo>
                      <a:pt x="14" y="510"/>
                    </a:lnTo>
                    <a:lnTo>
                      <a:pt x="36" y="474"/>
                    </a:lnTo>
                    <a:lnTo>
                      <a:pt x="66" y="434"/>
                    </a:lnTo>
                    <a:lnTo>
                      <a:pt x="114" y="390"/>
                    </a:lnTo>
                    <a:lnTo>
                      <a:pt x="170" y="350"/>
                    </a:lnTo>
                    <a:lnTo>
                      <a:pt x="276" y="288"/>
                    </a:lnTo>
                    <a:lnTo>
                      <a:pt x="368" y="244"/>
                    </a:lnTo>
                    <a:lnTo>
                      <a:pt x="458" y="210"/>
                    </a:lnTo>
                    <a:lnTo>
                      <a:pt x="600" y="160"/>
                    </a:lnTo>
                    <a:lnTo>
                      <a:pt x="758" y="118"/>
                    </a:lnTo>
                    <a:lnTo>
                      <a:pt x="948" y="76"/>
                    </a:lnTo>
                    <a:lnTo>
                      <a:pt x="1084" y="52"/>
                    </a:lnTo>
                    <a:lnTo>
                      <a:pt x="1272" y="24"/>
                    </a:lnTo>
                    <a:lnTo>
                      <a:pt x="1428" y="8"/>
                    </a:lnTo>
                    <a:lnTo>
                      <a:pt x="1530" y="0"/>
                    </a:lnTo>
                    <a:lnTo>
                      <a:pt x="1530" y="806"/>
                    </a:lnTo>
                    <a:lnTo>
                      <a:pt x="1420" y="814"/>
                    </a:lnTo>
                    <a:lnTo>
                      <a:pt x="1294" y="820"/>
                    </a:lnTo>
                    <a:lnTo>
                      <a:pt x="1144" y="822"/>
                    </a:lnTo>
                    <a:lnTo>
                      <a:pt x="942" y="822"/>
                    </a:lnTo>
                    <a:lnTo>
                      <a:pt x="824" y="818"/>
                    </a:lnTo>
                    <a:lnTo>
                      <a:pt x="702" y="810"/>
                    </a:lnTo>
                    <a:lnTo>
                      <a:pt x="582" y="800"/>
                    </a:lnTo>
                    <a:lnTo>
                      <a:pt x="470" y="784"/>
                    </a:lnTo>
                    <a:lnTo>
                      <a:pt x="346" y="764"/>
                    </a:lnTo>
                    <a:lnTo>
                      <a:pt x="238" y="738"/>
                    </a:lnTo>
                    <a:lnTo>
                      <a:pt x="162" y="714"/>
                    </a:lnTo>
                    <a:lnTo>
                      <a:pt x="116" y="692"/>
                    </a:lnTo>
                    <a:lnTo>
                      <a:pt x="82" y="676"/>
                    </a:lnTo>
                    <a:lnTo>
                      <a:pt x="56" y="658"/>
                    </a:lnTo>
                    <a:lnTo>
                      <a:pt x="34" y="638"/>
                    </a:lnTo>
                    <a:lnTo>
                      <a:pt x="10" y="614"/>
                    </a:lnTo>
                    <a:lnTo>
                      <a:pt x="2" y="592"/>
                    </a:lnTo>
                    <a:lnTo>
                      <a:pt x="0" y="570"/>
                    </a:lnTo>
                    <a:close/>
                  </a:path>
                </a:pathLst>
              </a:custGeom>
              <a:solidFill>
                <a:schemeClr val="accent1">
                  <a:alpha val="50000"/>
                </a:schemeClr>
              </a:solidFill>
              <a:ln w="9525" cap="flat" cmpd="sng">
                <a:noFill/>
                <a:prstDash val="solid"/>
                <a:round/>
                <a:headEnd type="none" w="med" len="med"/>
                <a:tailEnd type="none" w="med" len="med"/>
              </a:ln>
              <a:effectLst/>
            </p:spPr>
            <p:txBody>
              <a:bodyPr wrap="none" lIns="0" tIns="0" rIns="0" bIns="0" anchor="ctr"/>
              <a:lstStyle/>
              <a:p>
                <a:endParaRPr lang="en-GB"/>
              </a:p>
            </p:txBody>
          </p:sp>
          <p:sp>
            <p:nvSpPr>
              <p:cNvPr id="24" name="Freeform 37">
                <a:extLst>
                  <a:ext uri="{FF2B5EF4-FFF2-40B4-BE49-F238E27FC236}">
                    <a16:creationId xmlns:a16="http://schemas.microsoft.com/office/drawing/2014/main" id="{D310C563-A193-E984-C7C3-F18385AED5EE}"/>
                  </a:ext>
                </a:extLst>
              </p:cNvPr>
              <p:cNvSpPr>
                <a:spLocks/>
              </p:cNvSpPr>
              <p:nvPr/>
            </p:nvSpPr>
            <p:spPr bwMode="auto">
              <a:xfrm>
                <a:off x="899" y="2171"/>
                <a:ext cx="1528" cy="582"/>
              </a:xfrm>
              <a:custGeom>
                <a:avLst/>
                <a:gdLst/>
                <a:ahLst/>
                <a:cxnLst>
                  <a:cxn ang="0">
                    <a:pos x="0" y="418"/>
                  </a:cxn>
                  <a:cxn ang="0">
                    <a:pos x="18" y="384"/>
                  </a:cxn>
                  <a:cxn ang="0">
                    <a:pos x="44" y="354"/>
                  </a:cxn>
                  <a:cxn ang="0">
                    <a:pos x="94" y="316"/>
                  </a:cxn>
                  <a:cxn ang="0">
                    <a:pos x="144" y="288"/>
                  </a:cxn>
                  <a:cxn ang="0">
                    <a:pos x="240" y="242"/>
                  </a:cxn>
                  <a:cxn ang="0">
                    <a:pos x="364" y="198"/>
                  </a:cxn>
                  <a:cxn ang="0">
                    <a:pos x="494" y="160"/>
                  </a:cxn>
                  <a:cxn ang="0">
                    <a:pos x="668" y="118"/>
                  </a:cxn>
                  <a:cxn ang="0">
                    <a:pos x="830" y="84"/>
                  </a:cxn>
                  <a:cxn ang="0">
                    <a:pos x="1074" y="46"/>
                  </a:cxn>
                  <a:cxn ang="0">
                    <a:pos x="1348" y="14"/>
                  </a:cxn>
                  <a:cxn ang="0">
                    <a:pos x="1528" y="0"/>
                  </a:cxn>
                  <a:cxn ang="0">
                    <a:pos x="1528" y="560"/>
                  </a:cxn>
                  <a:cxn ang="0">
                    <a:pos x="1364" y="570"/>
                  </a:cxn>
                  <a:cxn ang="0">
                    <a:pos x="1184" y="578"/>
                  </a:cxn>
                  <a:cxn ang="0">
                    <a:pos x="1008" y="582"/>
                  </a:cxn>
                  <a:cxn ang="0">
                    <a:pos x="796" y="582"/>
                  </a:cxn>
                  <a:cxn ang="0">
                    <a:pos x="600" y="578"/>
                  </a:cxn>
                  <a:cxn ang="0">
                    <a:pos x="442" y="566"/>
                  </a:cxn>
                  <a:cxn ang="0">
                    <a:pos x="346" y="556"/>
                  </a:cxn>
                  <a:cxn ang="0">
                    <a:pos x="242" y="540"/>
                  </a:cxn>
                  <a:cxn ang="0">
                    <a:pos x="146" y="522"/>
                  </a:cxn>
                  <a:cxn ang="0">
                    <a:pos x="82" y="498"/>
                  </a:cxn>
                  <a:cxn ang="0">
                    <a:pos x="36" y="474"/>
                  </a:cxn>
                  <a:cxn ang="0">
                    <a:pos x="18" y="458"/>
                  </a:cxn>
                  <a:cxn ang="0">
                    <a:pos x="0" y="434"/>
                  </a:cxn>
                  <a:cxn ang="0">
                    <a:pos x="0" y="418"/>
                  </a:cxn>
                </a:cxnLst>
                <a:rect l="0" t="0" r="r" b="b"/>
                <a:pathLst>
                  <a:path w="1528" h="582">
                    <a:moveTo>
                      <a:pt x="0" y="418"/>
                    </a:moveTo>
                    <a:lnTo>
                      <a:pt x="18" y="384"/>
                    </a:lnTo>
                    <a:lnTo>
                      <a:pt x="44" y="354"/>
                    </a:lnTo>
                    <a:lnTo>
                      <a:pt x="94" y="316"/>
                    </a:lnTo>
                    <a:lnTo>
                      <a:pt x="144" y="288"/>
                    </a:lnTo>
                    <a:lnTo>
                      <a:pt x="240" y="242"/>
                    </a:lnTo>
                    <a:lnTo>
                      <a:pt x="364" y="198"/>
                    </a:lnTo>
                    <a:lnTo>
                      <a:pt x="494" y="160"/>
                    </a:lnTo>
                    <a:lnTo>
                      <a:pt x="668" y="118"/>
                    </a:lnTo>
                    <a:lnTo>
                      <a:pt x="830" y="84"/>
                    </a:lnTo>
                    <a:lnTo>
                      <a:pt x="1074" y="46"/>
                    </a:lnTo>
                    <a:lnTo>
                      <a:pt x="1348" y="14"/>
                    </a:lnTo>
                    <a:lnTo>
                      <a:pt x="1528" y="0"/>
                    </a:lnTo>
                    <a:lnTo>
                      <a:pt x="1528" y="560"/>
                    </a:lnTo>
                    <a:lnTo>
                      <a:pt x="1364" y="570"/>
                    </a:lnTo>
                    <a:lnTo>
                      <a:pt x="1184" y="578"/>
                    </a:lnTo>
                    <a:lnTo>
                      <a:pt x="1008" y="582"/>
                    </a:lnTo>
                    <a:lnTo>
                      <a:pt x="796" y="582"/>
                    </a:lnTo>
                    <a:lnTo>
                      <a:pt x="600" y="578"/>
                    </a:lnTo>
                    <a:lnTo>
                      <a:pt x="442" y="566"/>
                    </a:lnTo>
                    <a:lnTo>
                      <a:pt x="346" y="556"/>
                    </a:lnTo>
                    <a:lnTo>
                      <a:pt x="242" y="540"/>
                    </a:lnTo>
                    <a:lnTo>
                      <a:pt x="146" y="522"/>
                    </a:lnTo>
                    <a:lnTo>
                      <a:pt x="82" y="498"/>
                    </a:lnTo>
                    <a:lnTo>
                      <a:pt x="36" y="474"/>
                    </a:lnTo>
                    <a:lnTo>
                      <a:pt x="18" y="458"/>
                    </a:lnTo>
                    <a:lnTo>
                      <a:pt x="0" y="434"/>
                    </a:lnTo>
                    <a:lnTo>
                      <a:pt x="0" y="418"/>
                    </a:lnTo>
                    <a:close/>
                  </a:path>
                </a:pathLst>
              </a:custGeom>
              <a:solidFill>
                <a:schemeClr val="accent1">
                  <a:alpha val="50000"/>
                </a:schemeClr>
              </a:solidFill>
              <a:ln w="9525" cap="flat" cmpd="sng">
                <a:solidFill>
                  <a:schemeClr val="accent1"/>
                </a:solidFill>
                <a:prstDash val="solid"/>
                <a:round/>
                <a:headEnd type="none" w="med" len="med"/>
                <a:tailEnd type="none" w="med" len="med"/>
              </a:ln>
              <a:effectLst/>
            </p:spPr>
            <p:txBody>
              <a:bodyPr wrap="none" lIns="0" tIns="0" rIns="0" bIns="0" anchor="ctr"/>
              <a:lstStyle/>
              <a:p>
                <a:endParaRPr lang="en-GB" dirty="0"/>
              </a:p>
            </p:txBody>
          </p:sp>
          <p:sp>
            <p:nvSpPr>
              <p:cNvPr id="25" name="Arc 38">
                <a:extLst>
                  <a:ext uri="{FF2B5EF4-FFF2-40B4-BE49-F238E27FC236}">
                    <a16:creationId xmlns:a16="http://schemas.microsoft.com/office/drawing/2014/main" id="{30AA30C6-08B0-0E39-0863-3037749C8D4C}"/>
                  </a:ext>
                </a:extLst>
              </p:cNvPr>
              <p:cNvSpPr>
                <a:spLocks/>
              </p:cNvSpPr>
              <p:nvPr/>
            </p:nvSpPr>
            <p:spPr bwMode="auto">
              <a:xfrm rot="21340421" flipH="1">
                <a:off x="886" y="2076"/>
                <a:ext cx="1561" cy="475"/>
              </a:xfrm>
              <a:custGeom>
                <a:avLst/>
                <a:gdLst>
                  <a:gd name="G0" fmla="+- 1019 0 0"/>
                  <a:gd name="G1" fmla="+- 21600 0 0"/>
                  <a:gd name="G2" fmla="+- 21600 0 0"/>
                  <a:gd name="T0" fmla="*/ 0 w 22619"/>
                  <a:gd name="T1" fmla="*/ 24 h 21600"/>
                  <a:gd name="T2" fmla="*/ 22619 w 22619"/>
                  <a:gd name="T3" fmla="*/ 21600 h 21600"/>
                  <a:gd name="T4" fmla="*/ 1019 w 22619"/>
                  <a:gd name="T5" fmla="*/ 21600 h 21600"/>
                </a:gdLst>
                <a:ahLst/>
                <a:cxnLst>
                  <a:cxn ang="0">
                    <a:pos x="T0" y="T1"/>
                  </a:cxn>
                  <a:cxn ang="0">
                    <a:pos x="T2" y="T3"/>
                  </a:cxn>
                  <a:cxn ang="0">
                    <a:pos x="T4" y="T5"/>
                  </a:cxn>
                </a:cxnLst>
                <a:rect l="0" t="0" r="r" b="b"/>
                <a:pathLst>
                  <a:path w="22619" h="21600" fill="none" extrusionOk="0">
                    <a:moveTo>
                      <a:pt x="0" y="24"/>
                    </a:moveTo>
                    <a:cubicBezTo>
                      <a:pt x="339" y="8"/>
                      <a:pt x="679" y="-1"/>
                      <a:pt x="1019" y="0"/>
                    </a:cubicBezTo>
                    <a:cubicBezTo>
                      <a:pt x="12948" y="0"/>
                      <a:pt x="22619" y="9670"/>
                      <a:pt x="22619" y="21600"/>
                    </a:cubicBezTo>
                  </a:path>
                  <a:path w="22619" h="21600" stroke="0" extrusionOk="0">
                    <a:moveTo>
                      <a:pt x="0" y="24"/>
                    </a:moveTo>
                    <a:cubicBezTo>
                      <a:pt x="339" y="8"/>
                      <a:pt x="679" y="-1"/>
                      <a:pt x="1019" y="0"/>
                    </a:cubicBezTo>
                    <a:cubicBezTo>
                      <a:pt x="12948" y="0"/>
                      <a:pt x="22619" y="9670"/>
                      <a:pt x="22619" y="21600"/>
                    </a:cubicBezTo>
                    <a:lnTo>
                      <a:pt x="1019" y="21600"/>
                    </a:lnTo>
                    <a:close/>
                  </a:path>
                </a:pathLst>
              </a:custGeom>
              <a:noFill/>
              <a:ln w="9525">
                <a:solidFill>
                  <a:schemeClr val="tx1"/>
                </a:solidFill>
                <a:round/>
                <a:headEnd/>
                <a:tailEnd/>
              </a:ln>
              <a:effectLst/>
            </p:spPr>
            <p:txBody>
              <a:bodyPr wrap="none" lIns="0" tIns="0" rIns="0" bIns="0" anchor="ctr"/>
              <a:lstStyle/>
              <a:p>
                <a:endParaRPr lang="en-GB"/>
              </a:p>
            </p:txBody>
          </p:sp>
          <p:sp>
            <p:nvSpPr>
              <p:cNvPr id="26" name="Arc 39">
                <a:extLst>
                  <a:ext uri="{FF2B5EF4-FFF2-40B4-BE49-F238E27FC236}">
                    <a16:creationId xmlns:a16="http://schemas.microsoft.com/office/drawing/2014/main" id="{7E942B3F-42F0-E33D-451E-E223DAE59F81}"/>
                  </a:ext>
                </a:extLst>
              </p:cNvPr>
              <p:cNvSpPr>
                <a:spLocks/>
              </p:cNvSpPr>
              <p:nvPr/>
            </p:nvSpPr>
            <p:spPr bwMode="auto">
              <a:xfrm rot="21340421" flipH="1">
                <a:off x="887" y="2228"/>
                <a:ext cx="1561" cy="332"/>
              </a:xfrm>
              <a:custGeom>
                <a:avLst/>
                <a:gdLst>
                  <a:gd name="G0" fmla="+- 628 0 0"/>
                  <a:gd name="G1" fmla="+- 21600 0 0"/>
                  <a:gd name="G2" fmla="+- 21600 0 0"/>
                  <a:gd name="T0" fmla="*/ 0 w 22228"/>
                  <a:gd name="T1" fmla="*/ 9 h 21600"/>
                  <a:gd name="T2" fmla="*/ 22228 w 22228"/>
                  <a:gd name="T3" fmla="*/ 21600 h 21600"/>
                  <a:gd name="T4" fmla="*/ 628 w 22228"/>
                  <a:gd name="T5" fmla="*/ 21600 h 21600"/>
                </a:gdLst>
                <a:ahLst/>
                <a:cxnLst>
                  <a:cxn ang="0">
                    <a:pos x="T0" y="T1"/>
                  </a:cxn>
                  <a:cxn ang="0">
                    <a:pos x="T2" y="T3"/>
                  </a:cxn>
                  <a:cxn ang="0">
                    <a:pos x="T4" y="T5"/>
                  </a:cxn>
                </a:cxnLst>
                <a:rect l="0" t="0" r="r" b="b"/>
                <a:pathLst>
                  <a:path w="22228" h="21600" fill="none" extrusionOk="0">
                    <a:moveTo>
                      <a:pt x="0" y="9"/>
                    </a:moveTo>
                    <a:cubicBezTo>
                      <a:pt x="209" y="3"/>
                      <a:pt x="418" y="-1"/>
                      <a:pt x="628" y="0"/>
                    </a:cubicBezTo>
                    <a:cubicBezTo>
                      <a:pt x="12557" y="0"/>
                      <a:pt x="22228" y="9670"/>
                      <a:pt x="22228" y="21600"/>
                    </a:cubicBezTo>
                  </a:path>
                  <a:path w="22228" h="21600" stroke="0" extrusionOk="0">
                    <a:moveTo>
                      <a:pt x="0" y="9"/>
                    </a:moveTo>
                    <a:cubicBezTo>
                      <a:pt x="209" y="3"/>
                      <a:pt x="418" y="-1"/>
                      <a:pt x="628" y="0"/>
                    </a:cubicBezTo>
                    <a:cubicBezTo>
                      <a:pt x="12557" y="0"/>
                      <a:pt x="22228" y="9670"/>
                      <a:pt x="22228" y="21600"/>
                    </a:cubicBezTo>
                    <a:lnTo>
                      <a:pt x="628" y="21600"/>
                    </a:lnTo>
                    <a:close/>
                  </a:path>
                </a:pathLst>
              </a:custGeom>
              <a:noFill/>
              <a:ln w="9525">
                <a:solidFill>
                  <a:schemeClr val="tx1"/>
                </a:solidFill>
                <a:round/>
                <a:headEnd/>
                <a:tailEnd/>
              </a:ln>
              <a:effectLst/>
            </p:spPr>
            <p:txBody>
              <a:bodyPr wrap="none" lIns="0" tIns="0" rIns="0" bIns="0" anchor="ctr"/>
              <a:lstStyle/>
              <a:p>
                <a:endParaRPr lang="en-GB"/>
              </a:p>
            </p:txBody>
          </p:sp>
          <p:sp>
            <p:nvSpPr>
              <p:cNvPr id="27" name="Arc 40">
                <a:extLst>
                  <a:ext uri="{FF2B5EF4-FFF2-40B4-BE49-F238E27FC236}">
                    <a16:creationId xmlns:a16="http://schemas.microsoft.com/office/drawing/2014/main" id="{51FC2179-9B2E-5A0F-0E9D-566A7BA4C28C}"/>
                  </a:ext>
                </a:extLst>
              </p:cNvPr>
              <p:cNvSpPr>
                <a:spLocks/>
              </p:cNvSpPr>
              <p:nvPr/>
            </p:nvSpPr>
            <p:spPr bwMode="auto">
              <a:xfrm rot="21340421" flipH="1">
                <a:off x="880" y="1904"/>
                <a:ext cx="1575" cy="618"/>
              </a:xfrm>
              <a:custGeom>
                <a:avLst/>
                <a:gdLst>
                  <a:gd name="G0" fmla="+- 833 0 0"/>
                  <a:gd name="G1" fmla="+- 21600 0 0"/>
                  <a:gd name="G2" fmla="+- 21600 0 0"/>
                  <a:gd name="T0" fmla="*/ 0 w 22433"/>
                  <a:gd name="T1" fmla="*/ 16 h 21600"/>
                  <a:gd name="T2" fmla="*/ 22433 w 22433"/>
                  <a:gd name="T3" fmla="*/ 21600 h 21600"/>
                  <a:gd name="T4" fmla="*/ 833 w 22433"/>
                  <a:gd name="T5" fmla="*/ 21600 h 21600"/>
                </a:gdLst>
                <a:ahLst/>
                <a:cxnLst>
                  <a:cxn ang="0">
                    <a:pos x="T0" y="T1"/>
                  </a:cxn>
                  <a:cxn ang="0">
                    <a:pos x="T2" y="T3"/>
                  </a:cxn>
                  <a:cxn ang="0">
                    <a:pos x="T4" y="T5"/>
                  </a:cxn>
                </a:cxnLst>
                <a:rect l="0" t="0" r="r" b="b"/>
                <a:pathLst>
                  <a:path w="22433" h="21600" fill="none" extrusionOk="0">
                    <a:moveTo>
                      <a:pt x="0" y="16"/>
                    </a:moveTo>
                    <a:cubicBezTo>
                      <a:pt x="277" y="5"/>
                      <a:pt x="555" y="-1"/>
                      <a:pt x="833" y="0"/>
                    </a:cubicBezTo>
                    <a:cubicBezTo>
                      <a:pt x="12762" y="0"/>
                      <a:pt x="22433" y="9670"/>
                      <a:pt x="22433" y="21600"/>
                    </a:cubicBezTo>
                  </a:path>
                  <a:path w="22433" h="21600" stroke="0" extrusionOk="0">
                    <a:moveTo>
                      <a:pt x="0" y="16"/>
                    </a:moveTo>
                    <a:cubicBezTo>
                      <a:pt x="277" y="5"/>
                      <a:pt x="555" y="-1"/>
                      <a:pt x="833" y="0"/>
                    </a:cubicBezTo>
                    <a:cubicBezTo>
                      <a:pt x="12762" y="0"/>
                      <a:pt x="22433" y="9670"/>
                      <a:pt x="22433" y="21600"/>
                    </a:cubicBezTo>
                    <a:lnTo>
                      <a:pt x="833" y="21600"/>
                    </a:lnTo>
                    <a:close/>
                  </a:path>
                </a:pathLst>
              </a:custGeom>
              <a:noFill/>
              <a:ln w="9525">
                <a:solidFill>
                  <a:schemeClr val="tx1"/>
                </a:solidFill>
                <a:round/>
                <a:headEnd/>
                <a:tailEnd/>
              </a:ln>
              <a:effectLst/>
            </p:spPr>
            <p:txBody>
              <a:bodyPr wrap="none" lIns="0" tIns="0" rIns="0" bIns="0" anchor="ctr"/>
              <a:lstStyle/>
              <a:p>
                <a:endParaRPr lang="en-GB"/>
              </a:p>
            </p:txBody>
          </p:sp>
          <p:sp>
            <p:nvSpPr>
              <p:cNvPr id="28" name="Arc 41">
                <a:extLst>
                  <a:ext uri="{FF2B5EF4-FFF2-40B4-BE49-F238E27FC236}">
                    <a16:creationId xmlns:a16="http://schemas.microsoft.com/office/drawing/2014/main" id="{A9FB157D-6F3F-C399-72FF-BFAE04B5FC5B}"/>
                  </a:ext>
                </a:extLst>
              </p:cNvPr>
              <p:cNvSpPr>
                <a:spLocks/>
              </p:cNvSpPr>
              <p:nvPr/>
            </p:nvSpPr>
            <p:spPr bwMode="auto">
              <a:xfrm rot="-259579" flipH="1" flipV="1">
                <a:off x="911" y="2528"/>
                <a:ext cx="1523" cy="352"/>
              </a:xfrm>
              <a:custGeom>
                <a:avLst/>
                <a:gdLst>
                  <a:gd name="G0" fmla="+- 0 0 0"/>
                  <a:gd name="G1" fmla="+- 21599 0 0"/>
                  <a:gd name="G2" fmla="+- 21600 0 0"/>
                  <a:gd name="T0" fmla="*/ 216 w 21600"/>
                  <a:gd name="T1" fmla="*/ 0 h 21599"/>
                  <a:gd name="T2" fmla="*/ 21600 w 21600"/>
                  <a:gd name="T3" fmla="*/ 21599 h 21599"/>
                  <a:gd name="T4" fmla="*/ 0 w 21600"/>
                  <a:gd name="T5" fmla="*/ 21599 h 21599"/>
                </a:gdLst>
                <a:ahLst/>
                <a:cxnLst>
                  <a:cxn ang="0">
                    <a:pos x="T0" y="T1"/>
                  </a:cxn>
                  <a:cxn ang="0">
                    <a:pos x="T2" y="T3"/>
                  </a:cxn>
                  <a:cxn ang="0">
                    <a:pos x="T4" y="T5"/>
                  </a:cxn>
                </a:cxnLst>
                <a:rect l="0" t="0" r="r" b="b"/>
                <a:pathLst>
                  <a:path w="21600" h="21599" fill="none" extrusionOk="0">
                    <a:moveTo>
                      <a:pt x="215" y="0"/>
                    </a:moveTo>
                    <a:cubicBezTo>
                      <a:pt x="12060" y="118"/>
                      <a:pt x="21600" y="9753"/>
                      <a:pt x="21600" y="21599"/>
                    </a:cubicBezTo>
                  </a:path>
                  <a:path w="21600" h="21599" stroke="0" extrusionOk="0">
                    <a:moveTo>
                      <a:pt x="215" y="0"/>
                    </a:moveTo>
                    <a:cubicBezTo>
                      <a:pt x="12060" y="118"/>
                      <a:pt x="21600" y="9753"/>
                      <a:pt x="21600" y="21599"/>
                    </a:cubicBezTo>
                    <a:lnTo>
                      <a:pt x="0" y="21599"/>
                    </a:lnTo>
                    <a:close/>
                  </a:path>
                </a:pathLst>
              </a:custGeom>
              <a:noFill/>
              <a:ln w="9525">
                <a:solidFill>
                  <a:schemeClr val="tx1"/>
                </a:solidFill>
                <a:round/>
                <a:headEnd/>
                <a:tailEnd/>
              </a:ln>
              <a:effectLst/>
            </p:spPr>
            <p:txBody>
              <a:bodyPr wrap="none" lIns="0" tIns="0" rIns="0" bIns="0" anchor="ctr"/>
              <a:lstStyle/>
              <a:p>
                <a:endParaRPr lang="en-GB"/>
              </a:p>
            </p:txBody>
          </p:sp>
          <p:sp>
            <p:nvSpPr>
              <p:cNvPr id="29" name="Arc 42">
                <a:extLst>
                  <a:ext uri="{FF2B5EF4-FFF2-40B4-BE49-F238E27FC236}">
                    <a16:creationId xmlns:a16="http://schemas.microsoft.com/office/drawing/2014/main" id="{38660799-45C5-5075-60C8-556C2D492548}"/>
                  </a:ext>
                </a:extLst>
              </p:cNvPr>
              <p:cNvSpPr>
                <a:spLocks/>
              </p:cNvSpPr>
              <p:nvPr/>
            </p:nvSpPr>
            <p:spPr bwMode="auto">
              <a:xfrm rot="-259579" flipH="1" flipV="1">
                <a:off x="915" y="2540"/>
                <a:ext cx="1523" cy="247"/>
              </a:xfrm>
              <a:custGeom>
                <a:avLst/>
                <a:gdLst>
                  <a:gd name="G0" fmla="+- 0 0 0"/>
                  <a:gd name="G1" fmla="+- 21598 0 0"/>
                  <a:gd name="G2" fmla="+- 21600 0 0"/>
                  <a:gd name="T0" fmla="*/ 277 w 21600"/>
                  <a:gd name="T1" fmla="*/ 0 h 21598"/>
                  <a:gd name="T2" fmla="*/ 21600 w 21600"/>
                  <a:gd name="T3" fmla="*/ 21598 h 21598"/>
                  <a:gd name="T4" fmla="*/ 0 w 21600"/>
                  <a:gd name="T5" fmla="*/ 21598 h 21598"/>
                </a:gdLst>
                <a:ahLst/>
                <a:cxnLst>
                  <a:cxn ang="0">
                    <a:pos x="T0" y="T1"/>
                  </a:cxn>
                  <a:cxn ang="0">
                    <a:pos x="T2" y="T3"/>
                  </a:cxn>
                  <a:cxn ang="0">
                    <a:pos x="T4" y="T5"/>
                  </a:cxn>
                </a:cxnLst>
                <a:rect l="0" t="0" r="r" b="b"/>
                <a:pathLst>
                  <a:path w="21600" h="21598" fill="none" extrusionOk="0">
                    <a:moveTo>
                      <a:pt x="277" y="-1"/>
                    </a:moveTo>
                    <a:cubicBezTo>
                      <a:pt x="12097" y="151"/>
                      <a:pt x="21600" y="9776"/>
                      <a:pt x="21600" y="21598"/>
                    </a:cubicBezTo>
                  </a:path>
                  <a:path w="21600" h="21598" stroke="0" extrusionOk="0">
                    <a:moveTo>
                      <a:pt x="277" y="-1"/>
                    </a:moveTo>
                    <a:cubicBezTo>
                      <a:pt x="12097" y="151"/>
                      <a:pt x="21600" y="9776"/>
                      <a:pt x="21600" y="21598"/>
                    </a:cubicBezTo>
                    <a:lnTo>
                      <a:pt x="0" y="21598"/>
                    </a:lnTo>
                    <a:close/>
                  </a:path>
                </a:pathLst>
              </a:custGeom>
              <a:noFill/>
              <a:ln w="9525">
                <a:solidFill>
                  <a:schemeClr val="tx1"/>
                </a:solidFill>
                <a:round/>
                <a:headEnd/>
                <a:tailEnd/>
              </a:ln>
              <a:effectLst/>
            </p:spPr>
            <p:txBody>
              <a:bodyPr wrap="none" lIns="0" tIns="0" rIns="0" bIns="0" anchor="ctr"/>
              <a:lstStyle/>
              <a:p>
                <a:endParaRPr lang="en-GB"/>
              </a:p>
            </p:txBody>
          </p:sp>
          <p:sp>
            <p:nvSpPr>
              <p:cNvPr id="30" name="Arc 43">
                <a:extLst>
                  <a:ext uri="{FF2B5EF4-FFF2-40B4-BE49-F238E27FC236}">
                    <a16:creationId xmlns:a16="http://schemas.microsoft.com/office/drawing/2014/main" id="{020898B0-2AF9-31C2-A2B0-49376A437E4A}"/>
                  </a:ext>
                </a:extLst>
              </p:cNvPr>
              <p:cNvSpPr>
                <a:spLocks/>
              </p:cNvSpPr>
              <p:nvPr/>
            </p:nvSpPr>
            <p:spPr bwMode="auto">
              <a:xfrm rot="-259579" flipH="1" flipV="1">
                <a:off x="914" y="2528"/>
                <a:ext cx="1523" cy="458"/>
              </a:xfrm>
              <a:custGeom>
                <a:avLst/>
                <a:gdLst>
                  <a:gd name="G0" fmla="+- 0 0 0"/>
                  <a:gd name="G1" fmla="+- 21598 0 0"/>
                  <a:gd name="G2" fmla="+- 21600 0 0"/>
                  <a:gd name="T0" fmla="*/ 301 w 21600"/>
                  <a:gd name="T1" fmla="*/ 0 h 21598"/>
                  <a:gd name="T2" fmla="*/ 21600 w 21600"/>
                  <a:gd name="T3" fmla="*/ 21598 h 21598"/>
                  <a:gd name="T4" fmla="*/ 0 w 21600"/>
                  <a:gd name="T5" fmla="*/ 21598 h 21598"/>
                </a:gdLst>
                <a:ahLst/>
                <a:cxnLst>
                  <a:cxn ang="0">
                    <a:pos x="T0" y="T1"/>
                  </a:cxn>
                  <a:cxn ang="0">
                    <a:pos x="T2" y="T3"/>
                  </a:cxn>
                  <a:cxn ang="0">
                    <a:pos x="T4" y="T5"/>
                  </a:cxn>
                </a:cxnLst>
                <a:rect l="0" t="0" r="r" b="b"/>
                <a:pathLst>
                  <a:path w="21600" h="21598" fill="none" extrusionOk="0">
                    <a:moveTo>
                      <a:pt x="300" y="0"/>
                    </a:moveTo>
                    <a:cubicBezTo>
                      <a:pt x="12111" y="164"/>
                      <a:pt x="21600" y="9786"/>
                      <a:pt x="21600" y="21598"/>
                    </a:cubicBezTo>
                  </a:path>
                  <a:path w="21600" h="21598" stroke="0" extrusionOk="0">
                    <a:moveTo>
                      <a:pt x="300" y="0"/>
                    </a:moveTo>
                    <a:cubicBezTo>
                      <a:pt x="12111" y="164"/>
                      <a:pt x="21600" y="9786"/>
                      <a:pt x="21600" y="21598"/>
                    </a:cubicBezTo>
                    <a:lnTo>
                      <a:pt x="0" y="21598"/>
                    </a:lnTo>
                    <a:close/>
                  </a:path>
                </a:pathLst>
              </a:custGeom>
              <a:noFill/>
              <a:ln w="9525">
                <a:solidFill>
                  <a:schemeClr val="tx1"/>
                </a:solidFill>
                <a:round/>
                <a:headEnd/>
                <a:tailEnd/>
              </a:ln>
              <a:effectLst/>
            </p:spPr>
            <p:txBody>
              <a:bodyPr wrap="none" lIns="0" tIns="0" rIns="0" bIns="0" anchor="ctr"/>
              <a:lstStyle/>
              <a:p>
                <a:endParaRPr lang="en-GB"/>
              </a:p>
            </p:txBody>
          </p:sp>
          <p:sp>
            <p:nvSpPr>
              <p:cNvPr id="31" name="Arc 45">
                <a:extLst>
                  <a:ext uri="{FF2B5EF4-FFF2-40B4-BE49-F238E27FC236}">
                    <a16:creationId xmlns:a16="http://schemas.microsoft.com/office/drawing/2014/main" id="{3F70ABC2-25D7-534F-728E-A9BBC0A27006}"/>
                  </a:ext>
                </a:extLst>
              </p:cNvPr>
              <p:cNvSpPr>
                <a:spLocks/>
              </p:cNvSpPr>
              <p:nvPr/>
            </p:nvSpPr>
            <p:spPr bwMode="auto">
              <a:xfrm rot="21313810" flipV="1">
                <a:off x="816" y="2431"/>
                <a:ext cx="1619" cy="104"/>
              </a:xfrm>
              <a:custGeom>
                <a:avLst/>
                <a:gdLst>
                  <a:gd name="G0" fmla="+- 0 0 0"/>
                  <a:gd name="G1" fmla="+- 21573 0 0"/>
                  <a:gd name="G2" fmla="+- 21600 0 0"/>
                  <a:gd name="T0" fmla="*/ 1071 w 20804"/>
                  <a:gd name="T1" fmla="*/ 0 h 21573"/>
                  <a:gd name="T2" fmla="*/ 20804 w 20804"/>
                  <a:gd name="T3" fmla="*/ 15762 h 21573"/>
                  <a:gd name="T4" fmla="*/ 0 w 20804"/>
                  <a:gd name="T5" fmla="*/ 21573 h 21573"/>
                </a:gdLst>
                <a:ahLst/>
                <a:cxnLst>
                  <a:cxn ang="0">
                    <a:pos x="T0" y="T1"/>
                  </a:cxn>
                  <a:cxn ang="0">
                    <a:pos x="T2" y="T3"/>
                  </a:cxn>
                  <a:cxn ang="0">
                    <a:pos x="T4" y="T5"/>
                  </a:cxn>
                </a:cxnLst>
                <a:rect l="0" t="0" r="r" b="b"/>
                <a:pathLst>
                  <a:path w="20804" h="21573" fill="none" extrusionOk="0">
                    <a:moveTo>
                      <a:pt x="1071" y="-1"/>
                    </a:moveTo>
                    <a:cubicBezTo>
                      <a:pt x="10355" y="460"/>
                      <a:pt x="18302" y="6809"/>
                      <a:pt x="20803" y="15762"/>
                    </a:cubicBezTo>
                  </a:path>
                  <a:path w="20804" h="21573" stroke="0" extrusionOk="0">
                    <a:moveTo>
                      <a:pt x="1071" y="-1"/>
                    </a:moveTo>
                    <a:cubicBezTo>
                      <a:pt x="10355" y="460"/>
                      <a:pt x="18302" y="6809"/>
                      <a:pt x="20803" y="15762"/>
                    </a:cubicBezTo>
                    <a:lnTo>
                      <a:pt x="0" y="21573"/>
                    </a:lnTo>
                    <a:close/>
                  </a:path>
                </a:pathLst>
              </a:custGeom>
              <a:noFill/>
              <a:ln w="12700" cap="rnd">
                <a:solidFill>
                  <a:schemeClr val="tx1">
                    <a:lumMod val="25000"/>
                    <a:lumOff val="75000"/>
                  </a:schemeClr>
                </a:solidFill>
                <a:prstDash val="sysDot"/>
                <a:round/>
                <a:headEnd/>
                <a:tailEnd/>
              </a:ln>
              <a:effectLst/>
            </p:spPr>
            <p:txBody>
              <a:bodyPr wrap="none" lIns="0" tIns="0" rIns="0" bIns="0" anchor="ctr"/>
              <a:lstStyle/>
              <a:p>
                <a:endParaRPr lang="en-GB"/>
              </a:p>
            </p:txBody>
          </p:sp>
        </p:grpSp>
        <p:sp>
          <p:nvSpPr>
            <p:cNvPr id="19" name="Line 46">
              <a:extLst>
                <a:ext uri="{FF2B5EF4-FFF2-40B4-BE49-F238E27FC236}">
                  <a16:creationId xmlns:a16="http://schemas.microsoft.com/office/drawing/2014/main" id="{F46D208B-778D-138F-07E5-35CDF90DC52D}"/>
                </a:ext>
              </a:extLst>
            </p:cNvPr>
            <p:cNvSpPr>
              <a:spLocks noChangeShapeType="1"/>
            </p:cNvSpPr>
            <p:nvPr/>
          </p:nvSpPr>
          <p:spPr bwMode="auto">
            <a:xfrm flipH="1">
              <a:off x="4211006" y="1586138"/>
              <a:ext cx="0" cy="2145803"/>
            </a:xfrm>
            <a:prstGeom prst="line">
              <a:avLst/>
            </a:prstGeom>
            <a:noFill/>
            <a:ln w="19050">
              <a:solidFill>
                <a:schemeClr val="folHlink"/>
              </a:solidFill>
              <a:round/>
              <a:headEnd/>
              <a:tailEnd/>
            </a:ln>
            <a:effectLst/>
          </p:spPr>
          <p:txBody>
            <a:bodyPr wrap="none" lIns="0" tIns="0" rIns="0" bIns="0" anchor="ctr"/>
            <a:lstStyle/>
            <a:p>
              <a:endParaRPr lang="en-GB"/>
            </a:p>
          </p:txBody>
        </p:sp>
        <p:sp>
          <p:nvSpPr>
            <p:cNvPr id="20" name="Line 203">
              <a:extLst>
                <a:ext uri="{FF2B5EF4-FFF2-40B4-BE49-F238E27FC236}">
                  <a16:creationId xmlns:a16="http://schemas.microsoft.com/office/drawing/2014/main" id="{33A84BA0-3DF7-1061-CD46-22BF09BA62D9}"/>
                </a:ext>
              </a:extLst>
            </p:cNvPr>
            <p:cNvSpPr>
              <a:spLocks noChangeShapeType="1"/>
            </p:cNvSpPr>
            <p:nvPr/>
          </p:nvSpPr>
          <p:spPr bwMode="auto">
            <a:xfrm flipH="1">
              <a:off x="2739319" y="1984256"/>
              <a:ext cx="13968" cy="2045051"/>
            </a:xfrm>
            <a:prstGeom prst="line">
              <a:avLst/>
            </a:prstGeom>
            <a:noFill/>
            <a:ln w="19050">
              <a:solidFill>
                <a:schemeClr val="bg1">
                  <a:lumMod val="50000"/>
                </a:schemeClr>
              </a:solidFill>
              <a:round/>
              <a:headEnd/>
              <a:tailEnd/>
            </a:ln>
            <a:effectLst/>
          </p:spPr>
          <p:txBody>
            <a:bodyPr wrap="none" lIns="0" tIns="0" rIns="0" bIns="0" anchor="ctr"/>
            <a:lstStyle/>
            <a:p>
              <a:endParaRPr lang="en-GB"/>
            </a:p>
          </p:txBody>
        </p:sp>
        <p:sp>
          <p:nvSpPr>
            <p:cNvPr id="21" name="Line 16">
              <a:extLst>
                <a:ext uri="{FF2B5EF4-FFF2-40B4-BE49-F238E27FC236}">
                  <a16:creationId xmlns:a16="http://schemas.microsoft.com/office/drawing/2014/main" id="{4F9D1568-3E5F-2448-D284-CB64FE7EB8CA}"/>
                </a:ext>
              </a:extLst>
            </p:cNvPr>
            <p:cNvSpPr>
              <a:spLocks noChangeShapeType="1"/>
            </p:cNvSpPr>
            <p:nvPr/>
          </p:nvSpPr>
          <p:spPr bwMode="auto">
            <a:xfrm>
              <a:off x="2735131" y="4021200"/>
              <a:ext cx="2588118" cy="0"/>
            </a:xfrm>
            <a:prstGeom prst="line">
              <a:avLst/>
            </a:prstGeom>
            <a:noFill/>
            <a:ln w="19050">
              <a:solidFill>
                <a:schemeClr val="bg1">
                  <a:lumMod val="50000"/>
                </a:schemeClr>
              </a:solidFill>
              <a:round/>
              <a:headEnd/>
              <a:tailEnd type="triangle" w="med" len="med"/>
            </a:ln>
            <a:effectLst/>
          </p:spPr>
          <p:txBody>
            <a:bodyPr wrap="none" lIns="0" tIns="0" rIns="0" bIns="0" anchor="ctr"/>
            <a:lstStyle/>
            <a:p>
              <a:endParaRPr lang="en-GB"/>
            </a:p>
          </p:txBody>
        </p:sp>
      </p:grpSp>
      <p:grpSp>
        <p:nvGrpSpPr>
          <p:cNvPr id="32" name="Group 31">
            <a:extLst>
              <a:ext uri="{FF2B5EF4-FFF2-40B4-BE49-F238E27FC236}">
                <a16:creationId xmlns:a16="http://schemas.microsoft.com/office/drawing/2014/main" id="{B204142B-10F5-46EA-4412-A927B839B2B8}"/>
              </a:ext>
            </a:extLst>
          </p:cNvPr>
          <p:cNvGrpSpPr/>
          <p:nvPr/>
        </p:nvGrpSpPr>
        <p:grpSpPr>
          <a:xfrm>
            <a:off x="5499531" y="2197133"/>
            <a:ext cx="1727807" cy="2250797"/>
            <a:chOff x="5637380" y="1772609"/>
            <a:chExt cx="1860116" cy="2250797"/>
          </a:xfrm>
        </p:grpSpPr>
        <p:sp>
          <p:nvSpPr>
            <p:cNvPr id="33" name="Line 20">
              <a:extLst>
                <a:ext uri="{FF2B5EF4-FFF2-40B4-BE49-F238E27FC236}">
                  <a16:creationId xmlns:a16="http://schemas.microsoft.com/office/drawing/2014/main" id="{90D87F76-3DB8-9456-DB0B-1F6D2B436CB7}"/>
                </a:ext>
              </a:extLst>
            </p:cNvPr>
            <p:cNvSpPr>
              <a:spLocks noChangeShapeType="1"/>
            </p:cNvSpPr>
            <p:nvPr/>
          </p:nvSpPr>
          <p:spPr bwMode="auto">
            <a:xfrm>
              <a:off x="6311772" y="2892019"/>
              <a:ext cx="3152" cy="248953"/>
            </a:xfrm>
            <a:prstGeom prst="line">
              <a:avLst/>
            </a:prstGeom>
            <a:noFill/>
            <a:ln w="9525">
              <a:solidFill>
                <a:schemeClr val="tx1"/>
              </a:solidFill>
              <a:round/>
              <a:headEnd/>
              <a:tailEnd type="triangle" w="med" len="med"/>
            </a:ln>
            <a:effectLst/>
          </p:spPr>
          <p:txBody>
            <a:bodyPr wrap="none" lIns="0" tIns="0" rIns="0" bIns="0" anchor="ctr"/>
            <a:lstStyle/>
            <a:p>
              <a:endParaRPr lang="en-GB"/>
            </a:p>
          </p:txBody>
        </p:sp>
        <p:sp>
          <p:nvSpPr>
            <p:cNvPr id="34" name="Line 21">
              <a:extLst>
                <a:ext uri="{FF2B5EF4-FFF2-40B4-BE49-F238E27FC236}">
                  <a16:creationId xmlns:a16="http://schemas.microsoft.com/office/drawing/2014/main" id="{80BF3232-7B9C-B78F-D427-E99CC3FEDC1F}"/>
                </a:ext>
              </a:extLst>
            </p:cNvPr>
            <p:cNvSpPr>
              <a:spLocks noChangeShapeType="1"/>
            </p:cNvSpPr>
            <p:nvPr/>
          </p:nvSpPr>
          <p:spPr bwMode="auto">
            <a:xfrm flipV="1">
              <a:off x="6312265" y="2639532"/>
              <a:ext cx="1" cy="252523"/>
            </a:xfrm>
            <a:prstGeom prst="line">
              <a:avLst/>
            </a:prstGeom>
            <a:noFill/>
            <a:ln w="9525">
              <a:solidFill>
                <a:schemeClr val="tx1"/>
              </a:solidFill>
              <a:round/>
              <a:headEnd/>
              <a:tailEnd type="triangle" w="med" len="med"/>
            </a:ln>
            <a:effectLst/>
          </p:spPr>
          <p:txBody>
            <a:bodyPr wrap="none" lIns="0" tIns="0" rIns="0" bIns="0" anchor="ctr"/>
            <a:lstStyle/>
            <a:p>
              <a:endParaRPr lang="en-GB"/>
            </a:p>
          </p:txBody>
        </p:sp>
        <p:sp>
          <p:nvSpPr>
            <p:cNvPr id="35" name="Text Box 24">
              <a:extLst>
                <a:ext uri="{FF2B5EF4-FFF2-40B4-BE49-F238E27FC236}">
                  <a16:creationId xmlns:a16="http://schemas.microsoft.com/office/drawing/2014/main" id="{E100168F-E48B-13DF-405A-5C4791CE9FEE}"/>
                </a:ext>
              </a:extLst>
            </p:cNvPr>
            <p:cNvSpPr txBox="1">
              <a:spLocks noChangeArrowheads="1"/>
            </p:cNvSpPr>
            <p:nvPr/>
          </p:nvSpPr>
          <p:spPr bwMode="auto">
            <a:xfrm>
              <a:off x="6569467" y="1806801"/>
              <a:ext cx="795565" cy="153888"/>
            </a:xfrm>
            <a:prstGeom prst="rect">
              <a:avLst/>
            </a:prstGeom>
            <a:noFill/>
            <a:ln w="9525">
              <a:noFill/>
              <a:miter lim="800000"/>
              <a:headEnd/>
              <a:tailEnd/>
            </a:ln>
            <a:effectLst/>
          </p:spPr>
          <p:txBody>
            <a:bodyPr wrap="square" lIns="0" tIns="0" rIns="0" bIns="0">
              <a:spAutoFit/>
            </a:bodyPr>
            <a:lstStyle/>
            <a:p>
              <a:pPr defTabSz="858838"/>
              <a:r>
                <a:rPr lang="en-GB" sz="1000" dirty="0"/>
                <a:t>Likelihood</a:t>
              </a:r>
            </a:p>
          </p:txBody>
        </p:sp>
        <p:sp>
          <p:nvSpPr>
            <p:cNvPr id="36" name="Rectangle 25">
              <a:extLst>
                <a:ext uri="{FF2B5EF4-FFF2-40B4-BE49-F238E27FC236}">
                  <a16:creationId xmlns:a16="http://schemas.microsoft.com/office/drawing/2014/main" id="{82FB4E3C-03FD-20A5-B869-43CDEC336D69}"/>
                </a:ext>
              </a:extLst>
            </p:cNvPr>
            <p:cNvSpPr>
              <a:spLocks noChangeArrowheads="1"/>
            </p:cNvSpPr>
            <p:nvPr/>
          </p:nvSpPr>
          <p:spPr bwMode="auto">
            <a:xfrm>
              <a:off x="5721892" y="3869518"/>
              <a:ext cx="483508" cy="153888"/>
            </a:xfrm>
            <a:prstGeom prst="rect">
              <a:avLst/>
            </a:prstGeom>
            <a:noFill/>
            <a:ln w="9525">
              <a:noFill/>
              <a:miter lim="800000"/>
              <a:headEnd/>
              <a:tailEnd/>
            </a:ln>
            <a:effectLst/>
          </p:spPr>
          <p:txBody>
            <a:bodyPr wrap="square" lIns="0" tIns="0" rIns="0" bIns="0">
              <a:spAutoFit/>
            </a:bodyPr>
            <a:lstStyle/>
            <a:p>
              <a:pPr defTabSz="858838"/>
              <a:r>
                <a:rPr lang="en-GB" sz="1000" dirty="0"/>
                <a:t>Return</a:t>
              </a:r>
            </a:p>
          </p:txBody>
        </p:sp>
        <mc:AlternateContent xmlns:mc="http://schemas.openxmlformats.org/markup-compatibility/2006" xmlns:a14="http://schemas.microsoft.com/office/drawing/2010/main">
          <mc:Choice Requires="a14">
            <p:sp>
              <p:nvSpPr>
                <p:cNvPr id="37" name="Object 27">
                  <a:extLst>
                    <a:ext uri="{FF2B5EF4-FFF2-40B4-BE49-F238E27FC236}">
                      <a16:creationId xmlns:a16="http://schemas.microsoft.com/office/drawing/2014/main" id="{244D0AFF-0E61-9174-5D56-FE76AC90EADF}"/>
                    </a:ext>
                  </a:extLst>
                </p:cNvPr>
                <p:cNvSpPr txBox="1"/>
                <p:nvPr/>
              </p:nvSpPr>
              <p:spPr bwMode="auto">
                <a:xfrm>
                  <a:off x="6274319" y="2664111"/>
                  <a:ext cx="238710" cy="182076"/>
                </a:xfrm>
                <a:prstGeom prst="rect">
                  <a:avLst/>
                </a:prstGeom>
                <a:noFill/>
              </p:spPr>
              <p:txBody>
                <a:bodyPr>
                  <a:normAutofit fontScale="25000" lnSpcReduction="20000"/>
                </a:bodyPr>
                <a:lstStyle/>
                <a:p>
                  <a:pPr/>
                  <a14:m>
                    <m:oMathPara xmlns:m="http://schemas.openxmlformats.org/officeDocument/2006/math">
                      <m:oMathParaPr>
                        <m:jc m:val="center"/>
                      </m:oMathParaPr>
                      <m:oMath>
                        <m:r>
                          <a:rPr lang="en-GB" sz="4800" i="1">
                            <a:solidFill>
                              <a:srgbClr val="000000"/>
                            </a:solidFill>
                            <a:latin typeface="Cambria Math" panose="02040503050406030204" pitchFamily="18" charset="0"/>
                          </a:rPr>
                          <m:t>𝜎</m:t>
                        </m:r>
                      </m:oMath>
                    </m:oMathPara>
                  </a14:m>
                  <a:endParaRPr lang="en-GB" dirty="0"/>
                </a:p>
              </p:txBody>
            </p:sp>
          </mc:Choice>
          <mc:Fallback xmlns="">
            <p:sp>
              <p:nvSpPr>
                <p:cNvPr id="37" name="Object 27">
                  <a:extLst>
                    <a:ext uri="{FF2B5EF4-FFF2-40B4-BE49-F238E27FC236}">
                      <a16:creationId xmlns:a16="http://schemas.microsoft.com/office/drawing/2014/main" id="{244D0AFF-0E61-9174-5D56-FE76AC90EADF}"/>
                    </a:ext>
                  </a:extLst>
                </p:cNvPr>
                <p:cNvSpPr txBox="1">
                  <a:spLocks noRot="1" noChangeAspect="1" noMove="1" noResize="1" noEditPoints="1" noAdjustHandles="1" noChangeArrowheads="1" noChangeShapeType="1" noTextEdit="1"/>
                </p:cNvSpPr>
                <p:nvPr/>
              </p:nvSpPr>
              <p:spPr bwMode="auto">
                <a:xfrm>
                  <a:off x="6274319" y="2664111"/>
                  <a:ext cx="238710" cy="182076"/>
                </a:xfrm>
                <a:prstGeom prst="rect">
                  <a:avLst/>
                </a:prstGeom>
                <a:blipFill>
                  <a:blip r:embed="rId2"/>
                  <a:stretch>
                    <a:fillRect b="-23333"/>
                  </a:stretch>
                </a:blipFill>
              </p:spPr>
              <p:txBody>
                <a:bodyPr/>
                <a:lstStyle/>
                <a:p>
                  <a:r>
                    <a:rPr lang="en-GB">
                      <a:noFill/>
                    </a:rPr>
                    <a:t> </a:t>
                  </a:r>
                </a:p>
              </p:txBody>
            </p:sp>
          </mc:Fallback>
        </mc:AlternateContent>
        <p:sp>
          <p:nvSpPr>
            <p:cNvPr id="38" name="Line 49">
              <a:extLst>
                <a:ext uri="{FF2B5EF4-FFF2-40B4-BE49-F238E27FC236}">
                  <a16:creationId xmlns:a16="http://schemas.microsoft.com/office/drawing/2014/main" id="{6E0E20EB-581E-93F1-E411-04C047B15A44}"/>
                </a:ext>
              </a:extLst>
            </p:cNvPr>
            <p:cNvSpPr>
              <a:spLocks noChangeShapeType="1"/>
            </p:cNvSpPr>
            <p:nvPr/>
          </p:nvSpPr>
          <p:spPr bwMode="auto">
            <a:xfrm rot="5400000" flipV="1">
              <a:off x="6512800" y="900851"/>
              <a:ext cx="0" cy="1746505"/>
            </a:xfrm>
            <a:prstGeom prst="line">
              <a:avLst/>
            </a:prstGeom>
            <a:noFill/>
            <a:ln w="9525">
              <a:solidFill>
                <a:schemeClr val="tx1"/>
              </a:solidFill>
              <a:round/>
              <a:headEnd/>
              <a:tailEnd type="triangle" w="med" len="med"/>
            </a:ln>
            <a:effectLst/>
          </p:spPr>
          <p:txBody>
            <a:bodyPr wrap="none" lIns="0" tIns="0" rIns="0" bIns="0" anchor="ctr"/>
            <a:lstStyle/>
            <a:p>
              <a:endParaRPr lang="en-GB"/>
            </a:p>
          </p:txBody>
        </p:sp>
        <p:sp>
          <p:nvSpPr>
            <p:cNvPr id="39" name="Line 50">
              <a:extLst>
                <a:ext uri="{FF2B5EF4-FFF2-40B4-BE49-F238E27FC236}">
                  <a16:creationId xmlns:a16="http://schemas.microsoft.com/office/drawing/2014/main" id="{EFB4248A-370F-03F9-6A94-93E909A4A35A}"/>
                </a:ext>
              </a:extLst>
            </p:cNvPr>
            <p:cNvSpPr>
              <a:spLocks noChangeShapeType="1"/>
            </p:cNvSpPr>
            <p:nvPr/>
          </p:nvSpPr>
          <p:spPr bwMode="auto">
            <a:xfrm rot="5400000">
              <a:off x="6567905" y="1961451"/>
              <a:ext cx="0" cy="1859183"/>
            </a:xfrm>
            <a:prstGeom prst="line">
              <a:avLst/>
            </a:prstGeom>
            <a:noFill/>
            <a:ln w="9525">
              <a:solidFill>
                <a:schemeClr val="tx1"/>
              </a:solidFill>
              <a:round/>
              <a:headEnd/>
              <a:tailEnd/>
            </a:ln>
            <a:effectLst/>
          </p:spPr>
          <p:txBody>
            <a:bodyPr wrap="none" lIns="0" tIns="0" rIns="0" bIns="0" anchor="ctr"/>
            <a:lstStyle/>
            <a:p>
              <a:endParaRPr lang="en-GB"/>
            </a:p>
          </p:txBody>
        </p:sp>
        <p:sp>
          <p:nvSpPr>
            <p:cNvPr id="40" name="Line 51">
              <a:extLst>
                <a:ext uri="{FF2B5EF4-FFF2-40B4-BE49-F238E27FC236}">
                  <a16:creationId xmlns:a16="http://schemas.microsoft.com/office/drawing/2014/main" id="{5CDC8FA3-45EE-666B-9C26-4BE37CE3821E}"/>
                </a:ext>
              </a:extLst>
            </p:cNvPr>
            <p:cNvSpPr>
              <a:spLocks noChangeShapeType="1"/>
            </p:cNvSpPr>
            <p:nvPr/>
          </p:nvSpPr>
          <p:spPr bwMode="auto">
            <a:xfrm rot="5400000">
              <a:off x="4515856" y="2894133"/>
              <a:ext cx="2245215" cy="2167"/>
            </a:xfrm>
            <a:prstGeom prst="line">
              <a:avLst/>
            </a:prstGeom>
            <a:noFill/>
            <a:ln w="9525">
              <a:solidFill>
                <a:schemeClr val="tx1"/>
              </a:solidFill>
              <a:round/>
              <a:headEnd/>
              <a:tailEnd type="triangle"/>
            </a:ln>
          </p:spPr>
          <p:txBody>
            <a:bodyPr/>
            <a:lstStyle/>
            <a:p>
              <a:endParaRPr lang="en-GB"/>
            </a:p>
          </p:txBody>
        </p:sp>
        <p:grpSp>
          <p:nvGrpSpPr>
            <p:cNvPr id="41" name="Group 52">
              <a:extLst>
                <a:ext uri="{FF2B5EF4-FFF2-40B4-BE49-F238E27FC236}">
                  <a16:creationId xmlns:a16="http://schemas.microsoft.com/office/drawing/2014/main" id="{89485231-325C-703E-CC01-A0076F6659C6}"/>
                </a:ext>
              </a:extLst>
            </p:cNvPr>
            <p:cNvGrpSpPr>
              <a:grpSpLocks/>
            </p:cNvGrpSpPr>
            <p:nvPr/>
          </p:nvGrpSpPr>
          <p:grpSpPr bwMode="auto">
            <a:xfrm>
              <a:off x="5650782" y="2121275"/>
              <a:ext cx="1465209" cy="1537856"/>
              <a:chOff x="2501" y="1694"/>
              <a:chExt cx="750" cy="1415"/>
            </a:xfrm>
          </p:grpSpPr>
          <p:sp>
            <p:nvSpPr>
              <p:cNvPr id="43" name="Freeform 53">
                <a:extLst>
                  <a:ext uri="{FF2B5EF4-FFF2-40B4-BE49-F238E27FC236}">
                    <a16:creationId xmlns:a16="http://schemas.microsoft.com/office/drawing/2014/main" id="{23E77AD7-E5B3-9FFC-D4F6-A3A9FF504DBF}"/>
                  </a:ext>
                </a:extLst>
              </p:cNvPr>
              <p:cNvSpPr>
                <a:spLocks/>
              </p:cNvSpPr>
              <p:nvPr/>
            </p:nvSpPr>
            <p:spPr bwMode="auto">
              <a:xfrm rot="5400000">
                <a:off x="2492" y="1703"/>
                <a:ext cx="21" cy="4"/>
              </a:xfrm>
              <a:custGeom>
                <a:avLst/>
                <a:gdLst/>
                <a:ahLst/>
                <a:cxnLst>
                  <a:cxn ang="0">
                    <a:pos x="0" y="4"/>
                  </a:cxn>
                  <a:cxn ang="0">
                    <a:pos x="8" y="0"/>
                  </a:cxn>
                  <a:cxn ang="0">
                    <a:pos x="20" y="0"/>
                  </a:cxn>
                </a:cxnLst>
                <a:rect l="0" t="0" r="r" b="b"/>
                <a:pathLst>
                  <a:path w="20" h="4">
                    <a:moveTo>
                      <a:pt x="0" y="4"/>
                    </a:moveTo>
                    <a:lnTo>
                      <a:pt x="8" y="0"/>
                    </a:lnTo>
                    <a:lnTo>
                      <a:pt x="20" y="0"/>
                    </a:lnTo>
                  </a:path>
                </a:pathLst>
              </a:custGeom>
              <a:noFill/>
              <a:ln w="19050" cmpd="sng">
                <a:solidFill>
                  <a:schemeClr val="accent1"/>
                </a:solidFill>
                <a:prstDash val="solid"/>
                <a:round/>
                <a:headEnd/>
                <a:tailEnd/>
              </a:ln>
            </p:spPr>
            <p:txBody>
              <a:bodyPr/>
              <a:lstStyle/>
              <a:p>
                <a:endParaRPr lang="en-GB"/>
              </a:p>
            </p:txBody>
          </p:sp>
          <p:sp>
            <p:nvSpPr>
              <p:cNvPr id="44" name="Line 54">
                <a:extLst>
                  <a:ext uri="{FF2B5EF4-FFF2-40B4-BE49-F238E27FC236}">
                    <a16:creationId xmlns:a16="http://schemas.microsoft.com/office/drawing/2014/main" id="{DF0FCFBD-B80D-CCDB-0748-ECBF2CF1A8EB}"/>
                  </a:ext>
                </a:extLst>
              </p:cNvPr>
              <p:cNvSpPr>
                <a:spLocks noChangeShapeType="1"/>
              </p:cNvSpPr>
              <p:nvPr/>
            </p:nvSpPr>
            <p:spPr bwMode="auto">
              <a:xfrm rot="5400000">
                <a:off x="2495" y="1723"/>
                <a:ext cx="18" cy="1"/>
              </a:xfrm>
              <a:prstGeom prst="line">
                <a:avLst/>
              </a:prstGeom>
              <a:noFill/>
              <a:ln w="19050">
                <a:solidFill>
                  <a:schemeClr val="accent1"/>
                </a:solidFill>
                <a:round/>
                <a:headEnd/>
                <a:tailEnd/>
              </a:ln>
            </p:spPr>
            <p:txBody>
              <a:bodyPr/>
              <a:lstStyle/>
              <a:p>
                <a:endParaRPr lang="en-GB"/>
              </a:p>
            </p:txBody>
          </p:sp>
          <p:sp>
            <p:nvSpPr>
              <p:cNvPr id="45" name="Line 55">
                <a:extLst>
                  <a:ext uri="{FF2B5EF4-FFF2-40B4-BE49-F238E27FC236}">
                    <a16:creationId xmlns:a16="http://schemas.microsoft.com/office/drawing/2014/main" id="{C32A64D1-A226-7D72-BA08-D44A952DD974}"/>
                  </a:ext>
                </a:extLst>
              </p:cNvPr>
              <p:cNvSpPr>
                <a:spLocks noChangeShapeType="1"/>
              </p:cNvSpPr>
              <p:nvPr/>
            </p:nvSpPr>
            <p:spPr bwMode="auto">
              <a:xfrm rot="5400000">
                <a:off x="2493" y="1743"/>
                <a:ext cx="21" cy="1"/>
              </a:xfrm>
              <a:prstGeom prst="line">
                <a:avLst/>
              </a:prstGeom>
              <a:noFill/>
              <a:ln w="19050">
                <a:solidFill>
                  <a:schemeClr val="accent1"/>
                </a:solidFill>
                <a:round/>
                <a:headEnd/>
                <a:tailEnd/>
              </a:ln>
            </p:spPr>
            <p:txBody>
              <a:bodyPr/>
              <a:lstStyle/>
              <a:p>
                <a:endParaRPr lang="en-GB"/>
              </a:p>
            </p:txBody>
          </p:sp>
          <p:sp>
            <p:nvSpPr>
              <p:cNvPr id="46" name="Line 56">
                <a:extLst>
                  <a:ext uri="{FF2B5EF4-FFF2-40B4-BE49-F238E27FC236}">
                    <a16:creationId xmlns:a16="http://schemas.microsoft.com/office/drawing/2014/main" id="{601302FE-5AF0-7FA9-BCB6-6FC048930319}"/>
                  </a:ext>
                </a:extLst>
              </p:cNvPr>
              <p:cNvSpPr>
                <a:spLocks noChangeShapeType="1"/>
              </p:cNvSpPr>
              <p:nvPr/>
            </p:nvSpPr>
            <p:spPr bwMode="auto">
              <a:xfrm rot="5400000">
                <a:off x="2495" y="1762"/>
                <a:ext cx="17" cy="1"/>
              </a:xfrm>
              <a:prstGeom prst="line">
                <a:avLst/>
              </a:prstGeom>
              <a:noFill/>
              <a:ln w="19050">
                <a:solidFill>
                  <a:schemeClr val="accent1"/>
                </a:solidFill>
                <a:round/>
                <a:headEnd/>
                <a:tailEnd/>
              </a:ln>
            </p:spPr>
            <p:txBody>
              <a:bodyPr/>
              <a:lstStyle/>
              <a:p>
                <a:endParaRPr lang="en-GB"/>
              </a:p>
            </p:txBody>
          </p:sp>
          <p:sp>
            <p:nvSpPr>
              <p:cNvPr id="47" name="Line 57">
                <a:extLst>
                  <a:ext uri="{FF2B5EF4-FFF2-40B4-BE49-F238E27FC236}">
                    <a16:creationId xmlns:a16="http://schemas.microsoft.com/office/drawing/2014/main" id="{32716462-1FFF-68A0-C682-9C6CCDE7EC43}"/>
                  </a:ext>
                </a:extLst>
              </p:cNvPr>
              <p:cNvSpPr>
                <a:spLocks noChangeShapeType="1"/>
              </p:cNvSpPr>
              <p:nvPr/>
            </p:nvSpPr>
            <p:spPr bwMode="auto">
              <a:xfrm rot="5400000" flipV="1">
                <a:off x="2495" y="1780"/>
                <a:ext cx="22" cy="3"/>
              </a:xfrm>
              <a:prstGeom prst="line">
                <a:avLst/>
              </a:prstGeom>
              <a:noFill/>
              <a:ln w="19050">
                <a:solidFill>
                  <a:schemeClr val="accent1"/>
                </a:solidFill>
                <a:round/>
                <a:headEnd/>
                <a:tailEnd/>
              </a:ln>
            </p:spPr>
            <p:txBody>
              <a:bodyPr/>
              <a:lstStyle/>
              <a:p>
                <a:endParaRPr lang="en-GB"/>
              </a:p>
            </p:txBody>
          </p:sp>
          <p:sp>
            <p:nvSpPr>
              <p:cNvPr id="48" name="Line 58">
                <a:extLst>
                  <a:ext uri="{FF2B5EF4-FFF2-40B4-BE49-F238E27FC236}">
                    <a16:creationId xmlns:a16="http://schemas.microsoft.com/office/drawing/2014/main" id="{BB426823-D678-892C-7AEE-907F15611A10}"/>
                  </a:ext>
                </a:extLst>
              </p:cNvPr>
              <p:cNvSpPr>
                <a:spLocks noChangeShapeType="1"/>
              </p:cNvSpPr>
              <p:nvPr/>
            </p:nvSpPr>
            <p:spPr bwMode="auto">
              <a:xfrm rot="5400000" flipV="1">
                <a:off x="2498" y="1802"/>
                <a:ext cx="21" cy="3"/>
              </a:xfrm>
              <a:prstGeom prst="line">
                <a:avLst/>
              </a:prstGeom>
              <a:noFill/>
              <a:ln w="19050">
                <a:solidFill>
                  <a:schemeClr val="accent1"/>
                </a:solidFill>
                <a:round/>
                <a:headEnd/>
                <a:tailEnd/>
              </a:ln>
            </p:spPr>
            <p:txBody>
              <a:bodyPr/>
              <a:lstStyle/>
              <a:p>
                <a:endParaRPr lang="en-GB"/>
              </a:p>
            </p:txBody>
          </p:sp>
          <p:sp>
            <p:nvSpPr>
              <p:cNvPr id="49" name="Line 59">
                <a:extLst>
                  <a:ext uri="{FF2B5EF4-FFF2-40B4-BE49-F238E27FC236}">
                    <a16:creationId xmlns:a16="http://schemas.microsoft.com/office/drawing/2014/main" id="{8094ACA0-EEF7-157B-16FA-52E63F72B027}"/>
                  </a:ext>
                </a:extLst>
              </p:cNvPr>
              <p:cNvSpPr>
                <a:spLocks noChangeShapeType="1"/>
              </p:cNvSpPr>
              <p:nvPr/>
            </p:nvSpPr>
            <p:spPr bwMode="auto">
              <a:xfrm rot="5400000" flipV="1">
                <a:off x="2503" y="1821"/>
                <a:ext cx="17" cy="3"/>
              </a:xfrm>
              <a:prstGeom prst="line">
                <a:avLst/>
              </a:prstGeom>
              <a:noFill/>
              <a:ln w="19050">
                <a:solidFill>
                  <a:schemeClr val="accent1"/>
                </a:solidFill>
                <a:round/>
                <a:headEnd/>
                <a:tailEnd/>
              </a:ln>
            </p:spPr>
            <p:txBody>
              <a:bodyPr/>
              <a:lstStyle/>
              <a:p>
                <a:endParaRPr lang="en-GB"/>
              </a:p>
            </p:txBody>
          </p:sp>
          <p:sp>
            <p:nvSpPr>
              <p:cNvPr id="50" name="Line 60">
                <a:extLst>
                  <a:ext uri="{FF2B5EF4-FFF2-40B4-BE49-F238E27FC236}">
                    <a16:creationId xmlns:a16="http://schemas.microsoft.com/office/drawing/2014/main" id="{AD3C7F92-F5CE-C49B-06C6-87A088B18897}"/>
                  </a:ext>
                </a:extLst>
              </p:cNvPr>
              <p:cNvSpPr>
                <a:spLocks noChangeShapeType="1"/>
              </p:cNvSpPr>
              <p:nvPr/>
            </p:nvSpPr>
            <p:spPr bwMode="auto">
              <a:xfrm rot="5400000" flipV="1">
                <a:off x="2504" y="1840"/>
                <a:ext cx="22" cy="3"/>
              </a:xfrm>
              <a:prstGeom prst="line">
                <a:avLst/>
              </a:prstGeom>
              <a:noFill/>
              <a:ln w="19050">
                <a:solidFill>
                  <a:schemeClr val="accent1"/>
                </a:solidFill>
                <a:round/>
                <a:headEnd/>
                <a:tailEnd/>
              </a:ln>
            </p:spPr>
            <p:txBody>
              <a:bodyPr/>
              <a:lstStyle/>
              <a:p>
                <a:endParaRPr lang="en-GB"/>
              </a:p>
            </p:txBody>
          </p:sp>
          <p:sp>
            <p:nvSpPr>
              <p:cNvPr id="51" name="Line 61">
                <a:extLst>
                  <a:ext uri="{FF2B5EF4-FFF2-40B4-BE49-F238E27FC236}">
                    <a16:creationId xmlns:a16="http://schemas.microsoft.com/office/drawing/2014/main" id="{9D286631-296F-CE77-78B2-33EC31F59A56}"/>
                  </a:ext>
                </a:extLst>
              </p:cNvPr>
              <p:cNvSpPr>
                <a:spLocks noChangeShapeType="1"/>
              </p:cNvSpPr>
              <p:nvPr/>
            </p:nvSpPr>
            <p:spPr bwMode="auto">
              <a:xfrm rot="5400000" flipV="1">
                <a:off x="2509" y="1860"/>
                <a:ext cx="17" cy="3"/>
              </a:xfrm>
              <a:prstGeom prst="line">
                <a:avLst/>
              </a:prstGeom>
              <a:noFill/>
              <a:ln w="19050">
                <a:solidFill>
                  <a:schemeClr val="accent1"/>
                </a:solidFill>
                <a:round/>
                <a:headEnd/>
                <a:tailEnd/>
              </a:ln>
            </p:spPr>
            <p:txBody>
              <a:bodyPr/>
              <a:lstStyle/>
              <a:p>
                <a:endParaRPr lang="en-GB"/>
              </a:p>
            </p:txBody>
          </p:sp>
          <p:sp>
            <p:nvSpPr>
              <p:cNvPr id="52" name="Line 62">
                <a:extLst>
                  <a:ext uri="{FF2B5EF4-FFF2-40B4-BE49-F238E27FC236}">
                    <a16:creationId xmlns:a16="http://schemas.microsoft.com/office/drawing/2014/main" id="{5C1672E0-A083-960D-677D-0F0390FFC260}"/>
                  </a:ext>
                </a:extLst>
              </p:cNvPr>
              <p:cNvSpPr>
                <a:spLocks noChangeShapeType="1"/>
              </p:cNvSpPr>
              <p:nvPr/>
            </p:nvSpPr>
            <p:spPr bwMode="auto">
              <a:xfrm rot="5400000" flipV="1">
                <a:off x="2512" y="1877"/>
                <a:ext cx="22" cy="7"/>
              </a:xfrm>
              <a:prstGeom prst="line">
                <a:avLst/>
              </a:prstGeom>
              <a:noFill/>
              <a:ln w="19050">
                <a:solidFill>
                  <a:schemeClr val="accent1"/>
                </a:solidFill>
                <a:round/>
                <a:headEnd/>
                <a:tailEnd/>
              </a:ln>
            </p:spPr>
            <p:txBody>
              <a:bodyPr/>
              <a:lstStyle/>
              <a:p>
                <a:endParaRPr lang="en-GB"/>
              </a:p>
            </p:txBody>
          </p:sp>
          <p:sp>
            <p:nvSpPr>
              <p:cNvPr id="53" name="Line 63">
                <a:extLst>
                  <a:ext uri="{FF2B5EF4-FFF2-40B4-BE49-F238E27FC236}">
                    <a16:creationId xmlns:a16="http://schemas.microsoft.com/office/drawing/2014/main" id="{CE6BF5A1-34F5-912B-42D3-A918C503EAEB}"/>
                  </a:ext>
                </a:extLst>
              </p:cNvPr>
              <p:cNvSpPr>
                <a:spLocks noChangeShapeType="1"/>
              </p:cNvSpPr>
              <p:nvPr/>
            </p:nvSpPr>
            <p:spPr bwMode="auto">
              <a:xfrm rot="5400000" flipV="1">
                <a:off x="2521" y="1898"/>
                <a:ext cx="17" cy="6"/>
              </a:xfrm>
              <a:prstGeom prst="line">
                <a:avLst/>
              </a:prstGeom>
              <a:noFill/>
              <a:ln w="19050">
                <a:solidFill>
                  <a:schemeClr val="accent1"/>
                </a:solidFill>
                <a:round/>
                <a:headEnd/>
                <a:tailEnd/>
              </a:ln>
            </p:spPr>
            <p:txBody>
              <a:bodyPr/>
              <a:lstStyle/>
              <a:p>
                <a:endParaRPr lang="en-GB"/>
              </a:p>
            </p:txBody>
          </p:sp>
          <p:sp>
            <p:nvSpPr>
              <p:cNvPr id="54" name="Line 64">
                <a:extLst>
                  <a:ext uri="{FF2B5EF4-FFF2-40B4-BE49-F238E27FC236}">
                    <a16:creationId xmlns:a16="http://schemas.microsoft.com/office/drawing/2014/main" id="{94B9E185-99CB-8A49-6AF4-D438064E3C81}"/>
                  </a:ext>
                </a:extLst>
              </p:cNvPr>
              <p:cNvSpPr>
                <a:spLocks noChangeShapeType="1"/>
              </p:cNvSpPr>
              <p:nvPr/>
            </p:nvSpPr>
            <p:spPr bwMode="auto">
              <a:xfrm rot="5400000" flipV="1">
                <a:off x="2526" y="1915"/>
                <a:ext cx="21" cy="9"/>
              </a:xfrm>
              <a:prstGeom prst="line">
                <a:avLst/>
              </a:prstGeom>
              <a:noFill/>
              <a:ln w="19050">
                <a:solidFill>
                  <a:schemeClr val="accent1"/>
                </a:solidFill>
                <a:round/>
                <a:headEnd/>
                <a:tailEnd/>
              </a:ln>
            </p:spPr>
            <p:txBody>
              <a:bodyPr/>
              <a:lstStyle/>
              <a:p>
                <a:endParaRPr lang="en-GB"/>
              </a:p>
            </p:txBody>
          </p:sp>
          <p:sp>
            <p:nvSpPr>
              <p:cNvPr id="55" name="Line 65">
                <a:extLst>
                  <a:ext uri="{FF2B5EF4-FFF2-40B4-BE49-F238E27FC236}">
                    <a16:creationId xmlns:a16="http://schemas.microsoft.com/office/drawing/2014/main" id="{03242314-8179-3887-EBE8-361D4A878BA2}"/>
                  </a:ext>
                </a:extLst>
              </p:cNvPr>
              <p:cNvSpPr>
                <a:spLocks noChangeShapeType="1"/>
              </p:cNvSpPr>
              <p:nvPr/>
            </p:nvSpPr>
            <p:spPr bwMode="auto">
              <a:xfrm rot="5400000" flipV="1">
                <a:off x="2537" y="1934"/>
                <a:ext cx="22" cy="13"/>
              </a:xfrm>
              <a:prstGeom prst="line">
                <a:avLst/>
              </a:prstGeom>
              <a:noFill/>
              <a:ln w="19050">
                <a:solidFill>
                  <a:schemeClr val="accent1"/>
                </a:solidFill>
                <a:round/>
                <a:headEnd/>
                <a:tailEnd/>
              </a:ln>
            </p:spPr>
            <p:txBody>
              <a:bodyPr/>
              <a:lstStyle/>
              <a:p>
                <a:endParaRPr lang="en-GB"/>
              </a:p>
            </p:txBody>
          </p:sp>
          <p:sp>
            <p:nvSpPr>
              <p:cNvPr id="56" name="Line 66">
                <a:extLst>
                  <a:ext uri="{FF2B5EF4-FFF2-40B4-BE49-F238E27FC236}">
                    <a16:creationId xmlns:a16="http://schemas.microsoft.com/office/drawing/2014/main" id="{78D8271F-9F91-E542-83E2-50EBFA84E82C}"/>
                  </a:ext>
                </a:extLst>
              </p:cNvPr>
              <p:cNvSpPr>
                <a:spLocks noChangeShapeType="1"/>
              </p:cNvSpPr>
              <p:nvPr/>
            </p:nvSpPr>
            <p:spPr bwMode="auto">
              <a:xfrm rot="5400000" flipV="1">
                <a:off x="2552" y="1954"/>
                <a:ext cx="17" cy="13"/>
              </a:xfrm>
              <a:prstGeom prst="line">
                <a:avLst/>
              </a:prstGeom>
              <a:noFill/>
              <a:ln w="19050">
                <a:solidFill>
                  <a:schemeClr val="accent1"/>
                </a:solidFill>
                <a:round/>
                <a:headEnd/>
                <a:tailEnd/>
              </a:ln>
            </p:spPr>
            <p:txBody>
              <a:bodyPr/>
              <a:lstStyle/>
              <a:p>
                <a:endParaRPr lang="en-GB"/>
              </a:p>
            </p:txBody>
          </p:sp>
          <p:sp>
            <p:nvSpPr>
              <p:cNvPr id="57" name="Line 67">
                <a:extLst>
                  <a:ext uri="{FF2B5EF4-FFF2-40B4-BE49-F238E27FC236}">
                    <a16:creationId xmlns:a16="http://schemas.microsoft.com/office/drawing/2014/main" id="{9B355E88-01BA-FA87-E3EA-FD928381FE7E}"/>
                  </a:ext>
                </a:extLst>
              </p:cNvPr>
              <p:cNvSpPr>
                <a:spLocks noChangeShapeType="1"/>
              </p:cNvSpPr>
              <p:nvPr/>
            </p:nvSpPr>
            <p:spPr bwMode="auto">
              <a:xfrm rot="5400000" flipV="1">
                <a:off x="2564" y="1972"/>
                <a:ext cx="22" cy="15"/>
              </a:xfrm>
              <a:prstGeom prst="line">
                <a:avLst/>
              </a:prstGeom>
              <a:noFill/>
              <a:ln w="19050">
                <a:solidFill>
                  <a:schemeClr val="accent1"/>
                </a:solidFill>
                <a:round/>
                <a:headEnd/>
                <a:tailEnd/>
              </a:ln>
            </p:spPr>
            <p:txBody>
              <a:bodyPr/>
              <a:lstStyle/>
              <a:p>
                <a:endParaRPr lang="en-GB"/>
              </a:p>
            </p:txBody>
          </p:sp>
          <p:sp>
            <p:nvSpPr>
              <p:cNvPr id="58" name="Line 68">
                <a:extLst>
                  <a:ext uri="{FF2B5EF4-FFF2-40B4-BE49-F238E27FC236}">
                    <a16:creationId xmlns:a16="http://schemas.microsoft.com/office/drawing/2014/main" id="{DCE3D06E-8594-B5DE-1627-7D57F975DEFC}"/>
                  </a:ext>
                </a:extLst>
              </p:cNvPr>
              <p:cNvSpPr>
                <a:spLocks noChangeShapeType="1"/>
              </p:cNvSpPr>
              <p:nvPr/>
            </p:nvSpPr>
            <p:spPr bwMode="auto">
              <a:xfrm rot="5400000" flipV="1">
                <a:off x="2583" y="1990"/>
                <a:ext cx="17" cy="19"/>
              </a:xfrm>
              <a:prstGeom prst="line">
                <a:avLst/>
              </a:prstGeom>
              <a:noFill/>
              <a:ln w="19050">
                <a:solidFill>
                  <a:schemeClr val="accent1"/>
                </a:solidFill>
                <a:round/>
                <a:headEnd/>
                <a:tailEnd/>
              </a:ln>
            </p:spPr>
            <p:txBody>
              <a:bodyPr/>
              <a:lstStyle/>
              <a:p>
                <a:endParaRPr lang="en-GB"/>
              </a:p>
            </p:txBody>
          </p:sp>
          <p:sp>
            <p:nvSpPr>
              <p:cNvPr id="59" name="Line 69">
                <a:extLst>
                  <a:ext uri="{FF2B5EF4-FFF2-40B4-BE49-F238E27FC236}">
                    <a16:creationId xmlns:a16="http://schemas.microsoft.com/office/drawing/2014/main" id="{7F445CF4-AA1B-AE10-6F93-86CAFCCF3925}"/>
                  </a:ext>
                </a:extLst>
              </p:cNvPr>
              <p:cNvSpPr>
                <a:spLocks noChangeShapeType="1"/>
              </p:cNvSpPr>
              <p:nvPr/>
            </p:nvSpPr>
            <p:spPr bwMode="auto">
              <a:xfrm rot="5400000" flipV="1">
                <a:off x="2602" y="2008"/>
                <a:ext cx="21" cy="22"/>
              </a:xfrm>
              <a:prstGeom prst="line">
                <a:avLst/>
              </a:prstGeom>
              <a:noFill/>
              <a:ln w="19050">
                <a:solidFill>
                  <a:schemeClr val="accent1"/>
                </a:solidFill>
                <a:round/>
                <a:headEnd/>
                <a:tailEnd/>
              </a:ln>
            </p:spPr>
            <p:txBody>
              <a:bodyPr/>
              <a:lstStyle/>
              <a:p>
                <a:endParaRPr lang="en-GB"/>
              </a:p>
            </p:txBody>
          </p:sp>
          <p:sp>
            <p:nvSpPr>
              <p:cNvPr id="60" name="Line 70">
                <a:extLst>
                  <a:ext uri="{FF2B5EF4-FFF2-40B4-BE49-F238E27FC236}">
                    <a16:creationId xmlns:a16="http://schemas.microsoft.com/office/drawing/2014/main" id="{E628D346-4A70-4D33-5032-DC5B4BC70942}"/>
                  </a:ext>
                </a:extLst>
              </p:cNvPr>
              <p:cNvSpPr>
                <a:spLocks noChangeShapeType="1"/>
              </p:cNvSpPr>
              <p:nvPr/>
            </p:nvSpPr>
            <p:spPr bwMode="auto">
              <a:xfrm rot="5400000" flipV="1">
                <a:off x="2627" y="2025"/>
                <a:ext cx="18" cy="25"/>
              </a:xfrm>
              <a:prstGeom prst="line">
                <a:avLst/>
              </a:prstGeom>
              <a:noFill/>
              <a:ln w="19050">
                <a:solidFill>
                  <a:schemeClr val="accent1"/>
                </a:solidFill>
                <a:round/>
                <a:headEnd/>
                <a:tailEnd/>
              </a:ln>
            </p:spPr>
            <p:txBody>
              <a:bodyPr/>
              <a:lstStyle/>
              <a:p>
                <a:endParaRPr lang="en-GB"/>
              </a:p>
            </p:txBody>
          </p:sp>
          <p:sp>
            <p:nvSpPr>
              <p:cNvPr id="61" name="Line 71">
                <a:extLst>
                  <a:ext uri="{FF2B5EF4-FFF2-40B4-BE49-F238E27FC236}">
                    <a16:creationId xmlns:a16="http://schemas.microsoft.com/office/drawing/2014/main" id="{55D31950-C98D-87DA-ECCA-75B2069A771D}"/>
                  </a:ext>
                </a:extLst>
              </p:cNvPr>
              <p:cNvSpPr>
                <a:spLocks noChangeShapeType="1"/>
              </p:cNvSpPr>
              <p:nvPr/>
            </p:nvSpPr>
            <p:spPr bwMode="auto">
              <a:xfrm rot="5400000" flipV="1">
                <a:off x="2652" y="2043"/>
                <a:ext cx="21" cy="29"/>
              </a:xfrm>
              <a:prstGeom prst="line">
                <a:avLst/>
              </a:prstGeom>
              <a:noFill/>
              <a:ln w="19050">
                <a:solidFill>
                  <a:schemeClr val="accent1"/>
                </a:solidFill>
                <a:round/>
                <a:headEnd/>
                <a:tailEnd/>
              </a:ln>
            </p:spPr>
            <p:txBody>
              <a:bodyPr/>
              <a:lstStyle/>
              <a:p>
                <a:endParaRPr lang="en-GB"/>
              </a:p>
            </p:txBody>
          </p:sp>
          <p:sp>
            <p:nvSpPr>
              <p:cNvPr id="62" name="Line 72">
                <a:extLst>
                  <a:ext uri="{FF2B5EF4-FFF2-40B4-BE49-F238E27FC236}">
                    <a16:creationId xmlns:a16="http://schemas.microsoft.com/office/drawing/2014/main" id="{E10871CA-D7F0-F3B1-3FC6-1F7063CEF013}"/>
                  </a:ext>
                </a:extLst>
              </p:cNvPr>
              <p:cNvSpPr>
                <a:spLocks noChangeShapeType="1"/>
              </p:cNvSpPr>
              <p:nvPr/>
            </p:nvSpPr>
            <p:spPr bwMode="auto">
              <a:xfrm rot="5400000" flipV="1">
                <a:off x="2684" y="2061"/>
                <a:ext cx="17" cy="31"/>
              </a:xfrm>
              <a:prstGeom prst="line">
                <a:avLst/>
              </a:prstGeom>
              <a:noFill/>
              <a:ln w="19050">
                <a:solidFill>
                  <a:schemeClr val="accent1"/>
                </a:solidFill>
                <a:round/>
                <a:headEnd/>
                <a:tailEnd/>
              </a:ln>
            </p:spPr>
            <p:txBody>
              <a:bodyPr/>
              <a:lstStyle/>
              <a:p>
                <a:endParaRPr lang="en-GB"/>
              </a:p>
            </p:txBody>
          </p:sp>
          <p:sp>
            <p:nvSpPr>
              <p:cNvPr id="63" name="Line 73">
                <a:extLst>
                  <a:ext uri="{FF2B5EF4-FFF2-40B4-BE49-F238E27FC236}">
                    <a16:creationId xmlns:a16="http://schemas.microsoft.com/office/drawing/2014/main" id="{F877F37E-E5D8-A188-A8FC-4176D218801C}"/>
                  </a:ext>
                </a:extLst>
              </p:cNvPr>
              <p:cNvSpPr>
                <a:spLocks noChangeShapeType="1"/>
              </p:cNvSpPr>
              <p:nvPr/>
            </p:nvSpPr>
            <p:spPr bwMode="auto">
              <a:xfrm rot="5400000" flipV="1">
                <a:off x="2715" y="2078"/>
                <a:ext cx="22" cy="35"/>
              </a:xfrm>
              <a:prstGeom prst="line">
                <a:avLst/>
              </a:prstGeom>
              <a:noFill/>
              <a:ln w="19050">
                <a:solidFill>
                  <a:schemeClr val="accent1"/>
                </a:solidFill>
                <a:round/>
                <a:headEnd/>
                <a:tailEnd/>
              </a:ln>
            </p:spPr>
            <p:txBody>
              <a:bodyPr/>
              <a:lstStyle/>
              <a:p>
                <a:endParaRPr lang="en-GB"/>
              </a:p>
            </p:txBody>
          </p:sp>
          <p:sp>
            <p:nvSpPr>
              <p:cNvPr id="64" name="Line 74">
                <a:extLst>
                  <a:ext uri="{FF2B5EF4-FFF2-40B4-BE49-F238E27FC236}">
                    <a16:creationId xmlns:a16="http://schemas.microsoft.com/office/drawing/2014/main" id="{339B40BE-F5FB-409A-9901-3967B27FE060}"/>
                  </a:ext>
                </a:extLst>
              </p:cNvPr>
              <p:cNvSpPr>
                <a:spLocks noChangeShapeType="1"/>
              </p:cNvSpPr>
              <p:nvPr/>
            </p:nvSpPr>
            <p:spPr bwMode="auto">
              <a:xfrm rot="5400000" flipV="1">
                <a:off x="2752" y="2099"/>
                <a:ext cx="21" cy="38"/>
              </a:xfrm>
              <a:prstGeom prst="line">
                <a:avLst/>
              </a:prstGeom>
              <a:noFill/>
              <a:ln w="19050">
                <a:solidFill>
                  <a:schemeClr val="accent1"/>
                </a:solidFill>
                <a:round/>
                <a:headEnd/>
                <a:tailEnd/>
              </a:ln>
            </p:spPr>
            <p:txBody>
              <a:bodyPr/>
              <a:lstStyle/>
              <a:p>
                <a:endParaRPr lang="en-GB"/>
              </a:p>
            </p:txBody>
          </p:sp>
          <p:sp>
            <p:nvSpPr>
              <p:cNvPr id="65" name="Line 75">
                <a:extLst>
                  <a:ext uri="{FF2B5EF4-FFF2-40B4-BE49-F238E27FC236}">
                    <a16:creationId xmlns:a16="http://schemas.microsoft.com/office/drawing/2014/main" id="{47F3FB0A-5845-1280-92AF-BBAB5237103B}"/>
                  </a:ext>
                </a:extLst>
              </p:cNvPr>
              <p:cNvSpPr>
                <a:spLocks noChangeShapeType="1"/>
              </p:cNvSpPr>
              <p:nvPr/>
            </p:nvSpPr>
            <p:spPr bwMode="auto">
              <a:xfrm rot="5400000" flipV="1">
                <a:off x="2793" y="2116"/>
                <a:ext cx="18" cy="41"/>
              </a:xfrm>
              <a:prstGeom prst="line">
                <a:avLst/>
              </a:prstGeom>
              <a:noFill/>
              <a:ln w="19050">
                <a:solidFill>
                  <a:schemeClr val="accent1"/>
                </a:solidFill>
                <a:round/>
                <a:headEnd/>
                <a:tailEnd/>
              </a:ln>
            </p:spPr>
            <p:txBody>
              <a:bodyPr/>
              <a:lstStyle/>
              <a:p>
                <a:endParaRPr lang="en-GB"/>
              </a:p>
            </p:txBody>
          </p:sp>
          <p:sp>
            <p:nvSpPr>
              <p:cNvPr id="66" name="Line 76">
                <a:extLst>
                  <a:ext uri="{FF2B5EF4-FFF2-40B4-BE49-F238E27FC236}">
                    <a16:creationId xmlns:a16="http://schemas.microsoft.com/office/drawing/2014/main" id="{ACCC5113-E54D-906E-CFED-BE7E0CF43172}"/>
                  </a:ext>
                </a:extLst>
              </p:cNvPr>
              <p:cNvSpPr>
                <a:spLocks noChangeShapeType="1"/>
              </p:cNvSpPr>
              <p:nvPr/>
            </p:nvSpPr>
            <p:spPr bwMode="auto">
              <a:xfrm rot="5400000" flipV="1">
                <a:off x="2834" y="2135"/>
                <a:ext cx="21" cy="44"/>
              </a:xfrm>
              <a:prstGeom prst="line">
                <a:avLst/>
              </a:prstGeom>
              <a:noFill/>
              <a:ln w="19050">
                <a:solidFill>
                  <a:schemeClr val="accent1"/>
                </a:solidFill>
                <a:round/>
                <a:headEnd/>
                <a:tailEnd/>
              </a:ln>
            </p:spPr>
            <p:txBody>
              <a:bodyPr/>
              <a:lstStyle/>
              <a:p>
                <a:endParaRPr lang="en-GB"/>
              </a:p>
            </p:txBody>
          </p:sp>
          <p:sp>
            <p:nvSpPr>
              <p:cNvPr id="67" name="Line 77">
                <a:extLst>
                  <a:ext uri="{FF2B5EF4-FFF2-40B4-BE49-F238E27FC236}">
                    <a16:creationId xmlns:a16="http://schemas.microsoft.com/office/drawing/2014/main" id="{1EDB134C-A87E-8E62-6135-D88F352D316B}"/>
                  </a:ext>
                </a:extLst>
              </p:cNvPr>
              <p:cNvSpPr>
                <a:spLocks noChangeShapeType="1"/>
              </p:cNvSpPr>
              <p:nvPr/>
            </p:nvSpPr>
            <p:spPr bwMode="auto">
              <a:xfrm rot="5400000" flipV="1">
                <a:off x="2880" y="2154"/>
                <a:ext cx="17" cy="44"/>
              </a:xfrm>
              <a:prstGeom prst="line">
                <a:avLst/>
              </a:prstGeom>
              <a:noFill/>
              <a:ln w="19050">
                <a:solidFill>
                  <a:schemeClr val="accent1"/>
                </a:solidFill>
                <a:round/>
                <a:headEnd/>
                <a:tailEnd/>
              </a:ln>
            </p:spPr>
            <p:txBody>
              <a:bodyPr/>
              <a:lstStyle/>
              <a:p>
                <a:endParaRPr lang="en-GB"/>
              </a:p>
            </p:txBody>
          </p:sp>
          <p:sp>
            <p:nvSpPr>
              <p:cNvPr id="68" name="Line 78">
                <a:extLst>
                  <a:ext uri="{FF2B5EF4-FFF2-40B4-BE49-F238E27FC236}">
                    <a16:creationId xmlns:a16="http://schemas.microsoft.com/office/drawing/2014/main" id="{375BBDA6-314C-875E-9846-6A82B3013599}"/>
                  </a:ext>
                </a:extLst>
              </p:cNvPr>
              <p:cNvSpPr>
                <a:spLocks noChangeShapeType="1"/>
              </p:cNvSpPr>
              <p:nvPr/>
            </p:nvSpPr>
            <p:spPr bwMode="auto">
              <a:xfrm rot="5400000" flipV="1">
                <a:off x="2922" y="2173"/>
                <a:ext cx="22" cy="44"/>
              </a:xfrm>
              <a:prstGeom prst="line">
                <a:avLst/>
              </a:prstGeom>
              <a:noFill/>
              <a:ln w="19050">
                <a:solidFill>
                  <a:schemeClr val="accent1"/>
                </a:solidFill>
                <a:round/>
                <a:headEnd/>
                <a:tailEnd/>
              </a:ln>
            </p:spPr>
            <p:txBody>
              <a:bodyPr/>
              <a:lstStyle/>
              <a:p>
                <a:endParaRPr lang="en-GB"/>
              </a:p>
            </p:txBody>
          </p:sp>
          <p:sp>
            <p:nvSpPr>
              <p:cNvPr id="69" name="Line 79">
                <a:extLst>
                  <a:ext uri="{FF2B5EF4-FFF2-40B4-BE49-F238E27FC236}">
                    <a16:creationId xmlns:a16="http://schemas.microsoft.com/office/drawing/2014/main" id="{D44C2CAE-6527-71F0-5DEC-6A7906154283}"/>
                  </a:ext>
                </a:extLst>
              </p:cNvPr>
              <p:cNvSpPr>
                <a:spLocks noChangeShapeType="1"/>
              </p:cNvSpPr>
              <p:nvPr/>
            </p:nvSpPr>
            <p:spPr bwMode="auto">
              <a:xfrm rot="5400000" flipV="1">
                <a:off x="2968" y="2193"/>
                <a:ext cx="17" cy="44"/>
              </a:xfrm>
              <a:prstGeom prst="line">
                <a:avLst/>
              </a:prstGeom>
              <a:noFill/>
              <a:ln w="19050">
                <a:solidFill>
                  <a:schemeClr val="accent1"/>
                </a:solidFill>
                <a:round/>
                <a:headEnd/>
                <a:tailEnd/>
              </a:ln>
            </p:spPr>
            <p:txBody>
              <a:bodyPr/>
              <a:lstStyle/>
              <a:p>
                <a:endParaRPr lang="en-GB"/>
              </a:p>
            </p:txBody>
          </p:sp>
          <p:sp>
            <p:nvSpPr>
              <p:cNvPr id="70" name="Freeform 80">
                <a:extLst>
                  <a:ext uri="{FF2B5EF4-FFF2-40B4-BE49-F238E27FC236}">
                    <a16:creationId xmlns:a16="http://schemas.microsoft.com/office/drawing/2014/main" id="{E4A3F6C5-01AA-1808-CAA5-BE7594815D22}"/>
                  </a:ext>
                </a:extLst>
              </p:cNvPr>
              <p:cNvSpPr>
                <a:spLocks/>
              </p:cNvSpPr>
              <p:nvPr/>
            </p:nvSpPr>
            <p:spPr bwMode="auto">
              <a:xfrm rot="5400000">
                <a:off x="3011" y="2210"/>
                <a:ext cx="21" cy="47"/>
              </a:xfrm>
              <a:custGeom>
                <a:avLst/>
                <a:gdLst/>
                <a:ahLst/>
                <a:cxnLst>
                  <a:cxn ang="0">
                    <a:pos x="0" y="47"/>
                  </a:cxn>
                  <a:cxn ang="0">
                    <a:pos x="8" y="22"/>
                  </a:cxn>
                  <a:cxn ang="0">
                    <a:pos x="20" y="0"/>
                  </a:cxn>
                </a:cxnLst>
                <a:rect l="0" t="0" r="r" b="b"/>
                <a:pathLst>
                  <a:path w="20" h="47">
                    <a:moveTo>
                      <a:pt x="0" y="47"/>
                    </a:moveTo>
                    <a:lnTo>
                      <a:pt x="8" y="22"/>
                    </a:lnTo>
                    <a:lnTo>
                      <a:pt x="20" y="0"/>
                    </a:lnTo>
                  </a:path>
                </a:pathLst>
              </a:custGeom>
              <a:noFill/>
              <a:ln w="19050" cmpd="sng">
                <a:solidFill>
                  <a:schemeClr val="accent1"/>
                </a:solidFill>
                <a:prstDash val="solid"/>
                <a:round/>
                <a:headEnd/>
                <a:tailEnd/>
              </a:ln>
            </p:spPr>
            <p:txBody>
              <a:bodyPr/>
              <a:lstStyle/>
              <a:p>
                <a:endParaRPr lang="en-GB"/>
              </a:p>
            </p:txBody>
          </p:sp>
          <p:sp>
            <p:nvSpPr>
              <p:cNvPr id="71" name="Line 81">
                <a:extLst>
                  <a:ext uri="{FF2B5EF4-FFF2-40B4-BE49-F238E27FC236}">
                    <a16:creationId xmlns:a16="http://schemas.microsoft.com/office/drawing/2014/main" id="{43EB7169-14B5-2508-34CD-DBF82E27CDEF}"/>
                  </a:ext>
                </a:extLst>
              </p:cNvPr>
              <p:cNvSpPr>
                <a:spLocks noChangeShapeType="1"/>
              </p:cNvSpPr>
              <p:nvPr/>
            </p:nvSpPr>
            <p:spPr bwMode="auto">
              <a:xfrm rot="5400000" flipV="1">
                <a:off x="3055" y="2234"/>
                <a:ext cx="22" cy="41"/>
              </a:xfrm>
              <a:prstGeom prst="line">
                <a:avLst/>
              </a:prstGeom>
              <a:noFill/>
              <a:ln w="19050">
                <a:solidFill>
                  <a:schemeClr val="accent1"/>
                </a:solidFill>
                <a:round/>
                <a:headEnd/>
                <a:tailEnd/>
              </a:ln>
            </p:spPr>
            <p:txBody>
              <a:bodyPr/>
              <a:lstStyle/>
              <a:p>
                <a:endParaRPr lang="en-GB"/>
              </a:p>
            </p:txBody>
          </p:sp>
          <p:sp>
            <p:nvSpPr>
              <p:cNvPr id="72" name="Line 82">
                <a:extLst>
                  <a:ext uri="{FF2B5EF4-FFF2-40B4-BE49-F238E27FC236}">
                    <a16:creationId xmlns:a16="http://schemas.microsoft.com/office/drawing/2014/main" id="{4DEE64FD-FEAD-BF3B-F5B8-BA32425E3F1A}"/>
                  </a:ext>
                </a:extLst>
              </p:cNvPr>
              <p:cNvSpPr>
                <a:spLocks noChangeShapeType="1"/>
              </p:cNvSpPr>
              <p:nvPr/>
            </p:nvSpPr>
            <p:spPr bwMode="auto">
              <a:xfrm rot="5400000" flipV="1">
                <a:off x="3097" y="2256"/>
                <a:ext cx="17" cy="38"/>
              </a:xfrm>
              <a:prstGeom prst="line">
                <a:avLst/>
              </a:prstGeom>
              <a:noFill/>
              <a:ln w="19050">
                <a:solidFill>
                  <a:schemeClr val="accent1"/>
                </a:solidFill>
                <a:round/>
                <a:headEnd/>
                <a:tailEnd/>
              </a:ln>
            </p:spPr>
            <p:txBody>
              <a:bodyPr/>
              <a:lstStyle/>
              <a:p>
                <a:endParaRPr lang="en-GB"/>
              </a:p>
            </p:txBody>
          </p:sp>
          <p:sp>
            <p:nvSpPr>
              <p:cNvPr id="73" name="Freeform 83">
                <a:extLst>
                  <a:ext uri="{FF2B5EF4-FFF2-40B4-BE49-F238E27FC236}">
                    <a16:creationId xmlns:a16="http://schemas.microsoft.com/office/drawing/2014/main" id="{E79673ED-3501-C598-1A36-2AF79B50EB53}"/>
                  </a:ext>
                </a:extLst>
              </p:cNvPr>
              <p:cNvSpPr>
                <a:spLocks/>
              </p:cNvSpPr>
              <p:nvPr/>
            </p:nvSpPr>
            <p:spPr bwMode="auto">
              <a:xfrm rot="5400000">
                <a:off x="3133" y="2275"/>
                <a:ext cx="22" cy="38"/>
              </a:xfrm>
              <a:custGeom>
                <a:avLst/>
                <a:gdLst/>
                <a:ahLst/>
                <a:cxnLst>
                  <a:cxn ang="0">
                    <a:pos x="0" y="38"/>
                  </a:cxn>
                  <a:cxn ang="0">
                    <a:pos x="8" y="19"/>
                  </a:cxn>
                  <a:cxn ang="0">
                    <a:pos x="21" y="0"/>
                  </a:cxn>
                </a:cxnLst>
                <a:rect l="0" t="0" r="r" b="b"/>
                <a:pathLst>
                  <a:path w="21" h="38">
                    <a:moveTo>
                      <a:pt x="0" y="38"/>
                    </a:moveTo>
                    <a:lnTo>
                      <a:pt x="8" y="19"/>
                    </a:lnTo>
                    <a:lnTo>
                      <a:pt x="21" y="0"/>
                    </a:lnTo>
                  </a:path>
                </a:pathLst>
              </a:custGeom>
              <a:noFill/>
              <a:ln w="19050" cmpd="sng">
                <a:solidFill>
                  <a:schemeClr val="accent1"/>
                </a:solidFill>
                <a:prstDash val="solid"/>
                <a:round/>
                <a:headEnd/>
                <a:tailEnd/>
              </a:ln>
            </p:spPr>
            <p:txBody>
              <a:bodyPr/>
              <a:lstStyle/>
              <a:p>
                <a:endParaRPr lang="en-GB"/>
              </a:p>
            </p:txBody>
          </p:sp>
          <p:sp>
            <p:nvSpPr>
              <p:cNvPr id="74" name="Freeform 84">
                <a:extLst>
                  <a:ext uri="{FF2B5EF4-FFF2-40B4-BE49-F238E27FC236}">
                    <a16:creationId xmlns:a16="http://schemas.microsoft.com/office/drawing/2014/main" id="{46E4C4A6-AD84-C4DA-086C-E12E8C370EB9}"/>
                  </a:ext>
                </a:extLst>
              </p:cNvPr>
              <p:cNvSpPr>
                <a:spLocks/>
              </p:cNvSpPr>
              <p:nvPr/>
            </p:nvSpPr>
            <p:spPr bwMode="auto">
              <a:xfrm rot="5400000">
                <a:off x="3168" y="2300"/>
                <a:ext cx="17" cy="28"/>
              </a:xfrm>
              <a:custGeom>
                <a:avLst/>
                <a:gdLst/>
                <a:ahLst/>
                <a:cxnLst>
                  <a:cxn ang="0">
                    <a:pos x="0" y="28"/>
                  </a:cxn>
                  <a:cxn ang="0">
                    <a:pos x="8" y="12"/>
                  </a:cxn>
                  <a:cxn ang="0">
                    <a:pos x="16" y="0"/>
                  </a:cxn>
                </a:cxnLst>
                <a:rect l="0" t="0" r="r" b="b"/>
                <a:pathLst>
                  <a:path w="16" h="28">
                    <a:moveTo>
                      <a:pt x="0" y="28"/>
                    </a:moveTo>
                    <a:lnTo>
                      <a:pt x="8" y="12"/>
                    </a:lnTo>
                    <a:lnTo>
                      <a:pt x="16" y="0"/>
                    </a:lnTo>
                  </a:path>
                </a:pathLst>
              </a:custGeom>
              <a:noFill/>
              <a:ln w="19050" cmpd="sng">
                <a:solidFill>
                  <a:schemeClr val="accent1"/>
                </a:solidFill>
                <a:prstDash val="solid"/>
                <a:round/>
                <a:headEnd/>
                <a:tailEnd/>
              </a:ln>
            </p:spPr>
            <p:txBody>
              <a:bodyPr/>
              <a:lstStyle/>
              <a:p>
                <a:endParaRPr lang="en-GB"/>
              </a:p>
            </p:txBody>
          </p:sp>
          <p:sp>
            <p:nvSpPr>
              <p:cNvPr id="75" name="Freeform 85">
                <a:extLst>
                  <a:ext uri="{FF2B5EF4-FFF2-40B4-BE49-F238E27FC236}">
                    <a16:creationId xmlns:a16="http://schemas.microsoft.com/office/drawing/2014/main" id="{4CCC30E3-22CE-CEFA-0803-1831A7F5C4C0}"/>
                  </a:ext>
                </a:extLst>
              </p:cNvPr>
              <p:cNvSpPr>
                <a:spLocks/>
              </p:cNvSpPr>
              <p:nvPr/>
            </p:nvSpPr>
            <p:spPr bwMode="auto">
              <a:xfrm rot="5400000">
                <a:off x="3193" y="2320"/>
                <a:ext cx="21" cy="26"/>
              </a:xfrm>
              <a:custGeom>
                <a:avLst/>
                <a:gdLst/>
                <a:ahLst/>
                <a:cxnLst>
                  <a:cxn ang="0">
                    <a:pos x="0" y="26"/>
                  </a:cxn>
                  <a:cxn ang="0">
                    <a:pos x="8" y="13"/>
                  </a:cxn>
                  <a:cxn ang="0">
                    <a:pos x="20" y="0"/>
                  </a:cxn>
                </a:cxnLst>
                <a:rect l="0" t="0" r="r" b="b"/>
                <a:pathLst>
                  <a:path w="20" h="26">
                    <a:moveTo>
                      <a:pt x="0" y="26"/>
                    </a:moveTo>
                    <a:lnTo>
                      <a:pt x="8" y="13"/>
                    </a:lnTo>
                    <a:lnTo>
                      <a:pt x="20" y="0"/>
                    </a:lnTo>
                  </a:path>
                </a:pathLst>
              </a:custGeom>
              <a:noFill/>
              <a:ln w="19050" cmpd="sng">
                <a:solidFill>
                  <a:schemeClr val="accent1"/>
                </a:solidFill>
                <a:prstDash val="solid"/>
                <a:round/>
                <a:headEnd/>
                <a:tailEnd/>
              </a:ln>
            </p:spPr>
            <p:txBody>
              <a:bodyPr/>
              <a:lstStyle/>
              <a:p>
                <a:endParaRPr lang="en-GB"/>
              </a:p>
            </p:txBody>
          </p:sp>
          <p:sp>
            <p:nvSpPr>
              <p:cNvPr id="76" name="Freeform 86">
                <a:extLst>
                  <a:ext uri="{FF2B5EF4-FFF2-40B4-BE49-F238E27FC236}">
                    <a16:creationId xmlns:a16="http://schemas.microsoft.com/office/drawing/2014/main" id="{034C5305-D84D-563C-A930-53C7845EF830}"/>
                  </a:ext>
                </a:extLst>
              </p:cNvPr>
              <p:cNvSpPr>
                <a:spLocks/>
              </p:cNvSpPr>
              <p:nvPr/>
            </p:nvSpPr>
            <p:spPr bwMode="auto">
              <a:xfrm rot="5400000">
                <a:off x="3217" y="2343"/>
                <a:ext cx="18" cy="18"/>
              </a:xfrm>
              <a:custGeom>
                <a:avLst/>
                <a:gdLst/>
                <a:ahLst/>
                <a:cxnLst>
                  <a:cxn ang="0">
                    <a:pos x="0" y="18"/>
                  </a:cxn>
                  <a:cxn ang="0">
                    <a:pos x="9" y="9"/>
                  </a:cxn>
                  <a:cxn ang="0">
                    <a:pos x="17" y="0"/>
                  </a:cxn>
                </a:cxnLst>
                <a:rect l="0" t="0" r="r" b="b"/>
                <a:pathLst>
                  <a:path w="17" h="18">
                    <a:moveTo>
                      <a:pt x="0" y="18"/>
                    </a:moveTo>
                    <a:lnTo>
                      <a:pt x="9" y="9"/>
                    </a:lnTo>
                    <a:lnTo>
                      <a:pt x="17" y="0"/>
                    </a:lnTo>
                  </a:path>
                </a:pathLst>
              </a:custGeom>
              <a:noFill/>
              <a:ln w="19050" cmpd="sng">
                <a:solidFill>
                  <a:schemeClr val="accent1"/>
                </a:solidFill>
                <a:prstDash val="solid"/>
                <a:round/>
                <a:headEnd/>
                <a:tailEnd/>
              </a:ln>
            </p:spPr>
            <p:txBody>
              <a:bodyPr/>
              <a:lstStyle/>
              <a:p>
                <a:endParaRPr lang="en-GB"/>
              </a:p>
            </p:txBody>
          </p:sp>
          <p:sp>
            <p:nvSpPr>
              <p:cNvPr id="77" name="Freeform 87">
                <a:extLst>
                  <a:ext uri="{FF2B5EF4-FFF2-40B4-BE49-F238E27FC236}">
                    <a16:creationId xmlns:a16="http://schemas.microsoft.com/office/drawing/2014/main" id="{57B6338C-62A3-E15E-29C4-2275DD9D8656}"/>
                  </a:ext>
                </a:extLst>
              </p:cNvPr>
              <p:cNvSpPr>
                <a:spLocks/>
              </p:cNvSpPr>
              <p:nvPr/>
            </p:nvSpPr>
            <p:spPr bwMode="auto">
              <a:xfrm rot="5400000">
                <a:off x="3229" y="2367"/>
                <a:ext cx="21" cy="10"/>
              </a:xfrm>
              <a:custGeom>
                <a:avLst/>
                <a:gdLst/>
                <a:ahLst/>
                <a:cxnLst>
                  <a:cxn ang="0">
                    <a:pos x="0" y="10"/>
                  </a:cxn>
                  <a:cxn ang="0">
                    <a:pos x="8" y="3"/>
                  </a:cxn>
                  <a:cxn ang="0">
                    <a:pos x="20" y="0"/>
                  </a:cxn>
                </a:cxnLst>
                <a:rect l="0" t="0" r="r" b="b"/>
                <a:pathLst>
                  <a:path w="20" h="10">
                    <a:moveTo>
                      <a:pt x="0" y="10"/>
                    </a:moveTo>
                    <a:lnTo>
                      <a:pt x="8" y="3"/>
                    </a:lnTo>
                    <a:lnTo>
                      <a:pt x="20" y="0"/>
                    </a:lnTo>
                  </a:path>
                </a:pathLst>
              </a:custGeom>
              <a:noFill/>
              <a:ln w="19050" cmpd="sng">
                <a:solidFill>
                  <a:schemeClr val="accent1"/>
                </a:solidFill>
                <a:prstDash val="solid"/>
                <a:round/>
                <a:headEnd/>
                <a:tailEnd/>
              </a:ln>
            </p:spPr>
            <p:txBody>
              <a:bodyPr/>
              <a:lstStyle/>
              <a:p>
                <a:endParaRPr lang="en-GB"/>
              </a:p>
            </p:txBody>
          </p:sp>
          <p:sp>
            <p:nvSpPr>
              <p:cNvPr id="78" name="Freeform 88">
                <a:extLst>
                  <a:ext uri="{FF2B5EF4-FFF2-40B4-BE49-F238E27FC236}">
                    <a16:creationId xmlns:a16="http://schemas.microsoft.com/office/drawing/2014/main" id="{E9826A24-C58E-866A-A47A-6317DED786D3}"/>
                  </a:ext>
                </a:extLst>
              </p:cNvPr>
              <p:cNvSpPr>
                <a:spLocks/>
              </p:cNvSpPr>
              <p:nvPr/>
            </p:nvSpPr>
            <p:spPr bwMode="auto">
              <a:xfrm rot="5400000">
                <a:off x="3237" y="2390"/>
                <a:ext cx="22" cy="6"/>
              </a:xfrm>
              <a:custGeom>
                <a:avLst/>
                <a:gdLst/>
                <a:ahLst/>
                <a:cxnLst>
                  <a:cxn ang="0">
                    <a:pos x="0" y="6"/>
                  </a:cxn>
                  <a:cxn ang="0">
                    <a:pos x="12" y="3"/>
                  </a:cxn>
                  <a:cxn ang="0">
                    <a:pos x="21" y="0"/>
                  </a:cxn>
                </a:cxnLst>
                <a:rect l="0" t="0" r="r" b="b"/>
                <a:pathLst>
                  <a:path w="21" h="6">
                    <a:moveTo>
                      <a:pt x="0" y="6"/>
                    </a:moveTo>
                    <a:lnTo>
                      <a:pt x="12" y="3"/>
                    </a:lnTo>
                    <a:lnTo>
                      <a:pt x="21" y="0"/>
                    </a:lnTo>
                  </a:path>
                </a:pathLst>
              </a:custGeom>
              <a:noFill/>
              <a:ln w="19050" cmpd="sng">
                <a:solidFill>
                  <a:schemeClr val="accent1"/>
                </a:solidFill>
                <a:prstDash val="solid"/>
                <a:round/>
                <a:headEnd/>
                <a:tailEnd/>
              </a:ln>
            </p:spPr>
            <p:txBody>
              <a:bodyPr/>
              <a:lstStyle/>
              <a:p>
                <a:endParaRPr lang="en-GB"/>
              </a:p>
            </p:txBody>
          </p:sp>
          <p:sp>
            <p:nvSpPr>
              <p:cNvPr id="79" name="Freeform 89">
                <a:extLst>
                  <a:ext uri="{FF2B5EF4-FFF2-40B4-BE49-F238E27FC236}">
                    <a16:creationId xmlns:a16="http://schemas.microsoft.com/office/drawing/2014/main" id="{0FC22226-2514-91B7-CF8A-94B1C5DEA4D7}"/>
                  </a:ext>
                </a:extLst>
              </p:cNvPr>
              <p:cNvSpPr>
                <a:spLocks/>
              </p:cNvSpPr>
              <p:nvPr/>
            </p:nvSpPr>
            <p:spPr bwMode="auto">
              <a:xfrm rot="5400000">
                <a:off x="3239" y="2410"/>
                <a:ext cx="17" cy="6"/>
              </a:xfrm>
              <a:custGeom>
                <a:avLst/>
                <a:gdLst/>
                <a:ahLst/>
                <a:cxnLst>
                  <a:cxn ang="0">
                    <a:pos x="0" y="0"/>
                  </a:cxn>
                  <a:cxn ang="0">
                    <a:pos x="8" y="3"/>
                  </a:cxn>
                  <a:cxn ang="0">
                    <a:pos x="16" y="6"/>
                  </a:cxn>
                </a:cxnLst>
                <a:rect l="0" t="0" r="r" b="b"/>
                <a:pathLst>
                  <a:path w="16" h="6">
                    <a:moveTo>
                      <a:pt x="0" y="0"/>
                    </a:moveTo>
                    <a:lnTo>
                      <a:pt x="8" y="3"/>
                    </a:lnTo>
                    <a:lnTo>
                      <a:pt x="16" y="6"/>
                    </a:lnTo>
                  </a:path>
                </a:pathLst>
              </a:custGeom>
              <a:noFill/>
              <a:ln w="19050" cmpd="sng">
                <a:solidFill>
                  <a:schemeClr val="accent1"/>
                </a:solidFill>
                <a:prstDash val="solid"/>
                <a:round/>
                <a:headEnd/>
                <a:tailEnd/>
              </a:ln>
            </p:spPr>
            <p:txBody>
              <a:bodyPr/>
              <a:lstStyle/>
              <a:p>
                <a:endParaRPr lang="en-GB"/>
              </a:p>
            </p:txBody>
          </p:sp>
          <p:sp>
            <p:nvSpPr>
              <p:cNvPr id="80" name="Freeform 90">
                <a:extLst>
                  <a:ext uri="{FF2B5EF4-FFF2-40B4-BE49-F238E27FC236}">
                    <a16:creationId xmlns:a16="http://schemas.microsoft.com/office/drawing/2014/main" id="{41187B8F-B371-FB6F-9DF6-EDC17FF31082}"/>
                  </a:ext>
                </a:extLst>
              </p:cNvPr>
              <p:cNvSpPr>
                <a:spLocks/>
              </p:cNvSpPr>
              <p:nvPr/>
            </p:nvSpPr>
            <p:spPr bwMode="auto">
              <a:xfrm rot="5400000">
                <a:off x="3229" y="2427"/>
                <a:ext cx="21" cy="10"/>
              </a:xfrm>
              <a:custGeom>
                <a:avLst/>
                <a:gdLst/>
                <a:ahLst/>
                <a:cxnLst>
                  <a:cxn ang="0">
                    <a:pos x="0" y="0"/>
                  </a:cxn>
                  <a:cxn ang="0">
                    <a:pos x="8" y="3"/>
                  </a:cxn>
                  <a:cxn ang="0">
                    <a:pos x="20" y="10"/>
                  </a:cxn>
                </a:cxnLst>
                <a:rect l="0" t="0" r="r" b="b"/>
                <a:pathLst>
                  <a:path w="20" h="10">
                    <a:moveTo>
                      <a:pt x="0" y="0"/>
                    </a:moveTo>
                    <a:lnTo>
                      <a:pt x="8" y="3"/>
                    </a:lnTo>
                    <a:lnTo>
                      <a:pt x="20" y="10"/>
                    </a:lnTo>
                  </a:path>
                </a:pathLst>
              </a:custGeom>
              <a:noFill/>
              <a:ln w="19050" cmpd="sng">
                <a:solidFill>
                  <a:schemeClr val="accent1"/>
                </a:solidFill>
                <a:prstDash val="solid"/>
                <a:round/>
                <a:headEnd/>
                <a:tailEnd/>
              </a:ln>
            </p:spPr>
            <p:txBody>
              <a:bodyPr/>
              <a:lstStyle/>
              <a:p>
                <a:endParaRPr lang="en-GB"/>
              </a:p>
            </p:txBody>
          </p:sp>
          <p:sp>
            <p:nvSpPr>
              <p:cNvPr id="81" name="Freeform 91">
                <a:extLst>
                  <a:ext uri="{FF2B5EF4-FFF2-40B4-BE49-F238E27FC236}">
                    <a16:creationId xmlns:a16="http://schemas.microsoft.com/office/drawing/2014/main" id="{113DB6F3-B4EA-1432-4BA4-2156E77B6EA0}"/>
                  </a:ext>
                </a:extLst>
              </p:cNvPr>
              <p:cNvSpPr>
                <a:spLocks/>
              </p:cNvSpPr>
              <p:nvPr/>
            </p:nvSpPr>
            <p:spPr bwMode="auto">
              <a:xfrm rot="5400000">
                <a:off x="3217" y="2442"/>
                <a:ext cx="18" cy="18"/>
              </a:xfrm>
              <a:custGeom>
                <a:avLst/>
                <a:gdLst/>
                <a:ahLst/>
                <a:cxnLst>
                  <a:cxn ang="0">
                    <a:pos x="0" y="0"/>
                  </a:cxn>
                  <a:cxn ang="0">
                    <a:pos x="8" y="9"/>
                  </a:cxn>
                  <a:cxn ang="0">
                    <a:pos x="17" y="18"/>
                  </a:cxn>
                </a:cxnLst>
                <a:rect l="0" t="0" r="r" b="b"/>
                <a:pathLst>
                  <a:path w="17" h="18">
                    <a:moveTo>
                      <a:pt x="0" y="0"/>
                    </a:moveTo>
                    <a:lnTo>
                      <a:pt x="8" y="9"/>
                    </a:lnTo>
                    <a:lnTo>
                      <a:pt x="17" y="18"/>
                    </a:lnTo>
                  </a:path>
                </a:pathLst>
              </a:custGeom>
              <a:noFill/>
              <a:ln w="19050" cmpd="sng">
                <a:solidFill>
                  <a:schemeClr val="accent1"/>
                </a:solidFill>
                <a:prstDash val="solid"/>
                <a:round/>
                <a:headEnd/>
                <a:tailEnd/>
              </a:ln>
            </p:spPr>
            <p:txBody>
              <a:bodyPr/>
              <a:lstStyle/>
              <a:p>
                <a:endParaRPr lang="en-GB"/>
              </a:p>
            </p:txBody>
          </p:sp>
          <p:sp>
            <p:nvSpPr>
              <p:cNvPr id="82" name="Freeform 92">
                <a:extLst>
                  <a:ext uri="{FF2B5EF4-FFF2-40B4-BE49-F238E27FC236}">
                    <a16:creationId xmlns:a16="http://schemas.microsoft.com/office/drawing/2014/main" id="{5A0D3CAD-7842-8155-58D2-6CE4784AC5DF}"/>
                  </a:ext>
                </a:extLst>
              </p:cNvPr>
              <p:cNvSpPr>
                <a:spLocks/>
              </p:cNvSpPr>
              <p:nvPr/>
            </p:nvSpPr>
            <p:spPr bwMode="auto">
              <a:xfrm rot="5400000">
                <a:off x="3193" y="2458"/>
                <a:ext cx="21" cy="26"/>
              </a:xfrm>
              <a:custGeom>
                <a:avLst/>
                <a:gdLst/>
                <a:ahLst/>
                <a:cxnLst>
                  <a:cxn ang="0">
                    <a:pos x="0" y="0"/>
                  </a:cxn>
                  <a:cxn ang="0">
                    <a:pos x="8" y="13"/>
                  </a:cxn>
                  <a:cxn ang="0">
                    <a:pos x="20" y="26"/>
                  </a:cxn>
                </a:cxnLst>
                <a:rect l="0" t="0" r="r" b="b"/>
                <a:pathLst>
                  <a:path w="20" h="26">
                    <a:moveTo>
                      <a:pt x="0" y="0"/>
                    </a:moveTo>
                    <a:lnTo>
                      <a:pt x="8" y="13"/>
                    </a:lnTo>
                    <a:lnTo>
                      <a:pt x="20" y="26"/>
                    </a:lnTo>
                  </a:path>
                </a:pathLst>
              </a:custGeom>
              <a:noFill/>
              <a:ln w="19050" cmpd="sng">
                <a:solidFill>
                  <a:schemeClr val="accent1"/>
                </a:solidFill>
                <a:prstDash val="solid"/>
                <a:round/>
                <a:headEnd/>
                <a:tailEnd/>
              </a:ln>
            </p:spPr>
            <p:txBody>
              <a:bodyPr/>
              <a:lstStyle/>
              <a:p>
                <a:endParaRPr lang="en-GB"/>
              </a:p>
            </p:txBody>
          </p:sp>
          <p:sp>
            <p:nvSpPr>
              <p:cNvPr id="83" name="Freeform 93">
                <a:extLst>
                  <a:ext uri="{FF2B5EF4-FFF2-40B4-BE49-F238E27FC236}">
                    <a16:creationId xmlns:a16="http://schemas.microsoft.com/office/drawing/2014/main" id="{61F70B87-BCCC-65C9-F4F3-7C35AED6A763}"/>
                  </a:ext>
                </a:extLst>
              </p:cNvPr>
              <p:cNvSpPr>
                <a:spLocks/>
              </p:cNvSpPr>
              <p:nvPr/>
            </p:nvSpPr>
            <p:spPr bwMode="auto">
              <a:xfrm rot="5400000">
                <a:off x="3169" y="2475"/>
                <a:ext cx="16" cy="28"/>
              </a:xfrm>
              <a:custGeom>
                <a:avLst/>
                <a:gdLst/>
                <a:ahLst/>
                <a:cxnLst>
                  <a:cxn ang="0">
                    <a:pos x="0" y="0"/>
                  </a:cxn>
                  <a:cxn ang="0">
                    <a:pos x="8" y="12"/>
                  </a:cxn>
                  <a:cxn ang="0">
                    <a:pos x="16" y="28"/>
                  </a:cxn>
                </a:cxnLst>
                <a:rect l="0" t="0" r="r" b="b"/>
                <a:pathLst>
                  <a:path w="16" h="28">
                    <a:moveTo>
                      <a:pt x="0" y="0"/>
                    </a:moveTo>
                    <a:lnTo>
                      <a:pt x="8" y="12"/>
                    </a:lnTo>
                    <a:lnTo>
                      <a:pt x="16" y="28"/>
                    </a:lnTo>
                  </a:path>
                </a:pathLst>
              </a:custGeom>
              <a:noFill/>
              <a:ln w="19050" cmpd="sng">
                <a:solidFill>
                  <a:schemeClr val="accent1"/>
                </a:solidFill>
                <a:prstDash val="solid"/>
                <a:round/>
                <a:headEnd/>
                <a:tailEnd/>
              </a:ln>
            </p:spPr>
            <p:txBody>
              <a:bodyPr/>
              <a:lstStyle/>
              <a:p>
                <a:endParaRPr lang="en-GB"/>
              </a:p>
            </p:txBody>
          </p:sp>
          <p:sp>
            <p:nvSpPr>
              <p:cNvPr id="84" name="Freeform 94">
                <a:extLst>
                  <a:ext uri="{FF2B5EF4-FFF2-40B4-BE49-F238E27FC236}">
                    <a16:creationId xmlns:a16="http://schemas.microsoft.com/office/drawing/2014/main" id="{884A70F3-E10B-5A34-7CC5-A26D2036CC86}"/>
                  </a:ext>
                </a:extLst>
              </p:cNvPr>
              <p:cNvSpPr>
                <a:spLocks/>
              </p:cNvSpPr>
              <p:nvPr/>
            </p:nvSpPr>
            <p:spPr bwMode="auto">
              <a:xfrm rot="5400000">
                <a:off x="3132" y="2490"/>
                <a:ext cx="23" cy="38"/>
              </a:xfrm>
              <a:custGeom>
                <a:avLst/>
                <a:gdLst/>
                <a:ahLst/>
                <a:cxnLst>
                  <a:cxn ang="0">
                    <a:pos x="0" y="0"/>
                  </a:cxn>
                  <a:cxn ang="0">
                    <a:pos x="9" y="19"/>
                  </a:cxn>
                  <a:cxn ang="0">
                    <a:pos x="21" y="38"/>
                  </a:cxn>
                </a:cxnLst>
                <a:rect l="0" t="0" r="r" b="b"/>
                <a:pathLst>
                  <a:path w="21" h="38">
                    <a:moveTo>
                      <a:pt x="0" y="0"/>
                    </a:moveTo>
                    <a:lnTo>
                      <a:pt x="9" y="19"/>
                    </a:lnTo>
                    <a:lnTo>
                      <a:pt x="21" y="38"/>
                    </a:lnTo>
                  </a:path>
                </a:pathLst>
              </a:custGeom>
              <a:noFill/>
              <a:ln w="19050" cmpd="sng">
                <a:solidFill>
                  <a:schemeClr val="accent1"/>
                </a:solidFill>
                <a:prstDash val="solid"/>
                <a:round/>
                <a:headEnd/>
                <a:tailEnd/>
              </a:ln>
            </p:spPr>
            <p:txBody>
              <a:bodyPr/>
              <a:lstStyle/>
              <a:p>
                <a:endParaRPr lang="en-GB"/>
              </a:p>
            </p:txBody>
          </p:sp>
          <p:sp>
            <p:nvSpPr>
              <p:cNvPr id="85" name="Line 95">
                <a:extLst>
                  <a:ext uri="{FF2B5EF4-FFF2-40B4-BE49-F238E27FC236}">
                    <a16:creationId xmlns:a16="http://schemas.microsoft.com/office/drawing/2014/main" id="{1FD977C5-A404-3828-FDFA-4B690FDEEC25}"/>
                  </a:ext>
                </a:extLst>
              </p:cNvPr>
              <p:cNvSpPr>
                <a:spLocks noChangeShapeType="1"/>
              </p:cNvSpPr>
              <p:nvPr/>
            </p:nvSpPr>
            <p:spPr bwMode="auto">
              <a:xfrm rot="5400000">
                <a:off x="3098" y="2509"/>
                <a:ext cx="16" cy="38"/>
              </a:xfrm>
              <a:prstGeom prst="line">
                <a:avLst/>
              </a:prstGeom>
              <a:noFill/>
              <a:ln w="19050">
                <a:solidFill>
                  <a:schemeClr val="accent1"/>
                </a:solidFill>
                <a:round/>
                <a:headEnd/>
                <a:tailEnd/>
              </a:ln>
            </p:spPr>
            <p:txBody>
              <a:bodyPr/>
              <a:lstStyle/>
              <a:p>
                <a:endParaRPr lang="en-GB"/>
              </a:p>
            </p:txBody>
          </p:sp>
          <p:sp>
            <p:nvSpPr>
              <p:cNvPr id="86" name="Line 96">
                <a:extLst>
                  <a:ext uri="{FF2B5EF4-FFF2-40B4-BE49-F238E27FC236}">
                    <a16:creationId xmlns:a16="http://schemas.microsoft.com/office/drawing/2014/main" id="{CA32D578-1C39-165C-69F1-05E56196A603}"/>
                  </a:ext>
                </a:extLst>
              </p:cNvPr>
              <p:cNvSpPr>
                <a:spLocks noChangeShapeType="1"/>
              </p:cNvSpPr>
              <p:nvPr/>
            </p:nvSpPr>
            <p:spPr bwMode="auto">
              <a:xfrm rot="5400000">
                <a:off x="3054" y="2527"/>
                <a:ext cx="23" cy="41"/>
              </a:xfrm>
              <a:prstGeom prst="line">
                <a:avLst/>
              </a:prstGeom>
              <a:noFill/>
              <a:ln w="19050">
                <a:solidFill>
                  <a:schemeClr val="accent1"/>
                </a:solidFill>
                <a:round/>
                <a:headEnd/>
                <a:tailEnd/>
              </a:ln>
            </p:spPr>
            <p:txBody>
              <a:bodyPr/>
              <a:lstStyle/>
              <a:p>
                <a:endParaRPr lang="en-GB"/>
              </a:p>
            </p:txBody>
          </p:sp>
          <p:sp>
            <p:nvSpPr>
              <p:cNvPr id="87" name="Freeform 97">
                <a:extLst>
                  <a:ext uri="{FF2B5EF4-FFF2-40B4-BE49-F238E27FC236}">
                    <a16:creationId xmlns:a16="http://schemas.microsoft.com/office/drawing/2014/main" id="{9E1286A4-9C40-56B7-23A4-C6B022302C04}"/>
                  </a:ext>
                </a:extLst>
              </p:cNvPr>
              <p:cNvSpPr>
                <a:spLocks/>
              </p:cNvSpPr>
              <p:nvPr/>
            </p:nvSpPr>
            <p:spPr bwMode="auto">
              <a:xfrm rot="5400000">
                <a:off x="3011" y="2546"/>
                <a:ext cx="21" cy="47"/>
              </a:xfrm>
              <a:custGeom>
                <a:avLst/>
                <a:gdLst/>
                <a:ahLst/>
                <a:cxnLst>
                  <a:cxn ang="0">
                    <a:pos x="0" y="0"/>
                  </a:cxn>
                  <a:cxn ang="0">
                    <a:pos x="12" y="22"/>
                  </a:cxn>
                  <a:cxn ang="0">
                    <a:pos x="20" y="47"/>
                  </a:cxn>
                </a:cxnLst>
                <a:rect l="0" t="0" r="r" b="b"/>
                <a:pathLst>
                  <a:path w="20" h="47">
                    <a:moveTo>
                      <a:pt x="0" y="0"/>
                    </a:moveTo>
                    <a:lnTo>
                      <a:pt x="12" y="22"/>
                    </a:lnTo>
                    <a:lnTo>
                      <a:pt x="20" y="47"/>
                    </a:lnTo>
                  </a:path>
                </a:pathLst>
              </a:custGeom>
              <a:noFill/>
              <a:ln w="19050" cmpd="sng">
                <a:solidFill>
                  <a:schemeClr val="accent1"/>
                </a:solidFill>
                <a:prstDash val="solid"/>
                <a:round/>
                <a:headEnd/>
                <a:tailEnd/>
              </a:ln>
            </p:spPr>
            <p:txBody>
              <a:bodyPr/>
              <a:lstStyle/>
              <a:p>
                <a:endParaRPr lang="en-GB"/>
              </a:p>
            </p:txBody>
          </p:sp>
          <p:sp>
            <p:nvSpPr>
              <p:cNvPr id="88" name="Line 98">
                <a:extLst>
                  <a:ext uri="{FF2B5EF4-FFF2-40B4-BE49-F238E27FC236}">
                    <a16:creationId xmlns:a16="http://schemas.microsoft.com/office/drawing/2014/main" id="{5E7ACE85-58D3-D888-8736-314201536AF4}"/>
                  </a:ext>
                </a:extLst>
              </p:cNvPr>
              <p:cNvSpPr>
                <a:spLocks noChangeShapeType="1"/>
              </p:cNvSpPr>
              <p:nvPr/>
            </p:nvSpPr>
            <p:spPr bwMode="auto">
              <a:xfrm rot="5400000">
                <a:off x="2968" y="2567"/>
                <a:ext cx="17" cy="44"/>
              </a:xfrm>
              <a:prstGeom prst="line">
                <a:avLst/>
              </a:prstGeom>
              <a:noFill/>
              <a:ln w="19050">
                <a:solidFill>
                  <a:schemeClr val="accent1"/>
                </a:solidFill>
                <a:round/>
                <a:headEnd/>
                <a:tailEnd/>
              </a:ln>
            </p:spPr>
            <p:txBody>
              <a:bodyPr/>
              <a:lstStyle/>
              <a:p>
                <a:endParaRPr lang="en-GB"/>
              </a:p>
            </p:txBody>
          </p:sp>
          <p:sp>
            <p:nvSpPr>
              <p:cNvPr id="89" name="Line 99">
                <a:extLst>
                  <a:ext uri="{FF2B5EF4-FFF2-40B4-BE49-F238E27FC236}">
                    <a16:creationId xmlns:a16="http://schemas.microsoft.com/office/drawing/2014/main" id="{24F288F1-F83A-48C8-4487-8918DF3BA3D9}"/>
                  </a:ext>
                </a:extLst>
              </p:cNvPr>
              <p:cNvSpPr>
                <a:spLocks noChangeShapeType="1"/>
              </p:cNvSpPr>
              <p:nvPr/>
            </p:nvSpPr>
            <p:spPr bwMode="auto">
              <a:xfrm rot="5400000">
                <a:off x="2922" y="2586"/>
                <a:ext cx="22" cy="44"/>
              </a:xfrm>
              <a:prstGeom prst="line">
                <a:avLst/>
              </a:prstGeom>
              <a:noFill/>
              <a:ln w="19050">
                <a:solidFill>
                  <a:schemeClr val="accent1"/>
                </a:solidFill>
                <a:round/>
                <a:headEnd/>
                <a:tailEnd/>
              </a:ln>
            </p:spPr>
            <p:txBody>
              <a:bodyPr/>
              <a:lstStyle/>
              <a:p>
                <a:endParaRPr lang="en-GB"/>
              </a:p>
            </p:txBody>
          </p:sp>
          <p:sp>
            <p:nvSpPr>
              <p:cNvPr id="90" name="Line 100">
                <a:extLst>
                  <a:ext uri="{FF2B5EF4-FFF2-40B4-BE49-F238E27FC236}">
                    <a16:creationId xmlns:a16="http://schemas.microsoft.com/office/drawing/2014/main" id="{6180409C-4177-7E00-738C-A4A4E52D6B13}"/>
                  </a:ext>
                </a:extLst>
              </p:cNvPr>
              <p:cNvSpPr>
                <a:spLocks noChangeShapeType="1"/>
              </p:cNvSpPr>
              <p:nvPr/>
            </p:nvSpPr>
            <p:spPr bwMode="auto">
              <a:xfrm rot="5400000">
                <a:off x="2880" y="2606"/>
                <a:ext cx="17" cy="44"/>
              </a:xfrm>
              <a:prstGeom prst="line">
                <a:avLst/>
              </a:prstGeom>
              <a:noFill/>
              <a:ln w="19050">
                <a:solidFill>
                  <a:schemeClr val="accent1"/>
                </a:solidFill>
                <a:round/>
                <a:headEnd/>
                <a:tailEnd/>
              </a:ln>
            </p:spPr>
            <p:txBody>
              <a:bodyPr/>
              <a:lstStyle/>
              <a:p>
                <a:endParaRPr lang="en-GB"/>
              </a:p>
            </p:txBody>
          </p:sp>
          <p:sp>
            <p:nvSpPr>
              <p:cNvPr id="91" name="Line 101">
                <a:extLst>
                  <a:ext uri="{FF2B5EF4-FFF2-40B4-BE49-F238E27FC236}">
                    <a16:creationId xmlns:a16="http://schemas.microsoft.com/office/drawing/2014/main" id="{1B30C2EC-369B-42A7-48CF-9F143DC32127}"/>
                  </a:ext>
                </a:extLst>
              </p:cNvPr>
              <p:cNvSpPr>
                <a:spLocks noChangeShapeType="1"/>
              </p:cNvSpPr>
              <p:nvPr/>
            </p:nvSpPr>
            <p:spPr bwMode="auto">
              <a:xfrm rot="5400000">
                <a:off x="2834" y="2625"/>
                <a:ext cx="21" cy="44"/>
              </a:xfrm>
              <a:prstGeom prst="line">
                <a:avLst/>
              </a:prstGeom>
              <a:noFill/>
              <a:ln w="19050">
                <a:solidFill>
                  <a:schemeClr val="accent1"/>
                </a:solidFill>
                <a:round/>
                <a:headEnd/>
                <a:tailEnd/>
              </a:ln>
            </p:spPr>
            <p:txBody>
              <a:bodyPr/>
              <a:lstStyle/>
              <a:p>
                <a:endParaRPr lang="en-GB"/>
              </a:p>
            </p:txBody>
          </p:sp>
          <p:sp>
            <p:nvSpPr>
              <p:cNvPr id="92" name="Line 102">
                <a:extLst>
                  <a:ext uri="{FF2B5EF4-FFF2-40B4-BE49-F238E27FC236}">
                    <a16:creationId xmlns:a16="http://schemas.microsoft.com/office/drawing/2014/main" id="{67364FB1-1775-639B-5107-4A7298ED2664}"/>
                  </a:ext>
                </a:extLst>
              </p:cNvPr>
              <p:cNvSpPr>
                <a:spLocks noChangeShapeType="1"/>
              </p:cNvSpPr>
              <p:nvPr/>
            </p:nvSpPr>
            <p:spPr bwMode="auto">
              <a:xfrm rot="5400000">
                <a:off x="2793" y="2645"/>
                <a:ext cx="17" cy="41"/>
              </a:xfrm>
              <a:prstGeom prst="line">
                <a:avLst/>
              </a:prstGeom>
              <a:noFill/>
              <a:ln w="19050">
                <a:solidFill>
                  <a:schemeClr val="accent1"/>
                </a:solidFill>
                <a:round/>
                <a:headEnd/>
                <a:tailEnd/>
              </a:ln>
            </p:spPr>
            <p:txBody>
              <a:bodyPr/>
              <a:lstStyle/>
              <a:p>
                <a:endParaRPr lang="en-GB"/>
              </a:p>
            </p:txBody>
          </p:sp>
          <p:sp>
            <p:nvSpPr>
              <p:cNvPr id="93" name="Line 103">
                <a:extLst>
                  <a:ext uri="{FF2B5EF4-FFF2-40B4-BE49-F238E27FC236}">
                    <a16:creationId xmlns:a16="http://schemas.microsoft.com/office/drawing/2014/main" id="{48E8DC9B-1205-7BB2-A160-30D67B9A13DA}"/>
                  </a:ext>
                </a:extLst>
              </p:cNvPr>
              <p:cNvSpPr>
                <a:spLocks noChangeShapeType="1"/>
              </p:cNvSpPr>
              <p:nvPr/>
            </p:nvSpPr>
            <p:spPr bwMode="auto">
              <a:xfrm rot="5400000">
                <a:off x="2752" y="2666"/>
                <a:ext cx="22" cy="38"/>
              </a:xfrm>
              <a:prstGeom prst="line">
                <a:avLst/>
              </a:prstGeom>
              <a:noFill/>
              <a:ln w="19050">
                <a:solidFill>
                  <a:schemeClr val="accent1"/>
                </a:solidFill>
                <a:round/>
                <a:headEnd/>
                <a:tailEnd/>
              </a:ln>
            </p:spPr>
            <p:txBody>
              <a:bodyPr/>
              <a:lstStyle/>
              <a:p>
                <a:endParaRPr lang="en-GB"/>
              </a:p>
            </p:txBody>
          </p:sp>
          <p:sp>
            <p:nvSpPr>
              <p:cNvPr id="94" name="Line 104">
                <a:extLst>
                  <a:ext uri="{FF2B5EF4-FFF2-40B4-BE49-F238E27FC236}">
                    <a16:creationId xmlns:a16="http://schemas.microsoft.com/office/drawing/2014/main" id="{AD30AB43-62BB-FDC6-9AB2-6F52D6CDBB08}"/>
                  </a:ext>
                </a:extLst>
              </p:cNvPr>
              <p:cNvSpPr>
                <a:spLocks noChangeShapeType="1"/>
              </p:cNvSpPr>
              <p:nvPr/>
            </p:nvSpPr>
            <p:spPr bwMode="auto">
              <a:xfrm rot="5400000">
                <a:off x="2715" y="2689"/>
                <a:ext cx="22" cy="35"/>
              </a:xfrm>
              <a:prstGeom prst="line">
                <a:avLst/>
              </a:prstGeom>
              <a:noFill/>
              <a:ln w="19050">
                <a:solidFill>
                  <a:schemeClr val="accent1"/>
                </a:solidFill>
                <a:round/>
                <a:headEnd/>
                <a:tailEnd/>
              </a:ln>
            </p:spPr>
            <p:txBody>
              <a:bodyPr/>
              <a:lstStyle/>
              <a:p>
                <a:endParaRPr lang="en-GB"/>
              </a:p>
            </p:txBody>
          </p:sp>
          <p:sp>
            <p:nvSpPr>
              <p:cNvPr id="95" name="Line 105">
                <a:extLst>
                  <a:ext uri="{FF2B5EF4-FFF2-40B4-BE49-F238E27FC236}">
                    <a16:creationId xmlns:a16="http://schemas.microsoft.com/office/drawing/2014/main" id="{352D308E-4E3D-02EE-0E84-DE321012109C}"/>
                  </a:ext>
                </a:extLst>
              </p:cNvPr>
              <p:cNvSpPr>
                <a:spLocks noChangeShapeType="1"/>
              </p:cNvSpPr>
              <p:nvPr/>
            </p:nvSpPr>
            <p:spPr bwMode="auto">
              <a:xfrm rot="5400000">
                <a:off x="2684" y="2711"/>
                <a:ext cx="17" cy="31"/>
              </a:xfrm>
              <a:prstGeom prst="line">
                <a:avLst/>
              </a:prstGeom>
              <a:noFill/>
              <a:ln w="19050">
                <a:solidFill>
                  <a:schemeClr val="accent1"/>
                </a:solidFill>
                <a:round/>
                <a:headEnd/>
                <a:tailEnd/>
              </a:ln>
            </p:spPr>
            <p:txBody>
              <a:bodyPr/>
              <a:lstStyle/>
              <a:p>
                <a:endParaRPr lang="en-GB"/>
              </a:p>
            </p:txBody>
          </p:sp>
          <p:sp>
            <p:nvSpPr>
              <p:cNvPr id="96" name="Line 106">
                <a:extLst>
                  <a:ext uri="{FF2B5EF4-FFF2-40B4-BE49-F238E27FC236}">
                    <a16:creationId xmlns:a16="http://schemas.microsoft.com/office/drawing/2014/main" id="{855DD1C9-DBBF-4443-B99F-32D4102E41CF}"/>
                  </a:ext>
                </a:extLst>
              </p:cNvPr>
              <p:cNvSpPr>
                <a:spLocks noChangeShapeType="1"/>
              </p:cNvSpPr>
              <p:nvPr/>
            </p:nvSpPr>
            <p:spPr bwMode="auto">
              <a:xfrm rot="5400000">
                <a:off x="2652" y="2731"/>
                <a:ext cx="21" cy="29"/>
              </a:xfrm>
              <a:prstGeom prst="line">
                <a:avLst/>
              </a:prstGeom>
              <a:noFill/>
              <a:ln w="19050">
                <a:solidFill>
                  <a:schemeClr val="accent1"/>
                </a:solidFill>
                <a:round/>
                <a:headEnd/>
                <a:tailEnd/>
              </a:ln>
            </p:spPr>
            <p:txBody>
              <a:bodyPr/>
              <a:lstStyle/>
              <a:p>
                <a:endParaRPr lang="en-GB"/>
              </a:p>
            </p:txBody>
          </p:sp>
          <p:sp>
            <p:nvSpPr>
              <p:cNvPr id="97" name="Line 107">
                <a:extLst>
                  <a:ext uri="{FF2B5EF4-FFF2-40B4-BE49-F238E27FC236}">
                    <a16:creationId xmlns:a16="http://schemas.microsoft.com/office/drawing/2014/main" id="{EC80CFF2-B43D-E5B6-9E30-A00FBDE23793}"/>
                  </a:ext>
                </a:extLst>
              </p:cNvPr>
              <p:cNvSpPr>
                <a:spLocks noChangeShapeType="1"/>
              </p:cNvSpPr>
              <p:nvPr/>
            </p:nvSpPr>
            <p:spPr bwMode="auto">
              <a:xfrm rot="5400000">
                <a:off x="2627" y="2752"/>
                <a:ext cx="18" cy="25"/>
              </a:xfrm>
              <a:prstGeom prst="line">
                <a:avLst/>
              </a:prstGeom>
              <a:noFill/>
              <a:ln w="19050">
                <a:solidFill>
                  <a:schemeClr val="accent1"/>
                </a:solidFill>
                <a:round/>
                <a:headEnd/>
                <a:tailEnd/>
              </a:ln>
            </p:spPr>
            <p:txBody>
              <a:bodyPr/>
              <a:lstStyle/>
              <a:p>
                <a:endParaRPr lang="en-GB"/>
              </a:p>
            </p:txBody>
          </p:sp>
          <p:sp>
            <p:nvSpPr>
              <p:cNvPr id="98" name="Line 108">
                <a:extLst>
                  <a:ext uri="{FF2B5EF4-FFF2-40B4-BE49-F238E27FC236}">
                    <a16:creationId xmlns:a16="http://schemas.microsoft.com/office/drawing/2014/main" id="{DD84FEC4-7D75-87DF-9AF2-6536E9832650}"/>
                  </a:ext>
                </a:extLst>
              </p:cNvPr>
              <p:cNvSpPr>
                <a:spLocks noChangeShapeType="1"/>
              </p:cNvSpPr>
              <p:nvPr/>
            </p:nvSpPr>
            <p:spPr bwMode="auto">
              <a:xfrm rot="5400000">
                <a:off x="2602" y="2774"/>
                <a:ext cx="21" cy="22"/>
              </a:xfrm>
              <a:prstGeom prst="line">
                <a:avLst/>
              </a:prstGeom>
              <a:noFill/>
              <a:ln w="19050">
                <a:solidFill>
                  <a:schemeClr val="accent1"/>
                </a:solidFill>
                <a:round/>
                <a:headEnd/>
                <a:tailEnd/>
              </a:ln>
            </p:spPr>
            <p:txBody>
              <a:bodyPr/>
              <a:lstStyle/>
              <a:p>
                <a:endParaRPr lang="en-GB"/>
              </a:p>
            </p:txBody>
          </p:sp>
          <p:sp>
            <p:nvSpPr>
              <p:cNvPr id="99" name="Line 109">
                <a:extLst>
                  <a:ext uri="{FF2B5EF4-FFF2-40B4-BE49-F238E27FC236}">
                    <a16:creationId xmlns:a16="http://schemas.microsoft.com/office/drawing/2014/main" id="{18546A2E-1189-EB33-0BB1-D46CFB92657F}"/>
                  </a:ext>
                </a:extLst>
              </p:cNvPr>
              <p:cNvSpPr>
                <a:spLocks noChangeShapeType="1"/>
              </p:cNvSpPr>
              <p:nvPr/>
            </p:nvSpPr>
            <p:spPr bwMode="auto">
              <a:xfrm rot="5400000">
                <a:off x="2584" y="2793"/>
                <a:ext cx="16" cy="19"/>
              </a:xfrm>
              <a:prstGeom prst="line">
                <a:avLst/>
              </a:prstGeom>
              <a:noFill/>
              <a:ln w="19050">
                <a:solidFill>
                  <a:schemeClr val="accent1"/>
                </a:solidFill>
                <a:round/>
                <a:headEnd/>
                <a:tailEnd/>
              </a:ln>
            </p:spPr>
            <p:txBody>
              <a:bodyPr/>
              <a:lstStyle/>
              <a:p>
                <a:endParaRPr lang="en-GB"/>
              </a:p>
            </p:txBody>
          </p:sp>
          <p:sp>
            <p:nvSpPr>
              <p:cNvPr id="100" name="Line 110">
                <a:extLst>
                  <a:ext uri="{FF2B5EF4-FFF2-40B4-BE49-F238E27FC236}">
                    <a16:creationId xmlns:a16="http://schemas.microsoft.com/office/drawing/2014/main" id="{4DBB3AC0-BDEB-D4B7-E3A3-D5BB649A207B}"/>
                  </a:ext>
                </a:extLst>
              </p:cNvPr>
              <p:cNvSpPr>
                <a:spLocks noChangeShapeType="1"/>
              </p:cNvSpPr>
              <p:nvPr/>
            </p:nvSpPr>
            <p:spPr bwMode="auto">
              <a:xfrm rot="5400000">
                <a:off x="2563" y="2815"/>
                <a:ext cx="23" cy="15"/>
              </a:xfrm>
              <a:prstGeom prst="line">
                <a:avLst/>
              </a:prstGeom>
              <a:noFill/>
              <a:ln w="19050">
                <a:solidFill>
                  <a:schemeClr val="accent1"/>
                </a:solidFill>
                <a:round/>
                <a:headEnd/>
                <a:tailEnd/>
              </a:ln>
            </p:spPr>
            <p:txBody>
              <a:bodyPr/>
              <a:lstStyle/>
              <a:p>
                <a:endParaRPr lang="en-GB"/>
              </a:p>
            </p:txBody>
          </p:sp>
          <p:sp>
            <p:nvSpPr>
              <p:cNvPr id="101" name="Line 111">
                <a:extLst>
                  <a:ext uri="{FF2B5EF4-FFF2-40B4-BE49-F238E27FC236}">
                    <a16:creationId xmlns:a16="http://schemas.microsoft.com/office/drawing/2014/main" id="{ECF46961-FCEF-F12B-8618-2668C2481EF8}"/>
                  </a:ext>
                </a:extLst>
              </p:cNvPr>
              <p:cNvSpPr>
                <a:spLocks noChangeShapeType="1"/>
              </p:cNvSpPr>
              <p:nvPr/>
            </p:nvSpPr>
            <p:spPr bwMode="auto">
              <a:xfrm rot="5400000">
                <a:off x="2553" y="2835"/>
                <a:ext cx="16" cy="13"/>
              </a:xfrm>
              <a:prstGeom prst="line">
                <a:avLst/>
              </a:prstGeom>
              <a:noFill/>
              <a:ln w="19050">
                <a:solidFill>
                  <a:schemeClr val="accent1"/>
                </a:solidFill>
                <a:round/>
                <a:headEnd/>
                <a:tailEnd/>
              </a:ln>
            </p:spPr>
            <p:txBody>
              <a:bodyPr/>
              <a:lstStyle/>
              <a:p>
                <a:endParaRPr lang="en-GB"/>
              </a:p>
            </p:txBody>
          </p:sp>
          <p:sp>
            <p:nvSpPr>
              <p:cNvPr id="102" name="Line 112">
                <a:extLst>
                  <a:ext uri="{FF2B5EF4-FFF2-40B4-BE49-F238E27FC236}">
                    <a16:creationId xmlns:a16="http://schemas.microsoft.com/office/drawing/2014/main" id="{013A697D-7CD5-6A2A-5237-F0208EFF40DC}"/>
                  </a:ext>
                </a:extLst>
              </p:cNvPr>
              <p:cNvSpPr>
                <a:spLocks noChangeShapeType="1"/>
              </p:cNvSpPr>
              <p:nvPr/>
            </p:nvSpPr>
            <p:spPr bwMode="auto">
              <a:xfrm rot="5400000">
                <a:off x="2536" y="2855"/>
                <a:ext cx="23" cy="13"/>
              </a:xfrm>
              <a:prstGeom prst="line">
                <a:avLst/>
              </a:prstGeom>
              <a:noFill/>
              <a:ln w="19050">
                <a:solidFill>
                  <a:schemeClr val="accent1"/>
                </a:solidFill>
                <a:round/>
                <a:headEnd/>
                <a:tailEnd/>
              </a:ln>
            </p:spPr>
            <p:txBody>
              <a:bodyPr/>
              <a:lstStyle/>
              <a:p>
                <a:endParaRPr lang="en-GB"/>
              </a:p>
            </p:txBody>
          </p:sp>
          <p:sp>
            <p:nvSpPr>
              <p:cNvPr id="103" name="Line 113">
                <a:extLst>
                  <a:ext uri="{FF2B5EF4-FFF2-40B4-BE49-F238E27FC236}">
                    <a16:creationId xmlns:a16="http://schemas.microsoft.com/office/drawing/2014/main" id="{9AE3E4E2-8506-AB21-B5D5-551EF12F0B92}"/>
                  </a:ext>
                </a:extLst>
              </p:cNvPr>
              <p:cNvSpPr>
                <a:spLocks noChangeShapeType="1"/>
              </p:cNvSpPr>
              <p:nvPr/>
            </p:nvSpPr>
            <p:spPr bwMode="auto">
              <a:xfrm rot="5400000">
                <a:off x="2526" y="2879"/>
                <a:ext cx="21" cy="9"/>
              </a:xfrm>
              <a:prstGeom prst="line">
                <a:avLst/>
              </a:prstGeom>
              <a:noFill/>
              <a:ln w="19050">
                <a:solidFill>
                  <a:schemeClr val="accent1"/>
                </a:solidFill>
                <a:round/>
                <a:headEnd/>
                <a:tailEnd/>
              </a:ln>
            </p:spPr>
            <p:txBody>
              <a:bodyPr/>
              <a:lstStyle/>
              <a:p>
                <a:endParaRPr lang="en-GB"/>
              </a:p>
            </p:txBody>
          </p:sp>
          <p:sp>
            <p:nvSpPr>
              <p:cNvPr id="104" name="Line 114">
                <a:extLst>
                  <a:ext uri="{FF2B5EF4-FFF2-40B4-BE49-F238E27FC236}">
                    <a16:creationId xmlns:a16="http://schemas.microsoft.com/office/drawing/2014/main" id="{2CCB3C7A-8A9C-D5FB-07E8-FAE79969B413}"/>
                  </a:ext>
                </a:extLst>
              </p:cNvPr>
              <p:cNvSpPr>
                <a:spLocks noChangeShapeType="1"/>
              </p:cNvSpPr>
              <p:nvPr/>
            </p:nvSpPr>
            <p:spPr bwMode="auto">
              <a:xfrm rot="5400000">
                <a:off x="2522" y="2899"/>
                <a:ext cx="16" cy="6"/>
              </a:xfrm>
              <a:prstGeom prst="line">
                <a:avLst/>
              </a:prstGeom>
              <a:noFill/>
              <a:ln w="19050">
                <a:solidFill>
                  <a:schemeClr val="accent1"/>
                </a:solidFill>
                <a:round/>
                <a:headEnd/>
                <a:tailEnd/>
              </a:ln>
            </p:spPr>
            <p:txBody>
              <a:bodyPr/>
              <a:lstStyle/>
              <a:p>
                <a:endParaRPr lang="en-GB"/>
              </a:p>
            </p:txBody>
          </p:sp>
          <p:sp>
            <p:nvSpPr>
              <p:cNvPr id="105" name="Line 115">
                <a:extLst>
                  <a:ext uri="{FF2B5EF4-FFF2-40B4-BE49-F238E27FC236}">
                    <a16:creationId xmlns:a16="http://schemas.microsoft.com/office/drawing/2014/main" id="{EB005F9A-2428-70B5-7F59-84E9BD62077D}"/>
                  </a:ext>
                </a:extLst>
              </p:cNvPr>
              <p:cNvSpPr>
                <a:spLocks noChangeShapeType="1"/>
              </p:cNvSpPr>
              <p:nvPr/>
            </p:nvSpPr>
            <p:spPr bwMode="auto">
              <a:xfrm rot="5400000">
                <a:off x="2511" y="2918"/>
                <a:ext cx="23" cy="7"/>
              </a:xfrm>
              <a:prstGeom prst="line">
                <a:avLst/>
              </a:prstGeom>
              <a:noFill/>
              <a:ln w="19050">
                <a:solidFill>
                  <a:schemeClr val="accent1"/>
                </a:solidFill>
                <a:round/>
                <a:headEnd/>
                <a:tailEnd/>
              </a:ln>
            </p:spPr>
            <p:txBody>
              <a:bodyPr/>
              <a:lstStyle/>
              <a:p>
                <a:endParaRPr lang="en-GB"/>
              </a:p>
            </p:txBody>
          </p:sp>
          <p:sp>
            <p:nvSpPr>
              <p:cNvPr id="106" name="Line 116">
                <a:extLst>
                  <a:ext uri="{FF2B5EF4-FFF2-40B4-BE49-F238E27FC236}">
                    <a16:creationId xmlns:a16="http://schemas.microsoft.com/office/drawing/2014/main" id="{A1E2346B-462E-CC63-ABC7-E2A315DC5845}"/>
                  </a:ext>
                </a:extLst>
              </p:cNvPr>
              <p:cNvSpPr>
                <a:spLocks noChangeShapeType="1"/>
              </p:cNvSpPr>
              <p:nvPr/>
            </p:nvSpPr>
            <p:spPr bwMode="auto">
              <a:xfrm rot="5400000">
                <a:off x="2510" y="2939"/>
                <a:ext cx="16" cy="3"/>
              </a:xfrm>
              <a:prstGeom prst="line">
                <a:avLst/>
              </a:prstGeom>
              <a:noFill/>
              <a:ln w="19050">
                <a:solidFill>
                  <a:schemeClr val="accent1"/>
                </a:solidFill>
                <a:round/>
                <a:headEnd/>
                <a:tailEnd/>
              </a:ln>
            </p:spPr>
            <p:txBody>
              <a:bodyPr/>
              <a:lstStyle/>
              <a:p>
                <a:endParaRPr lang="en-GB"/>
              </a:p>
            </p:txBody>
          </p:sp>
          <p:sp>
            <p:nvSpPr>
              <p:cNvPr id="107" name="Line 117">
                <a:extLst>
                  <a:ext uri="{FF2B5EF4-FFF2-40B4-BE49-F238E27FC236}">
                    <a16:creationId xmlns:a16="http://schemas.microsoft.com/office/drawing/2014/main" id="{553004B1-3C0C-B133-07F6-F493DEF4E702}"/>
                  </a:ext>
                </a:extLst>
              </p:cNvPr>
              <p:cNvSpPr>
                <a:spLocks noChangeShapeType="1"/>
              </p:cNvSpPr>
              <p:nvPr/>
            </p:nvSpPr>
            <p:spPr bwMode="auto">
              <a:xfrm rot="5400000">
                <a:off x="2503" y="2959"/>
                <a:ext cx="23" cy="3"/>
              </a:xfrm>
              <a:prstGeom prst="line">
                <a:avLst/>
              </a:prstGeom>
              <a:noFill/>
              <a:ln w="19050">
                <a:solidFill>
                  <a:schemeClr val="accent1"/>
                </a:solidFill>
                <a:round/>
                <a:headEnd/>
                <a:tailEnd/>
              </a:ln>
            </p:spPr>
            <p:txBody>
              <a:bodyPr/>
              <a:lstStyle/>
              <a:p>
                <a:endParaRPr lang="en-GB"/>
              </a:p>
            </p:txBody>
          </p:sp>
          <p:sp>
            <p:nvSpPr>
              <p:cNvPr id="108" name="Line 118">
                <a:extLst>
                  <a:ext uri="{FF2B5EF4-FFF2-40B4-BE49-F238E27FC236}">
                    <a16:creationId xmlns:a16="http://schemas.microsoft.com/office/drawing/2014/main" id="{A501238A-6ECA-AAFF-AC3E-694745CC86F1}"/>
                  </a:ext>
                </a:extLst>
              </p:cNvPr>
              <p:cNvSpPr>
                <a:spLocks noChangeShapeType="1"/>
              </p:cNvSpPr>
              <p:nvPr/>
            </p:nvSpPr>
            <p:spPr bwMode="auto">
              <a:xfrm rot="5400000">
                <a:off x="2504" y="2978"/>
                <a:ext cx="16" cy="3"/>
              </a:xfrm>
              <a:prstGeom prst="line">
                <a:avLst/>
              </a:prstGeom>
              <a:noFill/>
              <a:ln w="19050">
                <a:solidFill>
                  <a:schemeClr val="accent1"/>
                </a:solidFill>
                <a:round/>
                <a:headEnd/>
                <a:tailEnd/>
              </a:ln>
            </p:spPr>
            <p:txBody>
              <a:bodyPr/>
              <a:lstStyle/>
              <a:p>
                <a:endParaRPr lang="en-GB"/>
              </a:p>
            </p:txBody>
          </p:sp>
          <p:sp>
            <p:nvSpPr>
              <p:cNvPr id="109" name="Line 119">
                <a:extLst>
                  <a:ext uri="{FF2B5EF4-FFF2-40B4-BE49-F238E27FC236}">
                    <a16:creationId xmlns:a16="http://schemas.microsoft.com/office/drawing/2014/main" id="{90424760-FCE0-C125-7C8E-D74690173A9F}"/>
                  </a:ext>
                </a:extLst>
              </p:cNvPr>
              <p:cNvSpPr>
                <a:spLocks noChangeShapeType="1"/>
              </p:cNvSpPr>
              <p:nvPr/>
            </p:nvSpPr>
            <p:spPr bwMode="auto">
              <a:xfrm rot="5400000">
                <a:off x="2498" y="2997"/>
                <a:ext cx="22" cy="3"/>
              </a:xfrm>
              <a:prstGeom prst="line">
                <a:avLst/>
              </a:prstGeom>
              <a:noFill/>
              <a:ln w="19050">
                <a:solidFill>
                  <a:schemeClr val="accent1"/>
                </a:solidFill>
                <a:round/>
                <a:headEnd/>
                <a:tailEnd/>
              </a:ln>
            </p:spPr>
            <p:txBody>
              <a:bodyPr/>
              <a:lstStyle/>
              <a:p>
                <a:endParaRPr lang="en-GB"/>
              </a:p>
            </p:txBody>
          </p:sp>
          <p:sp>
            <p:nvSpPr>
              <p:cNvPr id="110" name="Line 120">
                <a:extLst>
                  <a:ext uri="{FF2B5EF4-FFF2-40B4-BE49-F238E27FC236}">
                    <a16:creationId xmlns:a16="http://schemas.microsoft.com/office/drawing/2014/main" id="{BC6222B9-7129-DD6F-17B6-FC5F86531E9A}"/>
                  </a:ext>
                </a:extLst>
              </p:cNvPr>
              <p:cNvSpPr>
                <a:spLocks noChangeShapeType="1"/>
              </p:cNvSpPr>
              <p:nvPr/>
            </p:nvSpPr>
            <p:spPr bwMode="auto">
              <a:xfrm rot="5400000">
                <a:off x="2495" y="3019"/>
                <a:ext cx="22" cy="3"/>
              </a:xfrm>
              <a:prstGeom prst="line">
                <a:avLst/>
              </a:prstGeom>
              <a:noFill/>
              <a:ln w="19050">
                <a:solidFill>
                  <a:schemeClr val="accent1"/>
                </a:solidFill>
                <a:round/>
                <a:headEnd/>
                <a:tailEnd/>
              </a:ln>
            </p:spPr>
            <p:txBody>
              <a:bodyPr/>
              <a:lstStyle/>
              <a:p>
                <a:endParaRPr lang="en-GB"/>
              </a:p>
            </p:txBody>
          </p:sp>
          <p:sp>
            <p:nvSpPr>
              <p:cNvPr id="111" name="Line 121">
                <a:extLst>
                  <a:ext uri="{FF2B5EF4-FFF2-40B4-BE49-F238E27FC236}">
                    <a16:creationId xmlns:a16="http://schemas.microsoft.com/office/drawing/2014/main" id="{7D2DB638-9690-658A-6F9B-B3E2718471D5}"/>
                  </a:ext>
                </a:extLst>
              </p:cNvPr>
              <p:cNvSpPr>
                <a:spLocks noChangeShapeType="1"/>
              </p:cNvSpPr>
              <p:nvPr/>
            </p:nvSpPr>
            <p:spPr bwMode="auto">
              <a:xfrm rot="5400000">
                <a:off x="2496" y="3039"/>
                <a:ext cx="16" cy="1"/>
              </a:xfrm>
              <a:prstGeom prst="line">
                <a:avLst/>
              </a:prstGeom>
              <a:noFill/>
              <a:ln w="19050">
                <a:solidFill>
                  <a:schemeClr val="accent1"/>
                </a:solidFill>
                <a:round/>
                <a:headEnd/>
                <a:tailEnd/>
              </a:ln>
            </p:spPr>
            <p:txBody>
              <a:bodyPr/>
              <a:lstStyle/>
              <a:p>
                <a:endParaRPr lang="en-GB"/>
              </a:p>
            </p:txBody>
          </p:sp>
          <p:sp>
            <p:nvSpPr>
              <p:cNvPr id="112" name="Line 122">
                <a:extLst>
                  <a:ext uri="{FF2B5EF4-FFF2-40B4-BE49-F238E27FC236}">
                    <a16:creationId xmlns:a16="http://schemas.microsoft.com/office/drawing/2014/main" id="{A34E8C52-E0CC-2E53-9749-E64AA89B5ABD}"/>
                  </a:ext>
                </a:extLst>
              </p:cNvPr>
              <p:cNvSpPr>
                <a:spLocks noChangeShapeType="1"/>
              </p:cNvSpPr>
              <p:nvPr/>
            </p:nvSpPr>
            <p:spPr bwMode="auto">
              <a:xfrm rot="5400000">
                <a:off x="2493" y="3058"/>
                <a:ext cx="22" cy="1"/>
              </a:xfrm>
              <a:prstGeom prst="line">
                <a:avLst/>
              </a:prstGeom>
              <a:noFill/>
              <a:ln w="19050">
                <a:solidFill>
                  <a:schemeClr val="accent1"/>
                </a:solidFill>
                <a:round/>
                <a:headEnd/>
                <a:tailEnd/>
              </a:ln>
            </p:spPr>
            <p:txBody>
              <a:bodyPr/>
              <a:lstStyle/>
              <a:p>
                <a:endParaRPr lang="en-GB"/>
              </a:p>
            </p:txBody>
          </p:sp>
          <p:sp>
            <p:nvSpPr>
              <p:cNvPr id="113" name="Line 123">
                <a:extLst>
                  <a:ext uri="{FF2B5EF4-FFF2-40B4-BE49-F238E27FC236}">
                    <a16:creationId xmlns:a16="http://schemas.microsoft.com/office/drawing/2014/main" id="{E9325E23-9B8E-7963-2519-3A6D0322DCD7}"/>
                  </a:ext>
                </a:extLst>
              </p:cNvPr>
              <p:cNvSpPr>
                <a:spLocks noChangeShapeType="1"/>
              </p:cNvSpPr>
              <p:nvPr/>
            </p:nvSpPr>
            <p:spPr bwMode="auto">
              <a:xfrm rot="5400000">
                <a:off x="2495" y="3078"/>
                <a:ext cx="17" cy="1"/>
              </a:xfrm>
              <a:prstGeom prst="line">
                <a:avLst/>
              </a:prstGeom>
              <a:noFill/>
              <a:ln w="19050">
                <a:solidFill>
                  <a:schemeClr val="accent1"/>
                </a:solidFill>
                <a:round/>
                <a:headEnd/>
                <a:tailEnd/>
              </a:ln>
            </p:spPr>
            <p:txBody>
              <a:bodyPr/>
              <a:lstStyle/>
              <a:p>
                <a:endParaRPr lang="en-GB"/>
              </a:p>
            </p:txBody>
          </p:sp>
          <p:sp>
            <p:nvSpPr>
              <p:cNvPr id="114" name="Freeform 124">
                <a:extLst>
                  <a:ext uri="{FF2B5EF4-FFF2-40B4-BE49-F238E27FC236}">
                    <a16:creationId xmlns:a16="http://schemas.microsoft.com/office/drawing/2014/main" id="{6935DF33-C64C-D5B6-D7B5-64DA76D628B9}"/>
                  </a:ext>
                </a:extLst>
              </p:cNvPr>
              <p:cNvSpPr>
                <a:spLocks/>
              </p:cNvSpPr>
              <p:nvPr/>
            </p:nvSpPr>
            <p:spPr bwMode="auto">
              <a:xfrm rot="5400000">
                <a:off x="2492" y="3096"/>
                <a:ext cx="22" cy="4"/>
              </a:xfrm>
              <a:custGeom>
                <a:avLst/>
                <a:gdLst/>
                <a:ahLst/>
                <a:cxnLst>
                  <a:cxn ang="0">
                    <a:pos x="0" y="0"/>
                  </a:cxn>
                  <a:cxn ang="0">
                    <a:pos x="8" y="0"/>
                  </a:cxn>
                  <a:cxn ang="0">
                    <a:pos x="20" y="4"/>
                  </a:cxn>
                </a:cxnLst>
                <a:rect l="0" t="0" r="r" b="b"/>
                <a:pathLst>
                  <a:path w="20" h="4">
                    <a:moveTo>
                      <a:pt x="0" y="0"/>
                    </a:moveTo>
                    <a:lnTo>
                      <a:pt x="8" y="0"/>
                    </a:lnTo>
                    <a:lnTo>
                      <a:pt x="20" y="4"/>
                    </a:lnTo>
                  </a:path>
                </a:pathLst>
              </a:custGeom>
              <a:noFill/>
              <a:ln w="19050" cmpd="sng">
                <a:solidFill>
                  <a:schemeClr val="accent1"/>
                </a:solidFill>
                <a:prstDash val="solid"/>
                <a:round/>
                <a:headEnd/>
                <a:tailEnd/>
              </a:ln>
            </p:spPr>
            <p:txBody>
              <a:bodyPr/>
              <a:lstStyle/>
              <a:p>
                <a:endParaRPr lang="en-GB"/>
              </a:p>
            </p:txBody>
          </p:sp>
        </p:grpSp>
        <mc:AlternateContent xmlns:mc="http://schemas.openxmlformats.org/markup-compatibility/2006" xmlns:a14="http://schemas.microsoft.com/office/drawing/2010/main">
          <mc:Choice Requires="a14">
            <p:sp>
              <p:nvSpPr>
                <p:cNvPr id="42" name="Object 27">
                  <a:extLst>
                    <a:ext uri="{FF2B5EF4-FFF2-40B4-BE49-F238E27FC236}">
                      <a16:creationId xmlns:a16="http://schemas.microsoft.com/office/drawing/2014/main" id="{88746DAB-B120-A706-5F96-1F3F1E78E111}"/>
                    </a:ext>
                  </a:extLst>
                </p:cNvPr>
                <p:cNvSpPr txBox="1"/>
                <p:nvPr/>
              </p:nvSpPr>
              <p:spPr bwMode="auto">
                <a:xfrm>
                  <a:off x="6279660" y="2858688"/>
                  <a:ext cx="238710" cy="312390"/>
                </a:xfrm>
                <a:prstGeom prst="rect">
                  <a:avLst/>
                </a:prstGeom>
                <a:noFill/>
              </p:spPr>
              <p:txBody>
                <a:bodyPr>
                  <a:normAutofit fontScale="25000" lnSpcReduction="20000"/>
                </a:bodyPr>
                <a:lstStyle/>
                <a:p>
                  <a:pPr/>
                  <a14:m>
                    <m:oMathPara xmlns:m="http://schemas.openxmlformats.org/officeDocument/2006/math">
                      <m:oMathParaPr>
                        <m:jc m:val="center"/>
                      </m:oMathParaPr>
                      <m:oMath>
                        <m:r>
                          <a:rPr lang="en-GB" sz="4800" i="1">
                            <a:solidFill>
                              <a:srgbClr val="000000"/>
                            </a:solidFill>
                            <a:latin typeface="Cambria Math" panose="02040503050406030204" pitchFamily="18" charset="0"/>
                          </a:rPr>
                          <m:t>𝜎</m:t>
                        </m:r>
                      </m:oMath>
                    </m:oMathPara>
                  </a14:m>
                  <a:endParaRPr lang="en-GB" dirty="0"/>
                </a:p>
              </p:txBody>
            </p:sp>
          </mc:Choice>
          <mc:Fallback xmlns="">
            <p:sp>
              <p:nvSpPr>
                <p:cNvPr id="42" name="Object 27">
                  <a:extLst>
                    <a:ext uri="{FF2B5EF4-FFF2-40B4-BE49-F238E27FC236}">
                      <a16:creationId xmlns:a16="http://schemas.microsoft.com/office/drawing/2014/main" id="{88746DAB-B120-A706-5F96-1F3F1E78E111}"/>
                    </a:ext>
                  </a:extLst>
                </p:cNvPr>
                <p:cNvSpPr txBox="1">
                  <a:spLocks noRot="1" noChangeAspect="1" noMove="1" noResize="1" noEditPoints="1" noAdjustHandles="1" noChangeArrowheads="1" noChangeShapeType="1" noTextEdit="1"/>
                </p:cNvSpPr>
                <p:nvPr/>
              </p:nvSpPr>
              <p:spPr bwMode="auto">
                <a:xfrm>
                  <a:off x="6279660" y="2858688"/>
                  <a:ext cx="238710" cy="312390"/>
                </a:xfrm>
                <a:prstGeom prst="rect">
                  <a:avLst/>
                </a:prstGeom>
                <a:blipFill>
                  <a:blip r:embed="rId3"/>
                  <a:stretch>
                    <a:fillRect r="-2778"/>
                  </a:stretch>
                </a:blipFill>
              </p:spPr>
              <p:txBody>
                <a:bodyPr/>
                <a:lstStyle/>
                <a:p>
                  <a:r>
                    <a:rPr lang="en-GB">
                      <a:noFill/>
                    </a:rPr>
                    <a:t> </a:t>
                  </a:r>
                </a:p>
              </p:txBody>
            </p:sp>
          </mc:Fallback>
        </mc:AlternateContent>
      </p:grpSp>
      <p:sp>
        <p:nvSpPr>
          <p:cNvPr id="115" name="Line 20">
            <a:extLst>
              <a:ext uri="{FF2B5EF4-FFF2-40B4-BE49-F238E27FC236}">
                <a16:creationId xmlns:a16="http://schemas.microsoft.com/office/drawing/2014/main" id="{1F9A390A-911E-C6C0-1217-E8918B2EA61A}"/>
              </a:ext>
            </a:extLst>
          </p:cNvPr>
          <p:cNvSpPr>
            <a:spLocks noChangeShapeType="1"/>
          </p:cNvSpPr>
          <p:nvPr/>
        </p:nvSpPr>
        <p:spPr bwMode="auto">
          <a:xfrm>
            <a:off x="8002209" y="3309813"/>
            <a:ext cx="1742" cy="359753"/>
          </a:xfrm>
          <a:prstGeom prst="line">
            <a:avLst/>
          </a:prstGeom>
          <a:noFill/>
          <a:ln w="9525">
            <a:solidFill>
              <a:schemeClr val="tx1"/>
            </a:solidFill>
            <a:round/>
            <a:headEnd/>
            <a:tailEnd type="triangle" w="med" len="med"/>
          </a:ln>
          <a:effectLst/>
        </p:spPr>
        <p:txBody>
          <a:bodyPr wrap="none" lIns="0" tIns="0" rIns="0" bIns="0" anchor="ctr"/>
          <a:lstStyle/>
          <a:p>
            <a:endParaRPr lang="en-GB"/>
          </a:p>
        </p:txBody>
      </p:sp>
      <p:sp>
        <p:nvSpPr>
          <p:cNvPr id="116" name="Line 21">
            <a:extLst>
              <a:ext uri="{FF2B5EF4-FFF2-40B4-BE49-F238E27FC236}">
                <a16:creationId xmlns:a16="http://schemas.microsoft.com/office/drawing/2014/main" id="{41ED949C-512B-BD78-4FF0-EFD145A1A8CD}"/>
              </a:ext>
            </a:extLst>
          </p:cNvPr>
          <p:cNvSpPr>
            <a:spLocks noChangeShapeType="1"/>
          </p:cNvSpPr>
          <p:nvPr/>
        </p:nvSpPr>
        <p:spPr bwMode="auto">
          <a:xfrm flipV="1">
            <a:off x="8002481" y="2944954"/>
            <a:ext cx="1" cy="364912"/>
          </a:xfrm>
          <a:prstGeom prst="line">
            <a:avLst/>
          </a:prstGeom>
          <a:noFill/>
          <a:ln w="9525">
            <a:solidFill>
              <a:schemeClr val="tx1"/>
            </a:solidFill>
            <a:round/>
            <a:headEnd/>
            <a:tailEnd type="triangle" w="med" len="med"/>
          </a:ln>
          <a:effectLst/>
        </p:spPr>
        <p:txBody>
          <a:bodyPr wrap="none" lIns="0" tIns="0" rIns="0" bIns="0" anchor="ctr"/>
          <a:lstStyle/>
          <a:p>
            <a:endParaRPr lang="en-GB"/>
          </a:p>
        </p:txBody>
      </p:sp>
      <p:sp>
        <p:nvSpPr>
          <p:cNvPr id="117" name="Text Box 24">
            <a:extLst>
              <a:ext uri="{FF2B5EF4-FFF2-40B4-BE49-F238E27FC236}">
                <a16:creationId xmlns:a16="http://schemas.microsoft.com/office/drawing/2014/main" id="{2B662526-AEC6-9181-0C0E-135832E38203}"/>
              </a:ext>
            </a:extLst>
          </p:cNvPr>
          <p:cNvSpPr txBox="1">
            <a:spLocks noChangeArrowheads="1"/>
          </p:cNvSpPr>
          <p:nvPr/>
        </p:nvSpPr>
        <p:spPr bwMode="auto">
          <a:xfrm>
            <a:off x="8144638" y="1917089"/>
            <a:ext cx="539838" cy="153888"/>
          </a:xfrm>
          <a:prstGeom prst="rect">
            <a:avLst/>
          </a:prstGeom>
          <a:noFill/>
          <a:ln w="9525">
            <a:noFill/>
            <a:miter lim="800000"/>
            <a:headEnd/>
            <a:tailEnd/>
          </a:ln>
          <a:effectLst/>
        </p:spPr>
        <p:txBody>
          <a:bodyPr wrap="square" lIns="0" tIns="0" rIns="0" bIns="0">
            <a:spAutoFit/>
          </a:bodyPr>
          <a:lstStyle/>
          <a:p>
            <a:pPr defTabSz="858838"/>
            <a:r>
              <a:rPr lang="en-GB" sz="1000" dirty="0"/>
              <a:t>Likelihood</a:t>
            </a:r>
          </a:p>
        </p:txBody>
      </p:sp>
      <p:sp>
        <p:nvSpPr>
          <p:cNvPr id="118" name="Rectangle 25">
            <a:extLst>
              <a:ext uri="{FF2B5EF4-FFF2-40B4-BE49-F238E27FC236}">
                <a16:creationId xmlns:a16="http://schemas.microsoft.com/office/drawing/2014/main" id="{22143C38-10E0-5966-E6BC-37D34A2C6B60}"/>
              </a:ext>
            </a:extLst>
          </p:cNvPr>
          <p:cNvSpPr>
            <a:spLocks noChangeArrowheads="1"/>
          </p:cNvSpPr>
          <p:nvPr/>
        </p:nvSpPr>
        <p:spPr bwMode="auto">
          <a:xfrm>
            <a:off x="7750494" y="4519181"/>
            <a:ext cx="355354" cy="153888"/>
          </a:xfrm>
          <a:prstGeom prst="rect">
            <a:avLst/>
          </a:prstGeom>
          <a:noFill/>
          <a:ln w="9525">
            <a:noFill/>
            <a:miter lim="800000"/>
            <a:headEnd/>
            <a:tailEnd/>
          </a:ln>
          <a:effectLst/>
        </p:spPr>
        <p:txBody>
          <a:bodyPr wrap="square" lIns="0" tIns="0" rIns="0" bIns="0">
            <a:spAutoFit/>
          </a:bodyPr>
          <a:lstStyle/>
          <a:p>
            <a:pPr defTabSz="858838"/>
            <a:r>
              <a:rPr lang="en-GB" sz="1000" dirty="0"/>
              <a:t>Return</a:t>
            </a:r>
          </a:p>
        </p:txBody>
      </p:sp>
      <mc:AlternateContent xmlns:mc="http://schemas.openxmlformats.org/markup-compatibility/2006" xmlns:a14="http://schemas.microsoft.com/office/drawing/2010/main">
        <mc:Choice Requires="a14">
          <p:sp>
            <p:nvSpPr>
              <p:cNvPr id="119" name="Object 27">
                <a:extLst>
                  <a:ext uri="{FF2B5EF4-FFF2-40B4-BE49-F238E27FC236}">
                    <a16:creationId xmlns:a16="http://schemas.microsoft.com/office/drawing/2014/main" id="{266E27A0-5E08-627D-1E1D-1FF60BD27FA3}"/>
                  </a:ext>
                </a:extLst>
              </p:cNvPr>
              <p:cNvSpPr txBox="1"/>
              <p:nvPr/>
            </p:nvSpPr>
            <p:spPr bwMode="auto">
              <a:xfrm>
                <a:off x="7926092" y="3017416"/>
                <a:ext cx="358397" cy="263111"/>
              </a:xfrm>
              <a:prstGeom prst="rect">
                <a:avLst/>
              </a:prstGeom>
              <a:noFill/>
            </p:spPr>
            <p:txBody>
              <a:bodyPr>
                <a:normAutofit fontScale="25000" lnSpcReduction="20000"/>
              </a:bodyPr>
              <a:lstStyle/>
              <a:p>
                <a:pPr/>
                <a14:m>
                  <m:oMathPara xmlns:m="http://schemas.openxmlformats.org/officeDocument/2006/math">
                    <m:oMathParaPr>
                      <m:jc m:val="center"/>
                    </m:oMathParaPr>
                    <m:oMath>
                      <m:rad>
                        <m:radPr>
                          <m:degHide m:val="on"/>
                          <m:ctrlPr>
                            <a:rPr lang="en-GB" sz="4800" i="1" smtClean="0">
                              <a:solidFill>
                                <a:srgbClr val="000000"/>
                              </a:solidFill>
                              <a:latin typeface="Cambria Math" panose="02040503050406030204" pitchFamily="18" charset="0"/>
                            </a:rPr>
                          </m:ctrlPr>
                        </m:radPr>
                        <m:deg/>
                        <m:e>
                          <m:r>
                            <a:rPr lang="en-GB" sz="4800" b="0" i="1" smtClean="0">
                              <a:solidFill>
                                <a:srgbClr val="000000"/>
                              </a:solidFill>
                              <a:latin typeface="Cambria Math" panose="02040503050406030204" pitchFamily="18" charset="0"/>
                            </a:rPr>
                            <m:t>2</m:t>
                          </m:r>
                        </m:e>
                      </m:rad>
                      <m:r>
                        <a:rPr lang="en-GB" sz="4800" i="1">
                          <a:solidFill>
                            <a:srgbClr val="000000"/>
                          </a:solidFill>
                          <a:latin typeface="Cambria Math" panose="02040503050406030204" pitchFamily="18" charset="0"/>
                        </a:rPr>
                        <m:t>𝜎</m:t>
                      </m:r>
                    </m:oMath>
                  </m:oMathPara>
                </a14:m>
                <a:endParaRPr lang="en-GB" dirty="0"/>
              </a:p>
            </p:txBody>
          </p:sp>
        </mc:Choice>
        <mc:Fallback xmlns="">
          <p:sp>
            <p:nvSpPr>
              <p:cNvPr id="119" name="Object 27">
                <a:extLst>
                  <a:ext uri="{FF2B5EF4-FFF2-40B4-BE49-F238E27FC236}">
                    <a16:creationId xmlns:a16="http://schemas.microsoft.com/office/drawing/2014/main" id="{266E27A0-5E08-627D-1E1D-1FF60BD27FA3}"/>
                  </a:ext>
                </a:extLst>
              </p:cNvPr>
              <p:cNvSpPr txBox="1">
                <a:spLocks noRot="1" noChangeAspect="1" noMove="1" noResize="1" noEditPoints="1" noAdjustHandles="1" noChangeArrowheads="1" noChangeShapeType="1" noTextEdit="1"/>
              </p:cNvSpPr>
              <p:nvPr/>
            </p:nvSpPr>
            <p:spPr bwMode="auto">
              <a:xfrm>
                <a:off x="7926092" y="3017416"/>
                <a:ext cx="358397" cy="263111"/>
              </a:xfrm>
              <a:prstGeom prst="rect">
                <a:avLst/>
              </a:prstGeom>
              <a:blipFill>
                <a:blip r:embed="rId4"/>
                <a:stretch>
                  <a:fillRect r="-13559"/>
                </a:stretch>
              </a:blipFill>
            </p:spPr>
            <p:txBody>
              <a:bodyPr/>
              <a:lstStyle/>
              <a:p>
                <a:r>
                  <a:rPr lang="en-GB">
                    <a:noFill/>
                  </a:rPr>
                  <a:t> </a:t>
                </a:r>
              </a:p>
            </p:txBody>
          </p:sp>
        </mc:Fallback>
      </mc:AlternateContent>
      <p:sp>
        <p:nvSpPr>
          <p:cNvPr id="120" name="Line 49">
            <a:extLst>
              <a:ext uri="{FF2B5EF4-FFF2-40B4-BE49-F238E27FC236}">
                <a16:creationId xmlns:a16="http://schemas.microsoft.com/office/drawing/2014/main" id="{9DE830E3-ADE6-192A-6EA1-324132907CAA}"/>
              </a:ext>
            </a:extLst>
          </p:cNvPr>
          <p:cNvSpPr>
            <a:spLocks noChangeShapeType="1"/>
          </p:cNvSpPr>
          <p:nvPr/>
        </p:nvSpPr>
        <p:spPr bwMode="auto">
          <a:xfrm rot="5400000" flipV="1">
            <a:off x="8113318" y="1387186"/>
            <a:ext cx="0" cy="965304"/>
          </a:xfrm>
          <a:prstGeom prst="line">
            <a:avLst/>
          </a:prstGeom>
          <a:noFill/>
          <a:ln w="9525">
            <a:solidFill>
              <a:schemeClr val="tx1"/>
            </a:solidFill>
            <a:round/>
            <a:headEnd/>
            <a:tailEnd type="triangle" w="med" len="med"/>
          </a:ln>
          <a:effectLst/>
        </p:spPr>
        <p:txBody>
          <a:bodyPr wrap="none" lIns="0" tIns="0" rIns="0" bIns="0" anchor="ctr"/>
          <a:lstStyle/>
          <a:p>
            <a:endParaRPr lang="en-GB"/>
          </a:p>
        </p:txBody>
      </p:sp>
      <p:sp>
        <p:nvSpPr>
          <p:cNvPr id="121" name="Line 50">
            <a:extLst>
              <a:ext uri="{FF2B5EF4-FFF2-40B4-BE49-F238E27FC236}">
                <a16:creationId xmlns:a16="http://schemas.microsoft.com/office/drawing/2014/main" id="{B996C40B-9566-0ACE-D96F-8692E58CEE3A}"/>
              </a:ext>
            </a:extLst>
          </p:cNvPr>
          <p:cNvSpPr>
            <a:spLocks noChangeShapeType="1"/>
          </p:cNvSpPr>
          <p:nvPr/>
        </p:nvSpPr>
        <p:spPr bwMode="auto">
          <a:xfrm rot="5400000">
            <a:off x="8143775" y="2794611"/>
            <a:ext cx="0" cy="1027582"/>
          </a:xfrm>
          <a:prstGeom prst="line">
            <a:avLst/>
          </a:prstGeom>
          <a:noFill/>
          <a:ln w="9525">
            <a:solidFill>
              <a:schemeClr val="tx1"/>
            </a:solidFill>
            <a:round/>
            <a:headEnd/>
            <a:tailEnd/>
          </a:ln>
          <a:effectLst/>
        </p:spPr>
        <p:txBody>
          <a:bodyPr wrap="none" lIns="0" tIns="0" rIns="0" bIns="0" anchor="ctr"/>
          <a:lstStyle/>
          <a:p>
            <a:endParaRPr lang="en-GB"/>
          </a:p>
        </p:txBody>
      </p:sp>
      <p:sp>
        <p:nvSpPr>
          <p:cNvPr id="122" name="Line 51">
            <a:extLst>
              <a:ext uri="{FF2B5EF4-FFF2-40B4-BE49-F238E27FC236}">
                <a16:creationId xmlns:a16="http://schemas.microsoft.com/office/drawing/2014/main" id="{A40A5EE8-0E57-DC2C-1707-FBD1C95E8C65}"/>
              </a:ext>
            </a:extLst>
          </p:cNvPr>
          <p:cNvSpPr>
            <a:spLocks noChangeShapeType="1"/>
          </p:cNvSpPr>
          <p:nvPr/>
        </p:nvSpPr>
        <p:spPr bwMode="auto">
          <a:xfrm rot="5400000">
            <a:off x="6251646" y="3245263"/>
            <a:ext cx="2758040" cy="0"/>
          </a:xfrm>
          <a:prstGeom prst="line">
            <a:avLst/>
          </a:prstGeom>
          <a:noFill/>
          <a:ln w="9525">
            <a:solidFill>
              <a:schemeClr val="tx1"/>
            </a:solidFill>
            <a:round/>
            <a:headEnd/>
            <a:tailEnd type="triangle"/>
          </a:ln>
        </p:spPr>
        <p:txBody>
          <a:bodyPr/>
          <a:lstStyle/>
          <a:p>
            <a:endParaRPr lang="en-GB"/>
          </a:p>
        </p:txBody>
      </p:sp>
      <p:grpSp>
        <p:nvGrpSpPr>
          <p:cNvPr id="123" name="Group 52">
            <a:extLst>
              <a:ext uri="{FF2B5EF4-FFF2-40B4-BE49-F238E27FC236}">
                <a16:creationId xmlns:a16="http://schemas.microsoft.com/office/drawing/2014/main" id="{809F55BE-73B7-CF83-F0FF-8A70EE8C4960}"/>
              </a:ext>
            </a:extLst>
          </p:cNvPr>
          <p:cNvGrpSpPr>
            <a:grpSpLocks/>
          </p:cNvGrpSpPr>
          <p:nvPr/>
        </p:nvGrpSpPr>
        <p:grpSpPr bwMode="auto">
          <a:xfrm>
            <a:off x="7636875" y="2196039"/>
            <a:ext cx="809830" cy="2222299"/>
            <a:chOff x="2501" y="1694"/>
            <a:chExt cx="750" cy="1415"/>
          </a:xfrm>
        </p:grpSpPr>
        <p:sp>
          <p:nvSpPr>
            <p:cNvPr id="124" name="Freeform 53">
              <a:extLst>
                <a:ext uri="{FF2B5EF4-FFF2-40B4-BE49-F238E27FC236}">
                  <a16:creationId xmlns:a16="http://schemas.microsoft.com/office/drawing/2014/main" id="{5B94BBBF-1B39-BECD-20D5-C81AC075A7D0}"/>
                </a:ext>
              </a:extLst>
            </p:cNvPr>
            <p:cNvSpPr>
              <a:spLocks/>
            </p:cNvSpPr>
            <p:nvPr/>
          </p:nvSpPr>
          <p:spPr bwMode="auto">
            <a:xfrm rot="5400000">
              <a:off x="2492" y="1703"/>
              <a:ext cx="21" cy="4"/>
            </a:xfrm>
            <a:custGeom>
              <a:avLst/>
              <a:gdLst/>
              <a:ahLst/>
              <a:cxnLst>
                <a:cxn ang="0">
                  <a:pos x="0" y="4"/>
                </a:cxn>
                <a:cxn ang="0">
                  <a:pos x="8" y="0"/>
                </a:cxn>
                <a:cxn ang="0">
                  <a:pos x="20" y="0"/>
                </a:cxn>
              </a:cxnLst>
              <a:rect l="0" t="0" r="r" b="b"/>
              <a:pathLst>
                <a:path w="20" h="4">
                  <a:moveTo>
                    <a:pt x="0" y="4"/>
                  </a:moveTo>
                  <a:lnTo>
                    <a:pt x="8" y="0"/>
                  </a:lnTo>
                  <a:lnTo>
                    <a:pt x="20" y="0"/>
                  </a:lnTo>
                </a:path>
              </a:pathLst>
            </a:custGeom>
            <a:noFill/>
            <a:ln w="19050" cmpd="sng">
              <a:solidFill>
                <a:schemeClr val="accent1"/>
              </a:solidFill>
              <a:prstDash val="solid"/>
              <a:round/>
              <a:headEnd/>
              <a:tailEnd/>
            </a:ln>
          </p:spPr>
          <p:txBody>
            <a:bodyPr/>
            <a:lstStyle/>
            <a:p>
              <a:endParaRPr lang="en-GB"/>
            </a:p>
          </p:txBody>
        </p:sp>
        <p:sp>
          <p:nvSpPr>
            <p:cNvPr id="125" name="Line 54">
              <a:extLst>
                <a:ext uri="{FF2B5EF4-FFF2-40B4-BE49-F238E27FC236}">
                  <a16:creationId xmlns:a16="http://schemas.microsoft.com/office/drawing/2014/main" id="{DF054B3E-CAB9-242A-0563-226B5C9D21FD}"/>
                </a:ext>
              </a:extLst>
            </p:cNvPr>
            <p:cNvSpPr>
              <a:spLocks noChangeShapeType="1"/>
            </p:cNvSpPr>
            <p:nvPr/>
          </p:nvSpPr>
          <p:spPr bwMode="auto">
            <a:xfrm rot="5400000">
              <a:off x="2495" y="1723"/>
              <a:ext cx="18" cy="1"/>
            </a:xfrm>
            <a:prstGeom prst="line">
              <a:avLst/>
            </a:prstGeom>
            <a:noFill/>
            <a:ln w="19050">
              <a:solidFill>
                <a:schemeClr val="accent1"/>
              </a:solidFill>
              <a:round/>
              <a:headEnd/>
              <a:tailEnd/>
            </a:ln>
          </p:spPr>
          <p:txBody>
            <a:bodyPr/>
            <a:lstStyle/>
            <a:p>
              <a:endParaRPr lang="en-GB"/>
            </a:p>
          </p:txBody>
        </p:sp>
        <p:sp>
          <p:nvSpPr>
            <p:cNvPr id="126" name="Line 55">
              <a:extLst>
                <a:ext uri="{FF2B5EF4-FFF2-40B4-BE49-F238E27FC236}">
                  <a16:creationId xmlns:a16="http://schemas.microsoft.com/office/drawing/2014/main" id="{5DA41A7D-1CDD-36FF-B0AE-CB13BFBEEC68}"/>
                </a:ext>
              </a:extLst>
            </p:cNvPr>
            <p:cNvSpPr>
              <a:spLocks noChangeShapeType="1"/>
            </p:cNvSpPr>
            <p:nvPr/>
          </p:nvSpPr>
          <p:spPr bwMode="auto">
            <a:xfrm rot="5400000">
              <a:off x="2493" y="1743"/>
              <a:ext cx="21" cy="1"/>
            </a:xfrm>
            <a:prstGeom prst="line">
              <a:avLst/>
            </a:prstGeom>
            <a:noFill/>
            <a:ln w="19050">
              <a:solidFill>
                <a:schemeClr val="accent1"/>
              </a:solidFill>
              <a:round/>
              <a:headEnd/>
              <a:tailEnd/>
            </a:ln>
          </p:spPr>
          <p:txBody>
            <a:bodyPr/>
            <a:lstStyle/>
            <a:p>
              <a:endParaRPr lang="en-GB"/>
            </a:p>
          </p:txBody>
        </p:sp>
        <p:sp>
          <p:nvSpPr>
            <p:cNvPr id="127" name="Line 56">
              <a:extLst>
                <a:ext uri="{FF2B5EF4-FFF2-40B4-BE49-F238E27FC236}">
                  <a16:creationId xmlns:a16="http://schemas.microsoft.com/office/drawing/2014/main" id="{04976D6A-B76C-0227-5276-91032AF372E8}"/>
                </a:ext>
              </a:extLst>
            </p:cNvPr>
            <p:cNvSpPr>
              <a:spLocks noChangeShapeType="1"/>
            </p:cNvSpPr>
            <p:nvPr/>
          </p:nvSpPr>
          <p:spPr bwMode="auto">
            <a:xfrm rot="5400000">
              <a:off x="2495" y="1762"/>
              <a:ext cx="17" cy="1"/>
            </a:xfrm>
            <a:prstGeom prst="line">
              <a:avLst/>
            </a:prstGeom>
            <a:noFill/>
            <a:ln w="19050">
              <a:solidFill>
                <a:schemeClr val="accent1"/>
              </a:solidFill>
              <a:round/>
              <a:headEnd/>
              <a:tailEnd/>
            </a:ln>
          </p:spPr>
          <p:txBody>
            <a:bodyPr/>
            <a:lstStyle/>
            <a:p>
              <a:endParaRPr lang="en-GB"/>
            </a:p>
          </p:txBody>
        </p:sp>
        <p:sp>
          <p:nvSpPr>
            <p:cNvPr id="128" name="Line 57">
              <a:extLst>
                <a:ext uri="{FF2B5EF4-FFF2-40B4-BE49-F238E27FC236}">
                  <a16:creationId xmlns:a16="http://schemas.microsoft.com/office/drawing/2014/main" id="{E82BF5A4-6107-BAE3-0126-6B09AB357641}"/>
                </a:ext>
              </a:extLst>
            </p:cNvPr>
            <p:cNvSpPr>
              <a:spLocks noChangeShapeType="1"/>
            </p:cNvSpPr>
            <p:nvPr/>
          </p:nvSpPr>
          <p:spPr bwMode="auto">
            <a:xfrm rot="5400000" flipV="1">
              <a:off x="2495" y="1780"/>
              <a:ext cx="22" cy="3"/>
            </a:xfrm>
            <a:prstGeom prst="line">
              <a:avLst/>
            </a:prstGeom>
            <a:noFill/>
            <a:ln w="19050">
              <a:solidFill>
                <a:schemeClr val="accent1"/>
              </a:solidFill>
              <a:round/>
              <a:headEnd/>
              <a:tailEnd/>
            </a:ln>
          </p:spPr>
          <p:txBody>
            <a:bodyPr/>
            <a:lstStyle/>
            <a:p>
              <a:endParaRPr lang="en-GB"/>
            </a:p>
          </p:txBody>
        </p:sp>
        <p:sp>
          <p:nvSpPr>
            <p:cNvPr id="129" name="Line 58">
              <a:extLst>
                <a:ext uri="{FF2B5EF4-FFF2-40B4-BE49-F238E27FC236}">
                  <a16:creationId xmlns:a16="http://schemas.microsoft.com/office/drawing/2014/main" id="{1E4368E1-0FD2-D777-9A0B-E106569948E2}"/>
                </a:ext>
              </a:extLst>
            </p:cNvPr>
            <p:cNvSpPr>
              <a:spLocks noChangeShapeType="1"/>
            </p:cNvSpPr>
            <p:nvPr/>
          </p:nvSpPr>
          <p:spPr bwMode="auto">
            <a:xfrm rot="5400000" flipV="1">
              <a:off x="2498" y="1802"/>
              <a:ext cx="21" cy="3"/>
            </a:xfrm>
            <a:prstGeom prst="line">
              <a:avLst/>
            </a:prstGeom>
            <a:noFill/>
            <a:ln w="19050">
              <a:solidFill>
                <a:schemeClr val="accent1"/>
              </a:solidFill>
              <a:round/>
              <a:headEnd/>
              <a:tailEnd/>
            </a:ln>
          </p:spPr>
          <p:txBody>
            <a:bodyPr/>
            <a:lstStyle/>
            <a:p>
              <a:endParaRPr lang="en-GB"/>
            </a:p>
          </p:txBody>
        </p:sp>
        <p:sp>
          <p:nvSpPr>
            <p:cNvPr id="130" name="Line 59">
              <a:extLst>
                <a:ext uri="{FF2B5EF4-FFF2-40B4-BE49-F238E27FC236}">
                  <a16:creationId xmlns:a16="http://schemas.microsoft.com/office/drawing/2014/main" id="{13943E16-6495-8AAC-6D80-6B93C0A126E7}"/>
                </a:ext>
              </a:extLst>
            </p:cNvPr>
            <p:cNvSpPr>
              <a:spLocks noChangeShapeType="1"/>
            </p:cNvSpPr>
            <p:nvPr/>
          </p:nvSpPr>
          <p:spPr bwMode="auto">
            <a:xfrm rot="5400000" flipV="1">
              <a:off x="2503" y="1821"/>
              <a:ext cx="17" cy="3"/>
            </a:xfrm>
            <a:prstGeom prst="line">
              <a:avLst/>
            </a:prstGeom>
            <a:noFill/>
            <a:ln w="19050">
              <a:solidFill>
                <a:schemeClr val="accent1"/>
              </a:solidFill>
              <a:round/>
              <a:headEnd/>
              <a:tailEnd/>
            </a:ln>
          </p:spPr>
          <p:txBody>
            <a:bodyPr/>
            <a:lstStyle/>
            <a:p>
              <a:endParaRPr lang="en-GB"/>
            </a:p>
          </p:txBody>
        </p:sp>
        <p:sp>
          <p:nvSpPr>
            <p:cNvPr id="131" name="Line 60">
              <a:extLst>
                <a:ext uri="{FF2B5EF4-FFF2-40B4-BE49-F238E27FC236}">
                  <a16:creationId xmlns:a16="http://schemas.microsoft.com/office/drawing/2014/main" id="{A2271465-E34C-6612-AD6D-EEFD5EBFA9F9}"/>
                </a:ext>
              </a:extLst>
            </p:cNvPr>
            <p:cNvSpPr>
              <a:spLocks noChangeShapeType="1"/>
            </p:cNvSpPr>
            <p:nvPr/>
          </p:nvSpPr>
          <p:spPr bwMode="auto">
            <a:xfrm rot="5400000" flipV="1">
              <a:off x="2504" y="1840"/>
              <a:ext cx="22" cy="3"/>
            </a:xfrm>
            <a:prstGeom prst="line">
              <a:avLst/>
            </a:prstGeom>
            <a:noFill/>
            <a:ln w="19050">
              <a:solidFill>
                <a:schemeClr val="accent1"/>
              </a:solidFill>
              <a:round/>
              <a:headEnd/>
              <a:tailEnd/>
            </a:ln>
          </p:spPr>
          <p:txBody>
            <a:bodyPr/>
            <a:lstStyle/>
            <a:p>
              <a:endParaRPr lang="en-GB"/>
            </a:p>
          </p:txBody>
        </p:sp>
        <p:sp>
          <p:nvSpPr>
            <p:cNvPr id="132" name="Line 61">
              <a:extLst>
                <a:ext uri="{FF2B5EF4-FFF2-40B4-BE49-F238E27FC236}">
                  <a16:creationId xmlns:a16="http://schemas.microsoft.com/office/drawing/2014/main" id="{7155CBDF-5449-9523-CABB-2F483B84A34B}"/>
                </a:ext>
              </a:extLst>
            </p:cNvPr>
            <p:cNvSpPr>
              <a:spLocks noChangeShapeType="1"/>
            </p:cNvSpPr>
            <p:nvPr/>
          </p:nvSpPr>
          <p:spPr bwMode="auto">
            <a:xfrm rot="5400000" flipV="1">
              <a:off x="2509" y="1860"/>
              <a:ext cx="17" cy="3"/>
            </a:xfrm>
            <a:prstGeom prst="line">
              <a:avLst/>
            </a:prstGeom>
            <a:noFill/>
            <a:ln w="19050">
              <a:solidFill>
                <a:schemeClr val="accent1"/>
              </a:solidFill>
              <a:round/>
              <a:headEnd/>
              <a:tailEnd/>
            </a:ln>
          </p:spPr>
          <p:txBody>
            <a:bodyPr/>
            <a:lstStyle/>
            <a:p>
              <a:endParaRPr lang="en-GB"/>
            </a:p>
          </p:txBody>
        </p:sp>
        <p:sp>
          <p:nvSpPr>
            <p:cNvPr id="133" name="Line 62">
              <a:extLst>
                <a:ext uri="{FF2B5EF4-FFF2-40B4-BE49-F238E27FC236}">
                  <a16:creationId xmlns:a16="http://schemas.microsoft.com/office/drawing/2014/main" id="{4713D051-F873-CDDE-A415-7D67D50C1788}"/>
                </a:ext>
              </a:extLst>
            </p:cNvPr>
            <p:cNvSpPr>
              <a:spLocks noChangeShapeType="1"/>
            </p:cNvSpPr>
            <p:nvPr/>
          </p:nvSpPr>
          <p:spPr bwMode="auto">
            <a:xfrm rot="5400000" flipV="1">
              <a:off x="2512" y="1877"/>
              <a:ext cx="22" cy="7"/>
            </a:xfrm>
            <a:prstGeom prst="line">
              <a:avLst/>
            </a:prstGeom>
            <a:noFill/>
            <a:ln w="19050">
              <a:solidFill>
                <a:schemeClr val="accent1"/>
              </a:solidFill>
              <a:round/>
              <a:headEnd/>
              <a:tailEnd/>
            </a:ln>
          </p:spPr>
          <p:txBody>
            <a:bodyPr/>
            <a:lstStyle/>
            <a:p>
              <a:endParaRPr lang="en-GB"/>
            </a:p>
          </p:txBody>
        </p:sp>
        <p:sp>
          <p:nvSpPr>
            <p:cNvPr id="134" name="Line 63">
              <a:extLst>
                <a:ext uri="{FF2B5EF4-FFF2-40B4-BE49-F238E27FC236}">
                  <a16:creationId xmlns:a16="http://schemas.microsoft.com/office/drawing/2014/main" id="{ED0562B1-AEEB-7A48-5336-F12D0E932A81}"/>
                </a:ext>
              </a:extLst>
            </p:cNvPr>
            <p:cNvSpPr>
              <a:spLocks noChangeShapeType="1"/>
            </p:cNvSpPr>
            <p:nvPr/>
          </p:nvSpPr>
          <p:spPr bwMode="auto">
            <a:xfrm rot="5400000" flipV="1">
              <a:off x="2521" y="1898"/>
              <a:ext cx="17" cy="6"/>
            </a:xfrm>
            <a:prstGeom prst="line">
              <a:avLst/>
            </a:prstGeom>
            <a:noFill/>
            <a:ln w="19050">
              <a:solidFill>
                <a:schemeClr val="accent1"/>
              </a:solidFill>
              <a:round/>
              <a:headEnd/>
              <a:tailEnd/>
            </a:ln>
          </p:spPr>
          <p:txBody>
            <a:bodyPr/>
            <a:lstStyle/>
            <a:p>
              <a:endParaRPr lang="en-GB"/>
            </a:p>
          </p:txBody>
        </p:sp>
        <p:sp>
          <p:nvSpPr>
            <p:cNvPr id="135" name="Line 64">
              <a:extLst>
                <a:ext uri="{FF2B5EF4-FFF2-40B4-BE49-F238E27FC236}">
                  <a16:creationId xmlns:a16="http://schemas.microsoft.com/office/drawing/2014/main" id="{FE3396EC-338B-69D2-8475-A303DE98AF03}"/>
                </a:ext>
              </a:extLst>
            </p:cNvPr>
            <p:cNvSpPr>
              <a:spLocks noChangeShapeType="1"/>
            </p:cNvSpPr>
            <p:nvPr/>
          </p:nvSpPr>
          <p:spPr bwMode="auto">
            <a:xfrm rot="5400000" flipV="1">
              <a:off x="2526" y="1915"/>
              <a:ext cx="21" cy="9"/>
            </a:xfrm>
            <a:prstGeom prst="line">
              <a:avLst/>
            </a:prstGeom>
            <a:noFill/>
            <a:ln w="19050">
              <a:solidFill>
                <a:schemeClr val="accent1"/>
              </a:solidFill>
              <a:round/>
              <a:headEnd/>
              <a:tailEnd/>
            </a:ln>
          </p:spPr>
          <p:txBody>
            <a:bodyPr/>
            <a:lstStyle/>
            <a:p>
              <a:endParaRPr lang="en-GB"/>
            </a:p>
          </p:txBody>
        </p:sp>
        <p:sp>
          <p:nvSpPr>
            <p:cNvPr id="136" name="Line 65">
              <a:extLst>
                <a:ext uri="{FF2B5EF4-FFF2-40B4-BE49-F238E27FC236}">
                  <a16:creationId xmlns:a16="http://schemas.microsoft.com/office/drawing/2014/main" id="{1C93B7AD-96E1-BF5E-43F8-4D15AA74600A}"/>
                </a:ext>
              </a:extLst>
            </p:cNvPr>
            <p:cNvSpPr>
              <a:spLocks noChangeShapeType="1"/>
            </p:cNvSpPr>
            <p:nvPr/>
          </p:nvSpPr>
          <p:spPr bwMode="auto">
            <a:xfrm rot="5400000" flipV="1">
              <a:off x="2537" y="1934"/>
              <a:ext cx="22" cy="13"/>
            </a:xfrm>
            <a:prstGeom prst="line">
              <a:avLst/>
            </a:prstGeom>
            <a:noFill/>
            <a:ln w="19050">
              <a:solidFill>
                <a:schemeClr val="accent1"/>
              </a:solidFill>
              <a:round/>
              <a:headEnd/>
              <a:tailEnd/>
            </a:ln>
          </p:spPr>
          <p:txBody>
            <a:bodyPr/>
            <a:lstStyle/>
            <a:p>
              <a:endParaRPr lang="en-GB"/>
            </a:p>
          </p:txBody>
        </p:sp>
        <p:sp>
          <p:nvSpPr>
            <p:cNvPr id="137" name="Line 66">
              <a:extLst>
                <a:ext uri="{FF2B5EF4-FFF2-40B4-BE49-F238E27FC236}">
                  <a16:creationId xmlns:a16="http://schemas.microsoft.com/office/drawing/2014/main" id="{088A3BF9-A9EF-2AC0-C3E7-5E1202AB8D9E}"/>
                </a:ext>
              </a:extLst>
            </p:cNvPr>
            <p:cNvSpPr>
              <a:spLocks noChangeShapeType="1"/>
            </p:cNvSpPr>
            <p:nvPr/>
          </p:nvSpPr>
          <p:spPr bwMode="auto">
            <a:xfrm rot="5400000" flipV="1">
              <a:off x="2552" y="1954"/>
              <a:ext cx="17" cy="13"/>
            </a:xfrm>
            <a:prstGeom prst="line">
              <a:avLst/>
            </a:prstGeom>
            <a:noFill/>
            <a:ln w="19050">
              <a:solidFill>
                <a:schemeClr val="accent1"/>
              </a:solidFill>
              <a:round/>
              <a:headEnd/>
              <a:tailEnd/>
            </a:ln>
          </p:spPr>
          <p:txBody>
            <a:bodyPr/>
            <a:lstStyle/>
            <a:p>
              <a:endParaRPr lang="en-GB"/>
            </a:p>
          </p:txBody>
        </p:sp>
        <p:sp>
          <p:nvSpPr>
            <p:cNvPr id="138" name="Line 67">
              <a:extLst>
                <a:ext uri="{FF2B5EF4-FFF2-40B4-BE49-F238E27FC236}">
                  <a16:creationId xmlns:a16="http://schemas.microsoft.com/office/drawing/2014/main" id="{ED8AD347-AE7D-7FB9-C421-9873A4818A79}"/>
                </a:ext>
              </a:extLst>
            </p:cNvPr>
            <p:cNvSpPr>
              <a:spLocks noChangeShapeType="1"/>
            </p:cNvSpPr>
            <p:nvPr/>
          </p:nvSpPr>
          <p:spPr bwMode="auto">
            <a:xfrm rot="5400000" flipV="1">
              <a:off x="2564" y="1972"/>
              <a:ext cx="22" cy="15"/>
            </a:xfrm>
            <a:prstGeom prst="line">
              <a:avLst/>
            </a:prstGeom>
            <a:noFill/>
            <a:ln w="19050">
              <a:solidFill>
                <a:schemeClr val="accent1"/>
              </a:solidFill>
              <a:round/>
              <a:headEnd/>
              <a:tailEnd/>
            </a:ln>
          </p:spPr>
          <p:txBody>
            <a:bodyPr/>
            <a:lstStyle/>
            <a:p>
              <a:endParaRPr lang="en-GB"/>
            </a:p>
          </p:txBody>
        </p:sp>
        <p:sp>
          <p:nvSpPr>
            <p:cNvPr id="139" name="Line 68">
              <a:extLst>
                <a:ext uri="{FF2B5EF4-FFF2-40B4-BE49-F238E27FC236}">
                  <a16:creationId xmlns:a16="http://schemas.microsoft.com/office/drawing/2014/main" id="{62D8C83A-E6F7-AD36-C719-7E022CF2D7C0}"/>
                </a:ext>
              </a:extLst>
            </p:cNvPr>
            <p:cNvSpPr>
              <a:spLocks noChangeShapeType="1"/>
            </p:cNvSpPr>
            <p:nvPr/>
          </p:nvSpPr>
          <p:spPr bwMode="auto">
            <a:xfrm rot="5400000" flipV="1">
              <a:off x="2583" y="1990"/>
              <a:ext cx="17" cy="19"/>
            </a:xfrm>
            <a:prstGeom prst="line">
              <a:avLst/>
            </a:prstGeom>
            <a:noFill/>
            <a:ln w="19050">
              <a:solidFill>
                <a:schemeClr val="accent1"/>
              </a:solidFill>
              <a:round/>
              <a:headEnd/>
              <a:tailEnd/>
            </a:ln>
          </p:spPr>
          <p:txBody>
            <a:bodyPr/>
            <a:lstStyle/>
            <a:p>
              <a:endParaRPr lang="en-GB"/>
            </a:p>
          </p:txBody>
        </p:sp>
        <p:sp>
          <p:nvSpPr>
            <p:cNvPr id="140" name="Line 69">
              <a:extLst>
                <a:ext uri="{FF2B5EF4-FFF2-40B4-BE49-F238E27FC236}">
                  <a16:creationId xmlns:a16="http://schemas.microsoft.com/office/drawing/2014/main" id="{ED9934A9-ED38-B219-86A1-46711B0157D5}"/>
                </a:ext>
              </a:extLst>
            </p:cNvPr>
            <p:cNvSpPr>
              <a:spLocks noChangeShapeType="1"/>
            </p:cNvSpPr>
            <p:nvPr/>
          </p:nvSpPr>
          <p:spPr bwMode="auto">
            <a:xfrm rot="5400000" flipV="1">
              <a:off x="2602" y="2008"/>
              <a:ext cx="21" cy="22"/>
            </a:xfrm>
            <a:prstGeom prst="line">
              <a:avLst/>
            </a:prstGeom>
            <a:noFill/>
            <a:ln w="19050">
              <a:solidFill>
                <a:schemeClr val="accent1"/>
              </a:solidFill>
              <a:round/>
              <a:headEnd/>
              <a:tailEnd/>
            </a:ln>
          </p:spPr>
          <p:txBody>
            <a:bodyPr/>
            <a:lstStyle/>
            <a:p>
              <a:endParaRPr lang="en-GB"/>
            </a:p>
          </p:txBody>
        </p:sp>
        <p:sp>
          <p:nvSpPr>
            <p:cNvPr id="141" name="Line 70">
              <a:extLst>
                <a:ext uri="{FF2B5EF4-FFF2-40B4-BE49-F238E27FC236}">
                  <a16:creationId xmlns:a16="http://schemas.microsoft.com/office/drawing/2014/main" id="{A253A992-5F3E-A5A9-4A91-49AD20FEAE64}"/>
                </a:ext>
              </a:extLst>
            </p:cNvPr>
            <p:cNvSpPr>
              <a:spLocks noChangeShapeType="1"/>
            </p:cNvSpPr>
            <p:nvPr/>
          </p:nvSpPr>
          <p:spPr bwMode="auto">
            <a:xfrm rot="5400000" flipV="1">
              <a:off x="2627" y="2025"/>
              <a:ext cx="18" cy="25"/>
            </a:xfrm>
            <a:prstGeom prst="line">
              <a:avLst/>
            </a:prstGeom>
            <a:noFill/>
            <a:ln w="19050">
              <a:solidFill>
                <a:schemeClr val="accent1"/>
              </a:solidFill>
              <a:round/>
              <a:headEnd/>
              <a:tailEnd/>
            </a:ln>
          </p:spPr>
          <p:txBody>
            <a:bodyPr/>
            <a:lstStyle/>
            <a:p>
              <a:endParaRPr lang="en-GB"/>
            </a:p>
          </p:txBody>
        </p:sp>
        <p:sp>
          <p:nvSpPr>
            <p:cNvPr id="142" name="Line 71">
              <a:extLst>
                <a:ext uri="{FF2B5EF4-FFF2-40B4-BE49-F238E27FC236}">
                  <a16:creationId xmlns:a16="http://schemas.microsoft.com/office/drawing/2014/main" id="{3D458D2B-191B-9AE3-4D4B-8D36ED5ACBA4}"/>
                </a:ext>
              </a:extLst>
            </p:cNvPr>
            <p:cNvSpPr>
              <a:spLocks noChangeShapeType="1"/>
            </p:cNvSpPr>
            <p:nvPr/>
          </p:nvSpPr>
          <p:spPr bwMode="auto">
            <a:xfrm rot="5400000" flipV="1">
              <a:off x="2652" y="2043"/>
              <a:ext cx="21" cy="29"/>
            </a:xfrm>
            <a:prstGeom prst="line">
              <a:avLst/>
            </a:prstGeom>
            <a:noFill/>
            <a:ln w="19050">
              <a:solidFill>
                <a:schemeClr val="accent1"/>
              </a:solidFill>
              <a:round/>
              <a:headEnd/>
              <a:tailEnd/>
            </a:ln>
          </p:spPr>
          <p:txBody>
            <a:bodyPr/>
            <a:lstStyle/>
            <a:p>
              <a:endParaRPr lang="en-GB"/>
            </a:p>
          </p:txBody>
        </p:sp>
        <p:sp>
          <p:nvSpPr>
            <p:cNvPr id="143" name="Line 72">
              <a:extLst>
                <a:ext uri="{FF2B5EF4-FFF2-40B4-BE49-F238E27FC236}">
                  <a16:creationId xmlns:a16="http://schemas.microsoft.com/office/drawing/2014/main" id="{2E373C5D-C50F-7020-E231-E64056831125}"/>
                </a:ext>
              </a:extLst>
            </p:cNvPr>
            <p:cNvSpPr>
              <a:spLocks noChangeShapeType="1"/>
            </p:cNvSpPr>
            <p:nvPr/>
          </p:nvSpPr>
          <p:spPr bwMode="auto">
            <a:xfrm rot="5400000" flipV="1">
              <a:off x="2684" y="2061"/>
              <a:ext cx="17" cy="31"/>
            </a:xfrm>
            <a:prstGeom prst="line">
              <a:avLst/>
            </a:prstGeom>
            <a:noFill/>
            <a:ln w="19050">
              <a:solidFill>
                <a:schemeClr val="accent1"/>
              </a:solidFill>
              <a:round/>
              <a:headEnd/>
              <a:tailEnd/>
            </a:ln>
          </p:spPr>
          <p:txBody>
            <a:bodyPr/>
            <a:lstStyle/>
            <a:p>
              <a:endParaRPr lang="en-GB"/>
            </a:p>
          </p:txBody>
        </p:sp>
        <p:sp>
          <p:nvSpPr>
            <p:cNvPr id="144" name="Line 73">
              <a:extLst>
                <a:ext uri="{FF2B5EF4-FFF2-40B4-BE49-F238E27FC236}">
                  <a16:creationId xmlns:a16="http://schemas.microsoft.com/office/drawing/2014/main" id="{F04D7F10-2DB1-3037-FBED-43661205521D}"/>
                </a:ext>
              </a:extLst>
            </p:cNvPr>
            <p:cNvSpPr>
              <a:spLocks noChangeShapeType="1"/>
            </p:cNvSpPr>
            <p:nvPr/>
          </p:nvSpPr>
          <p:spPr bwMode="auto">
            <a:xfrm rot="5400000" flipV="1">
              <a:off x="2715" y="2078"/>
              <a:ext cx="22" cy="35"/>
            </a:xfrm>
            <a:prstGeom prst="line">
              <a:avLst/>
            </a:prstGeom>
            <a:noFill/>
            <a:ln w="19050">
              <a:solidFill>
                <a:schemeClr val="accent1"/>
              </a:solidFill>
              <a:round/>
              <a:headEnd/>
              <a:tailEnd/>
            </a:ln>
          </p:spPr>
          <p:txBody>
            <a:bodyPr/>
            <a:lstStyle/>
            <a:p>
              <a:endParaRPr lang="en-GB"/>
            </a:p>
          </p:txBody>
        </p:sp>
        <p:sp>
          <p:nvSpPr>
            <p:cNvPr id="145" name="Line 74">
              <a:extLst>
                <a:ext uri="{FF2B5EF4-FFF2-40B4-BE49-F238E27FC236}">
                  <a16:creationId xmlns:a16="http://schemas.microsoft.com/office/drawing/2014/main" id="{3A4F1075-FE91-1E19-0401-8FBC6A9AB30D}"/>
                </a:ext>
              </a:extLst>
            </p:cNvPr>
            <p:cNvSpPr>
              <a:spLocks noChangeShapeType="1"/>
            </p:cNvSpPr>
            <p:nvPr/>
          </p:nvSpPr>
          <p:spPr bwMode="auto">
            <a:xfrm rot="5400000" flipV="1">
              <a:off x="2752" y="2099"/>
              <a:ext cx="21" cy="38"/>
            </a:xfrm>
            <a:prstGeom prst="line">
              <a:avLst/>
            </a:prstGeom>
            <a:noFill/>
            <a:ln w="19050">
              <a:solidFill>
                <a:schemeClr val="accent1"/>
              </a:solidFill>
              <a:round/>
              <a:headEnd/>
              <a:tailEnd/>
            </a:ln>
          </p:spPr>
          <p:txBody>
            <a:bodyPr/>
            <a:lstStyle/>
            <a:p>
              <a:endParaRPr lang="en-GB"/>
            </a:p>
          </p:txBody>
        </p:sp>
        <p:sp>
          <p:nvSpPr>
            <p:cNvPr id="146" name="Line 75">
              <a:extLst>
                <a:ext uri="{FF2B5EF4-FFF2-40B4-BE49-F238E27FC236}">
                  <a16:creationId xmlns:a16="http://schemas.microsoft.com/office/drawing/2014/main" id="{645EAD59-D428-0066-7778-3FB233394927}"/>
                </a:ext>
              </a:extLst>
            </p:cNvPr>
            <p:cNvSpPr>
              <a:spLocks noChangeShapeType="1"/>
            </p:cNvSpPr>
            <p:nvPr/>
          </p:nvSpPr>
          <p:spPr bwMode="auto">
            <a:xfrm rot="5400000" flipV="1">
              <a:off x="2793" y="2116"/>
              <a:ext cx="18" cy="41"/>
            </a:xfrm>
            <a:prstGeom prst="line">
              <a:avLst/>
            </a:prstGeom>
            <a:noFill/>
            <a:ln w="19050">
              <a:solidFill>
                <a:schemeClr val="accent1"/>
              </a:solidFill>
              <a:round/>
              <a:headEnd/>
              <a:tailEnd/>
            </a:ln>
          </p:spPr>
          <p:txBody>
            <a:bodyPr/>
            <a:lstStyle/>
            <a:p>
              <a:endParaRPr lang="en-GB"/>
            </a:p>
          </p:txBody>
        </p:sp>
        <p:sp>
          <p:nvSpPr>
            <p:cNvPr id="147" name="Line 76">
              <a:extLst>
                <a:ext uri="{FF2B5EF4-FFF2-40B4-BE49-F238E27FC236}">
                  <a16:creationId xmlns:a16="http://schemas.microsoft.com/office/drawing/2014/main" id="{79300EF6-AE9E-634E-F6FD-66EA1203369F}"/>
                </a:ext>
              </a:extLst>
            </p:cNvPr>
            <p:cNvSpPr>
              <a:spLocks noChangeShapeType="1"/>
            </p:cNvSpPr>
            <p:nvPr/>
          </p:nvSpPr>
          <p:spPr bwMode="auto">
            <a:xfrm rot="5400000" flipV="1">
              <a:off x="2834" y="2135"/>
              <a:ext cx="21" cy="44"/>
            </a:xfrm>
            <a:prstGeom prst="line">
              <a:avLst/>
            </a:prstGeom>
            <a:noFill/>
            <a:ln w="19050">
              <a:solidFill>
                <a:schemeClr val="accent1"/>
              </a:solidFill>
              <a:round/>
              <a:headEnd/>
              <a:tailEnd/>
            </a:ln>
          </p:spPr>
          <p:txBody>
            <a:bodyPr/>
            <a:lstStyle/>
            <a:p>
              <a:endParaRPr lang="en-GB"/>
            </a:p>
          </p:txBody>
        </p:sp>
        <p:sp>
          <p:nvSpPr>
            <p:cNvPr id="148" name="Line 77">
              <a:extLst>
                <a:ext uri="{FF2B5EF4-FFF2-40B4-BE49-F238E27FC236}">
                  <a16:creationId xmlns:a16="http://schemas.microsoft.com/office/drawing/2014/main" id="{4D8A1165-3A03-F6B5-E4DF-8F7099C28DB7}"/>
                </a:ext>
              </a:extLst>
            </p:cNvPr>
            <p:cNvSpPr>
              <a:spLocks noChangeShapeType="1"/>
            </p:cNvSpPr>
            <p:nvPr/>
          </p:nvSpPr>
          <p:spPr bwMode="auto">
            <a:xfrm rot="5400000" flipV="1">
              <a:off x="2880" y="2154"/>
              <a:ext cx="17" cy="44"/>
            </a:xfrm>
            <a:prstGeom prst="line">
              <a:avLst/>
            </a:prstGeom>
            <a:noFill/>
            <a:ln w="19050">
              <a:solidFill>
                <a:schemeClr val="accent1"/>
              </a:solidFill>
              <a:round/>
              <a:headEnd/>
              <a:tailEnd/>
            </a:ln>
          </p:spPr>
          <p:txBody>
            <a:bodyPr/>
            <a:lstStyle/>
            <a:p>
              <a:endParaRPr lang="en-GB"/>
            </a:p>
          </p:txBody>
        </p:sp>
        <p:sp>
          <p:nvSpPr>
            <p:cNvPr id="149" name="Line 78">
              <a:extLst>
                <a:ext uri="{FF2B5EF4-FFF2-40B4-BE49-F238E27FC236}">
                  <a16:creationId xmlns:a16="http://schemas.microsoft.com/office/drawing/2014/main" id="{AFBF792E-5D77-804F-DB0E-D738003AB6C2}"/>
                </a:ext>
              </a:extLst>
            </p:cNvPr>
            <p:cNvSpPr>
              <a:spLocks noChangeShapeType="1"/>
            </p:cNvSpPr>
            <p:nvPr/>
          </p:nvSpPr>
          <p:spPr bwMode="auto">
            <a:xfrm rot="5400000" flipV="1">
              <a:off x="2922" y="2173"/>
              <a:ext cx="22" cy="44"/>
            </a:xfrm>
            <a:prstGeom prst="line">
              <a:avLst/>
            </a:prstGeom>
            <a:noFill/>
            <a:ln w="19050">
              <a:solidFill>
                <a:schemeClr val="accent1"/>
              </a:solidFill>
              <a:round/>
              <a:headEnd/>
              <a:tailEnd/>
            </a:ln>
          </p:spPr>
          <p:txBody>
            <a:bodyPr/>
            <a:lstStyle/>
            <a:p>
              <a:endParaRPr lang="en-GB"/>
            </a:p>
          </p:txBody>
        </p:sp>
        <p:sp>
          <p:nvSpPr>
            <p:cNvPr id="150" name="Line 79">
              <a:extLst>
                <a:ext uri="{FF2B5EF4-FFF2-40B4-BE49-F238E27FC236}">
                  <a16:creationId xmlns:a16="http://schemas.microsoft.com/office/drawing/2014/main" id="{1B74C4F5-599F-7EC5-0A63-F4BBE1F2468A}"/>
                </a:ext>
              </a:extLst>
            </p:cNvPr>
            <p:cNvSpPr>
              <a:spLocks noChangeShapeType="1"/>
            </p:cNvSpPr>
            <p:nvPr/>
          </p:nvSpPr>
          <p:spPr bwMode="auto">
            <a:xfrm rot="5400000" flipV="1">
              <a:off x="2968" y="2193"/>
              <a:ext cx="17" cy="44"/>
            </a:xfrm>
            <a:prstGeom prst="line">
              <a:avLst/>
            </a:prstGeom>
            <a:noFill/>
            <a:ln w="19050">
              <a:solidFill>
                <a:schemeClr val="accent1"/>
              </a:solidFill>
              <a:round/>
              <a:headEnd/>
              <a:tailEnd/>
            </a:ln>
          </p:spPr>
          <p:txBody>
            <a:bodyPr/>
            <a:lstStyle/>
            <a:p>
              <a:endParaRPr lang="en-GB"/>
            </a:p>
          </p:txBody>
        </p:sp>
        <p:sp>
          <p:nvSpPr>
            <p:cNvPr id="151" name="Freeform 80">
              <a:extLst>
                <a:ext uri="{FF2B5EF4-FFF2-40B4-BE49-F238E27FC236}">
                  <a16:creationId xmlns:a16="http://schemas.microsoft.com/office/drawing/2014/main" id="{38C6023C-B935-1F76-3AF7-4CA61DE57CC4}"/>
                </a:ext>
              </a:extLst>
            </p:cNvPr>
            <p:cNvSpPr>
              <a:spLocks/>
            </p:cNvSpPr>
            <p:nvPr/>
          </p:nvSpPr>
          <p:spPr bwMode="auto">
            <a:xfrm rot="5400000">
              <a:off x="3011" y="2210"/>
              <a:ext cx="21" cy="47"/>
            </a:xfrm>
            <a:custGeom>
              <a:avLst/>
              <a:gdLst/>
              <a:ahLst/>
              <a:cxnLst>
                <a:cxn ang="0">
                  <a:pos x="0" y="47"/>
                </a:cxn>
                <a:cxn ang="0">
                  <a:pos x="8" y="22"/>
                </a:cxn>
                <a:cxn ang="0">
                  <a:pos x="20" y="0"/>
                </a:cxn>
              </a:cxnLst>
              <a:rect l="0" t="0" r="r" b="b"/>
              <a:pathLst>
                <a:path w="20" h="47">
                  <a:moveTo>
                    <a:pt x="0" y="47"/>
                  </a:moveTo>
                  <a:lnTo>
                    <a:pt x="8" y="22"/>
                  </a:lnTo>
                  <a:lnTo>
                    <a:pt x="20" y="0"/>
                  </a:lnTo>
                </a:path>
              </a:pathLst>
            </a:custGeom>
            <a:noFill/>
            <a:ln w="19050" cmpd="sng">
              <a:solidFill>
                <a:schemeClr val="accent1"/>
              </a:solidFill>
              <a:prstDash val="solid"/>
              <a:round/>
              <a:headEnd/>
              <a:tailEnd/>
            </a:ln>
          </p:spPr>
          <p:txBody>
            <a:bodyPr/>
            <a:lstStyle/>
            <a:p>
              <a:endParaRPr lang="en-GB"/>
            </a:p>
          </p:txBody>
        </p:sp>
        <p:sp>
          <p:nvSpPr>
            <p:cNvPr id="152" name="Line 81">
              <a:extLst>
                <a:ext uri="{FF2B5EF4-FFF2-40B4-BE49-F238E27FC236}">
                  <a16:creationId xmlns:a16="http://schemas.microsoft.com/office/drawing/2014/main" id="{7BB578EA-36B8-9682-F26B-444BFD09FC31}"/>
                </a:ext>
              </a:extLst>
            </p:cNvPr>
            <p:cNvSpPr>
              <a:spLocks noChangeShapeType="1"/>
            </p:cNvSpPr>
            <p:nvPr/>
          </p:nvSpPr>
          <p:spPr bwMode="auto">
            <a:xfrm rot="5400000" flipV="1">
              <a:off x="3055" y="2234"/>
              <a:ext cx="22" cy="41"/>
            </a:xfrm>
            <a:prstGeom prst="line">
              <a:avLst/>
            </a:prstGeom>
            <a:noFill/>
            <a:ln w="19050">
              <a:solidFill>
                <a:schemeClr val="accent1"/>
              </a:solidFill>
              <a:round/>
              <a:headEnd/>
              <a:tailEnd/>
            </a:ln>
          </p:spPr>
          <p:txBody>
            <a:bodyPr/>
            <a:lstStyle/>
            <a:p>
              <a:endParaRPr lang="en-GB"/>
            </a:p>
          </p:txBody>
        </p:sp>
        <p:sp>
          <p:nvSpPr>
            <p:cNvPr id="153" name="Line 82">
              <a:extLst>
                <a:ext uri="{FF2B5EF4-FFF2-40B4-BE49-F238E27FC236}">
                  <a16:creationId xmlns:a16="http://schemas.microsoft.com/office/drawing/2014/main" id="{EF6603CB-4515-1775-BD70-853742D4C8C4}"/>
                </a:ext>
              </a:extLst>
            </p:cNvPr>
            <p:cNvSpPr>
              <a:spLocks noChangeShapeType="1"/>
            </p:cNvSpPr>
            <p:nvPr/>
          </p:nvSpPr>
          <p:spPr bwMode="auto">
            <a:xfrm rot="5400000" flipV="1">
              <a:off x="3097" y="2256"/>
              <a:ext cx="17" cy="38"/>
            </a:xfrm>
            <a:prstGeom prst="line">
              <a:avLst/>
            </a:prstGeom>
            <a:noFill/>
            <a:ln w="19050">
              <a:solidFill>
                <a:schemeClr val="accent1"/>
              </a:solidFill>
              <a:round/>
              <a:headEnd/>
              <a:tailEnd/>
            </a:ln>
          </p:spPr>
          <p:txBody>
            <a:bodyPr/>
            <a:lstStyle/>
            <a:p>
              <a:endParaRPr lang="en-GB"/>
            </a:p>
          </p:txBody>
        </p:sp>
        <p:sp>
          <p:nvSpPr>
            <p:cNvPr id="154" name="Freeform 83">
              <a:extLst>
                <a:ext uri="{FF2B5EF4-FFF2-40B4-BE49-F238E27FC236}">
                  <a16:creationId xmlns:a16="http://schemas.microsoft.com/office/drawing/2014/main" id="{D6330D74-FB6F-FBBC-1BDC-4029D71A5868}"/>
                </a:ext>
              </a:extLst>
            </p:cNvPr>
            <p:cNvSpPr>
              <a:spLocks/>
            </p:cNvSpPr>
            <p:nvPr/>
          </p:nvSpPr>
          <p:spPr bwMode="auto">
            <a:xfrm rot="5400000">
              <a:off x="3133" y="2275"/>
              <a:ext cx="22" cy="38"/>
            </a:xfrm>
            <a:custGeom>
              <a:avLst/>
              <a:gdLst/>
              <a:ahLst/>
              <a:cxnLst>
                <a:cxn ang="0">
                  <a:pos x="0" y="38"/>
                </a:cxn>
                <a:cxn ang="0">
                  <a:pos x="8" y="19"/>
                </a:cxn>
                <a:cxn ang="0">
                  <a:pos x="21" y="0"/>
                </a:cxn>
              </a:cxnLst>
              <a:rect l="0" t="0" r="r" b="b"/>
              <a:pathLst>
                <a:path w="21" h="38">
                  <a:moveTo>
                    <a:pt x="0" y="38"/>
                  </a:moveTo>
                  <a:lnTo>
                    <a:pt x="8" y="19"/>
                  </a:lnTo>
                  <a:lnTo>
                    <a:pt x="21" y="0"/>
                  </a:lnTo>
                </a:path>
              </a:pathLst>
            </a:custGeom>
            <a:noFill/>
            <a:ln w="19050" cmpd="sng">
              <a:solidFill>
                <a:schemeClr val="accent1"/>
              </a:solidFill>
              <a:prstDash val="solid"/>
              <a:round/>
              <a:headEnd/>
              <a:tailEnd/>
            </a:ln>
          </p:spPr>
          <p:txBody>
            <a:bodyPr/>
            <a:lstStyle/>
            <a:p>
              <a:endParaRPr lang="en-GB"/>
            </a:p>
          </p:txBody>
        </p:sp>
        <p:sp>
          <p:nvSpPr>
            <p:cNvPr id="155" name="Freeform 84">
              <a:extLst>
                <a:ext uri="{FF2B5EF4-FFF2-40B4-BE49-F238E27FC236}">
                  <a16:creationId xmlns:a16="http://schemas.microsoft.com/office/drawing/2014/main" id="{9B2C1332-6DDD-590D-8E40-7958A20C4841}"/>
                </a:ext>
              </a:extLst>
            </p:cNvPr>
            <p:cNvSpPr>
              <a:spLocks/>
            </p:cNvSpPr>
            <p:nvPr/>
          </p:nvSpPr>
          <p:spPr bwMode="auto">
            <a:xfrm rot="5400000">
              <a:off x="3168" y="2300"/>
              <a:ext cx="17" cy="28"/>
            </a:xfrm>
            <a:custGeom>
              <a:avLst/>
              <a:gdLst/>
              <a:ahLst/>
              <a:cxnLst>
                <a:cxn ang="0">
                  <a:pos x="0" y="28"/>
                </a:cxn>
                <a:cxn ang="0">
                  <a:pos x="8" y="12"/>
                </a:cxn>
                <a:cxn ang="0">
                  <a:pos x="16" y="0"/>
                </a:cxn>
              </a:cxnLst>
              <a:rect l="0" t="0" r="r" b="b"/>
              <a:pathLst>
                <a:path w="16" h="28">
                  <a:moveTo>
                    <a:pt x="0" y="28"/>
                  </a:moveTo>
                  <a:lnTo>
                    <a:pt x="8" y="12"/>
                  </a:lnTo>
                  <a:lnTo>
                    <a:pt x="16" y="0"/>
                  </a:lnTo>
                </a:path>
              </a:pathLst>
            </a:custGeom>
            <a:noFill/>
            <a:ln w="19050" cmpd="sng">
              <a:solidFill>
                <a:schemeClr val="accent1"/>
              </a:solidFill>
              <a:prstDash val="solid"/>
              <a:round/>
              <a:headEnd/>
              <a:tailEnd/>
            </a:ln>
          </p:spPr>
          <p:txBody>
            <a:bodyPr/>
            <a:lstStyle/>
            <a:p>
              <a:endParaRPr lang="en-GB"/>
            </a:p>
          </p:txBody>
        </p:sp>
        <p:sp>
          <p:nvSpPr>
            <p:cNvPr id="156" name="Freeform 85">
              <a:extLst>
                <a:ext uri="{FF2B5EF4-FFF2-40B4-BE49-F238E27FC236}">
                  <a16:creationId xmlns:a16="http://schemas.microsoft.com/office/drawing/2014/main" id="{474BF0B3-74D6-BEA3-8041-8349B291BE2E}"/>
                </a:ext>
              </a:extLst>
            </p:cNvPr>
            <p:cNvSpPr>
              <a:spLocks/>
            </p:cNvSpPr>
            <p:nvPr/>
          </p:nvSpPr>
          <p:spPr bwMode="auto">
            <a:xfrm rot="5400000">
              <a:off x="3193" y="2320"/>
              <a:ext cx="21" cy="26"/>
            </a:xfrm>
            <a:custGeom>
              <a:avLst/>
              <a:gdLst/>
              <a:ahLst/>
              <a:cxnLst>
                <a:cxn ang="0">
                  <a:pos x="0" y="26"/>
                </a:cxn>
                <a:cxn ang="0">
                  <a:pos x="8" y="13"/>
                </a:cxn>
                <a:cxn ang="0">
                  <a:pos x="20" y="0"/>
                </a:cxn>
              </a:cxnLst>
              <a:rect l="0" t="0" r="r" b="b"/>
              <a:pathLst>
                <a:path w="20" h="26">
                  <a:moveTo>
                    <a:pt x="0" y="26"/>
                  </a:moveTo>
                  <a:lnTo>
                    <a:pt x="8" y="13"/>
                  </a:lnTo>
                  <a:lnTo>
                    <a:pt x="20" y="0"/>
                  </a:lnTo>
                </a:path>
              </a:pathLst>
            </a:custGeom>
            <a:noFill/>
            <a:ln w="19050" cmpd="sng">
              <a:solidFill>
                <a:schemeClr val="accent1"/>
              </a:solidFill>
              <a:prstDash val="solid"/>
              <a:round/>
              <a:headEnd/>
              <a:tailEnd/>
            </a:ln>
          </p:spPr>
          <p:txBody>
            <a:bodyPr/>
            <a:lstStyle/>
            <a:p>
              <a:endParaRPr lang="en-GB"/>
            </a:p>
          </p:txBody>
        </p:sp>
        <p:sp>
          <p:nvSpPr>
            <p:cNvPr id="157" name="Freeform 86">
              <a:extLst>
                <a:ext uri="{FF2B5EF4-FFF2-40B4-BE49-F238E27FC236}">
                  <a16:creationId xmlns:a16="http://schemas.microsoft.com/office/drawing/2014/main" id="{C7954AA0-5172-6C82-0D39-CC2BAD9A9611}"/>
                </a:ext>
              </a:extLst>
            </p:cNvPr>
            <p:cNvSpPr>
              <a:spLocks/>
            </p:cNvSpPr>
            <p:nvPr/>
          </p:nvSpPr>
          <p:spPr bwMode="auto">
            <a:xfrm rot="5400000">
              <a:off x="3217" y="2343"/>
              <a:ext cx="18" cy="18"/>
            </a:xfrm>
            <a:custGeom>
              <a:avLst/>
              <a:gdLst/>
              <a:ahLst/>
              <a:cxnLst>
                <a:cxn ang="0">
                  <a:pos x="0" y="18"/>
                </a:cxn>
                <a:cxn ang="0">
                  <a:pos x="9" y="9"/>
                </a:cxn>
                <a:cxn ang="0">
                  <a:pos x="17" y="0"/>
                </a:cxn>
              </a:cxnLst>
              <a:rect l="0" t="0" r="r" b="b"/>
              <a:pathLst>
                <a:path w="17" h="18">
                  <a:moveTo>
                    <a:pt x="0" y="18"/>
                  </a:moveTo>
                  <a:lnTo>
                    <a:pt x="9" y="9"/>
                  </a:lnTo>
                  <a:lnTo>
                    <a:pt x="17" y="0"/>
                  </a:lnTo>
                </a:path>
              </a:pathLst>
            </a:custGeom>
            <a:noFill/>
            <a:ln w="19050" cmpd="sng">
              <a:solidFill>
                <a:schemeClr val="accent1"/>
              </a:solidFill>
              <a:prstDash val="solid"/>
              <a:round/>
              <a:headEnd/>
              <a:tailEnd/>
            </a:ln>
          </p:spPr>
          <p:txBody>
            <a:bodyPr/>
            <a:lstStyle/>
            <a:p>
              <a:endParaRPr lang="en-GB"/>
            </a:p>
          </p:txBody>
        </p:sp>
        <p:sp>
          <p:nvSpPr>
            <p:cNvPr id="158" name="Freeform 87">
              <a:extLst>
                <a:ext uri="{FF2B5EF4-FFF2-40B4-BE49-F238E27FC236}">
                  <a16:creationId xmlns:a16="http://schemas.microsoft.com/office/drawing/2014/main" id="{ED0FA414-1DE1-5AB1-C4CF-954740DF53F0}"/>
                </a:ext>
              </a:extLst>
            </p:cNvPr>
            <p:cNvSpPr>
              <a:spLocks/>
            </p:cNvSpPr>
            <p:nvPr/>
          </p:nvSpPr>
          <p:spPr bwMode="auto">
            <a:xfrm rot="5400000">
              <a:off x="3229" y="2367"/>
              <a:ext cx="21" cy="10"/>
            </a:xfrm>
            <a:custGeom>
              <a:avLst/>
              <a:gdLst/>
              <a:ahLst/>
              <a:cxnLst>
                <a:cxn ang="0">
                  <a:pos x="0" y="10"/>
                </a:cxn>
                <a:cxn ang="0">
                  <a:pos x="8" y="3"/>
                </a:cxn>
                <a:cxn ang="0">
                  <a:pos x="20" y="0"/>
                </a:cxn>
              </a:cxnLst>
              <a:rect l="0" t="0" r="r" b="b"/>
              <a:pathLst>
                <a:path w="20" h="10">
                  <a:moveTo>
                    <a:pt x="0" y="10"/>
                  </a:moveTo>
                  <a:lnTo>
                    <a:pt x="8" y="3"/>
                  </a:lnTo>
                  <a:lnTo>
                    <a:pt x="20" y="0"/>
                  </a:lnTo>
                </a:path>
              </a:pathLst>
            </a:custGeom>
            <a:noFill/>
            <a:ln w="19050" cmpd="sng">
              <a:solidFill>
                <a:schemeClr val="accent1"/>
              </a:solidFill>
              <a:prstDash val="solid"/>
              <a:round/>
              <a:headEnd/>
              <a:tailEnd/>
            </a:ln>
          </p:spPr>
          <p:txBody>
            <a:bodyPr/>
            <a:lstStyle/>
            <a:p>
              <a:endParaRPr lang="en-GB"/>
            </a:p>
          </p:txBody>
        </p:sp>
        <p:sp>
          <p:nvSpPr>
            <p:cNvPr id="159" name="Freeform 88">
              <a:extLst>
                <a:ext uri="{FF2B5EF4-FFF2-40B4-BE49-F238E27FC236}">
                  <a16:creationId xmlns:a16="http://schemas.microsoft.com/office/drawing/2014/main" id="{E1E55EB4-9DA4-B28B-246F-999E526CFE85}"/>
                </a:ext>
              </a:extLst>
            </p:cNvPr>
            <p:cNvSpPr>
              <a:spLocks/>
            </p:cNvSpPr>
            <p:nvPr/>
          </p:nvSpPr>
          <p:spPr bwMode="auto">
            <a:xfrm rot="5400000">
              <a:off x="3237" y="2390"/>
              <a:ext cx="22" cy="6"/>
            </a:xfrm>
            <a:custGeom>
              <a:avLst/>
              <a:gdLst/>
              <a:ahLst/>
              <a:cxnLst>
                <a:cxn ang="0">
                  <a:pos x="0" y="6"/>
                </a:cxn>
                <a:cxn ang="0">
                  <a:pos x="12" y="3"/>
                </a:cxn>
                <a:cxn ang="0">
                  <a:pos x="21" y="0"/>
                </a:cxn>
              </a:cxnLst>
              <a:rect l="0" t="0" r="r" b="b"/>
              <a:pathLst>
                <a:path w="21" h="6">
                  <a:moveTo>
                    <a:pt x="0" y="6"/>
                  </a:moveTo>
                  <a:lnTo>
                    <a:pt x="12" y="3"/>
                  </a:lnTo>
                  <a:lnTo>
                    <a:pt x="21" y="0"/>
                  </a:lnTo>
                </a:path>
              </a:pathLst>
            </a:custGeom>
            <a:noFill/>
            <a:ln w="19050" cmpd="sng">
              <a:solidFill>
                <a:schemeClr val="accent1"/>
              </a:solidFill>
              <a:prstDash val="solid"/>
              <a:round/>
              <a:headEnd/>
              <a:tailEnd/>
            </a:ln>
          </p:spPr>
          <p:txBody>
            <a:bodyPr/>
            <a:lstStyle/>
            <a:p>
              <a:endParaRPr lang="en-GB"/>
            </a:p>
          </p:txBody>
        </p:sp>
        <p:sp>
          <p:nvSpPr>
            <p:cNvPr id="160" name="Freeform 89">
              <a:extLst>
                <a:ext uri="{FF2B5EF4-FFF2-40B4-BE49-F238E27FC236}">
                  <a16:creationId xmlns:a16="http://schemas.microsoft.com/office/drawing/2014/main" id="{E4643AC5-99AC-580E-2815-CBA1266D5BD3}"/>
                </a:ext>
              </a:extLst>
            </p:cNvPr>
            <p:cNvSpPr>
              <a:spLocks/>
            </p:cNvSpPr>
            <p:nvPr/>
          </p:nvSpPr>
          <p:spPr bwMode="auto">
            <a:xfrm rot="5400000">
              <a:off x="3239" y="2410"/>
              <a:ext cx="17" cy="6"/>
            </a:xfrm>
            <a:custGeom>
              <a:avLst/>
              <a:gdLst/>
              <a:ahLst/>
              <a:cxnLst>
                <a:cxn ang="0">
                  <a:pos x="0" y="0"/>
                </a:cxn>
                <a:cxn ang="0">
                  <a:pos x="8" y="3"/>
                </a:cxn>
                <a:cxn ang="0">
                  <a:pos x="16" y="6"/>
                </a:cxn>
              </a:cxnLst>
              <a:rect l="0" t="0" r="r" b="b"/>
              <a:pathLst>
                <a:path w="16" h="6">
                  <a:moveTo>
                    <a:pt x="0" y="0"/>
                  </a:moveTo>
                  <a:lnTo>
                    <a:pt x="8" y="3"/>
                  </a:lnTo>
                  <a:lnTo>
                    <a:pt x="16" y="6"/>
                  </a:lnTo>
                </a:path>
              </a:pathLst>
            </a:custGeom>
            <a:noFill/>
            <a:ln w="19050" cmpd="sng">
              <a:solidFill>
                <a:schemeClr val="accent1"/>
              </a:solidFill>
              <a:prstDash val="solid"/>
              <a:round/>
              <a:headEnd/>
              <a:tailEnd/>
            </a:ln>
          </p:spPr>
          <p:txBody>
            <a:bodyPr/>
            <a:lstStyle/>
            <a:p>
              <a:endParaRPr lang="en-GB"/>
            </a:p>
          </p:txBody>
        </p:sp>
        <p:sp>
          <p:nvSpPr>
            <p:cNvPr id="161" name="Freeform 90">
              <a:extLst>
                <a:ext uri="{FF2B5EF4-FFF2-40B4-BE49-F238E27FC236}">
                  <a16:creationId xmlns:a16="http://schemas.microsoft.com/office/drawing/2014/main" id="{DF43AC86-71E5-92A7-A91B-AB8D952E5648}"/>
                </a:ext>
              </a:extLst>
            </p:cNvPr>
            <p:cNvSpPr>
              <a:spLocks/>
            </p:cNvSpPr>
            <p:nvPr/>
          </p:nvSpPr>
          <p:spPr bwMode="auto">
            <a:xfrm rot="5400000">
              <a:off x="3229" y="2427"/>
              <a:ext cx="21" cy="10"/>
            </a:xfrm>
            <a:custGeom>
              <a:avLst/>
              <a:gdLst/>
              <a:ahLst/>
              <a:cxnLst>
                <a:cxn ang="0">
                  <a:pos x="0" y="0"/>
                </a:cxn>
                <a:cxn ang="0">
                  <a:pos x="8" y="3"/>
                </a:cxn>
                <a:cxn ang="0">
                  <a:pos x="20" y="10"/>
                </a:cxn>
              </a:cxnLst>
              <a:rect l="0" t="0" r="r" b="b"/>
              <a:pathLst>
                <a:path w="20" h="10">
                  <a:moveTo>
                    <a:pt x="0" y="0"/>
                  </a:moveTo>
                  <a:lnTo>
                    <a:pt x="8" y="3"/>
                  </a:lnTo>
                  <a:lnTo>
                    <a:pt x="20" y="10"/>
                  </a:lnTo>
                </a:path>
              </a:pathLst>
            </a:custGeom>
            <a:noFill/>
            <a:ln w="19050" cmpd="sng">
              <a:solidFill>
                <a:schemeClr val="accent1"/>
              </a:solidFill>
              <a:prstDash val="solid"/>
              <a:round/>
              <a:headEnd/>
              <a:tailEnd/>
            </a:ln>
          </p:spPr>
          <p:txBody>
            <a:bodyPr/>
            <a:lstStyle/>
            <a:p>
              <a:endParaRPr lang="en-GB"/>
            </a:p>
          </p:txBody>
        </p:sp>
        <p:sp>
          <p:nvSpPr>
            <p:cNvPr id="162" name="Freeform 91">
              <a:extLst>
                <a:ext uri="{FF2B5EF4-FFF2-40B4-BE49-F238E27FC236}">
                  <a16:creationId xmlns:a16="http://schemas.microsoft.com/office/drawing/2014/main" id="{1ACCE231-E4D9-7DF1-E277-E9FDF9E90A32}"/>
                </a:ext>
              </a:extLst>
            </p:cNvPr>
            <p:cNvSpPr>
              <a:spLocks/>
            </p:cNvSpPr>
            <p:nvPr/>
          </p:nvSpPr>
          <p:spPr bwMode="auto">
            <a:xfrm rot="5400000">
              <a:off x="3217" y="2442"/>
              <a:ext cx="18" cy="18"/>
            </a:xfrm>
            <a:custGeom>
              <a:avLst/>
              <a:gdLst/>
              <a:ahLst/>
              <a:cxnLst>
                <a:cxn ang="0">
                  <a:pos x="0" y="0"/>
                </a:cxn>
                <a:cxn ang="0">
                  <a:pos x="8" y="9"/>
                </a:cxn>
                <a:cxn ang="0">
                  <a:pos x="17" y="18"/>
                </a:cxn>
              </a:cxnLst>
              <a:rect l="0" t="0" r="r" b="b"/>
              <a:pathLst>
                <a:path w="17" h="18">
                  <a:moveTo>
                    <a:pt x="0" y="0"/>
                  </a:moveTo>
                  <a:lnTo>
                    <a:pt x="8" y="9"/>
                  </a:lnTo>
                  <a:lnTo>
                    <a:pt x="17" y="18"/>
                  </a:lnTo>
                </a:path>
              </a:pathLst>
            </a:custGeom>
            <a:noFill/>
            <a:ln w="19050" cmpd="sng">
              <a:solidFill>
                <a:schemeClr val="accent1"/>
              </a:solidFill>
              <a:prstDash val="solid"/>
              <a:round/>
              <a:headEnd/>
              <a:tailEnd/>
            </a:ln>
          </p:spPr>
          <p:txBody>
            <a:bodyPr/>
            <a:lstStyle/>
            <a:p>
              <a:endParaRPr lang="en-GB"/>
            </a:p>
          </p:txBody>
        </p:sp>
        <p:sp>
          <p:nvSpPr>
            <p:cNvPr id="163" name="Freeform 92">
              <a:extLst>
                <a:ext uri="{FF2B5EF4-FFF2-40B4-BE49-F238E27FC236}">
                  <a16:creationId xmlns:a16="http://schemas.microsoft.com/office/drawing/2014/main" id="{244D51E3-1EC9-BD60-6260-D4424320EC23}"/>
                </a:ext>
              </a:extLst>
            </p:cNvPr>
            <p:cNvSpPr>
              <a:spLocks/>
            </p:cNvSpPr>
            <p:nvPr/>
          </p:nvSpPr>
          <p:spPr bwMode="auto">
            <a:xfrm rot="5400000">
              <a:off x="3193" y="2458"/>
              <a:ext cx="21" cy="26"/>
            </a:xfrm>
            <a:custGeom>
              <a:avLst/>
              <a:gdLst/>
              <a:ahLst/>
              <a:cxnLst>
                <a:cxn ang="0">
                  <a:pos x="0" y="0"/>
                </a:cxn>
                <a:cxn ang="0">
                  <a:pos x="8" y="13"/>
                </a:cxn>
                <a:cxn ang="0">
                  <a:pos x="20" y="26"/>
                </a:cxn>
              </a:cxnLst>
              <a:rect l="0" t="0" r="r" b="b"/>
              <a:pathLst>
                <a:path w="20" h="26">
                  <a:moveTo>
                    <a:pt x="0" y="0"/>
                  </a:moveTo>
                  <a:lnTo>
                    <a:pt x="8" y="13"/>
                  </a:lnTo>
                  <a:lnTo>
                    <a:pt x="20" y="26"/>
                  </a:lnTo>
                </a:path>
              </a:pathLst>
            </a:custGeom>
            <a:noFill/>
            <a:ln w="19050" cmpd="sng">
              <a:solidFill>
                <a:schemeClr val="accent1"/>
              </a:solidFill>
              <a:prstDash val="solid"/>
              <a:round/>
              <a:headEnd/>
              <a:tailEnd/>
            </a:ln>
          </p:spPr>
          <p:txBody>
            <a:bodyPr/>
            <a:lstStyle/>
            <a:p>
              <a:endParaRPr lang="en-GB"/>
            </a:p>
          </p:txBody>
        </p:sp>
        <p:sp>
          <p:nvSpPr>
            <p:cNvPr id="164" name="Freeform 93">
              <a:extLst>
                <a:ext uri="{FF2B5EF4-FFF2-40B4-BE49-F238E27FC236}">
                  <a16:creationId xmlns:a16="http://schemas.microsoft.com/office/drawing/2014/main" id="{92C30781-778F-97BF-D96C-05209CE820B1}"/>
                </a:ext>
              </a:extLst>
            </p:cNvPr>
            <p:cNvSpPr>
              <a:spLocks/>
            </p:cNvSpPr>
            <p:nvPr/>
          </p:nvSpPr>
          <p:spPr bwMode="auto">
            <a:xfrm rot="5400000">
              <a:off x="3169" y="2475"/>
              <a:ext cx="16" cy="28"/>
            </a:xfrm>
            <a:custGeom>
              <a:avLst/>
              <a:gdLst/>
              <a:ahLst/>
              <a:cxnLst>
                <a:cxn ang="0">
                  <a:pos x="0" y="0"/>
                </a:cxn>
                <a:cxn ang="0">
                  <a:pos x="8" y="12"/>
                </a:cxn>
                <a:cxn ang="0">
                  <a:pos x="16" y="28"/>
                </a:cxn>
              </a:cxnLst>
              <a:rect l="0" t="0" r="r" b="b"/>
              <a:pathLst>
                <a:path w="16" h="28">
                  <a:moveTo>
                    <a:pt x="0" y="0"/>
                  </a:moveTo>
                  <a:lnTo>
                    <a:pt x="8" y="12"/>
                  </a:lnTo>
                  <a:lnTo>
                    <a:pt x="16" y="28"/>
                  </a:lnTo>
                </a:path>
              </a:pathLst>
            </a:custGeom>
            <a:noFill/>
            <a:ln w="19050" cmpd="sng">
              <a:solidFill>
                <a:schemeClr val="accent1"/>
              </a:solidFill>
              <a:prstDash val="solid"/>
              <a:round/>
              <a:headEnd/>
              <a:tailEnd/>
            </a:ln>
          </p:spPr>
          <p:txBody>
            <a:bodyPr/>
            <a:lstStyle/>
            <a:p>
              <a:endParaRPr lang="en-GB"/>
            </a:p>
          </p:txBody>
        </p:sp>
        <p:sp>
          <p:nvSpPr>
            <p:cNvPr id="165" name="Freeform 94">
              <a:extLst>
                <a:ext uri="{FF2B5EF4-FFF2-40B4-BE49-F238E27FC236}">
                  <a16:creationId xmlns:a16="http://schemas.microsoft.com/office/drawing/2014/main" id="{AEFF807F-6516-7EA4-22C8-7C7AB9B337EE}"/>
                </a:ext>
              </a:extLst>
            </p:cNvPr>
            <p:cNvSpPr>
              <a:spLocks/>
            </p:cNvSpPr>
            <p:nvPr/>
          </p:nvSpPr>
          <p:spPr bwMode="auto">
            <a:xfrm rot="5400000">
              <a:off x="3132" y="2490"/>
              <a:ext cx="23" cy="38"/>
            </a:xfrm>
            <a:custGeom>
              <a:avLst/>
              <a:gdLst/>
              <a:ahLst/>
              <a:cxnLst>
                <a:cxn ang="0">
                  <a:pos x="0" y="0"/>
                </a:cxn>
                <a:cxn ang="0">
                  <a:pos x="9" y="19"/>
                </a:cxn>
                <a:cxn ang="0">
                  <a:pos x="21" y="38"/>
                </a:cxn>
              </a:cxnLst>
              <a:rect l="0" t="0" r="r" b="b"/>
              <a:pathLst>
                <a:path w="21" h="38">
                  <a:moveTo>
                    <a:pt x="0" y="0"/>
                  </a:moveTo>
                  <a:lnTo>
                    <a:pt x="9" y="19"/>
                  </a:lnTo>
                  <a:lnTo>
                    <a:pt x="21" y="38"/>
                  </a:lnTo>
                </a:path>
              </a:pathLst>
            </a:custGeom>
            <a:noFill/>
            <a:ln w="19050" cmpd="sng">
              <a:solidFill>
                <a:schemeClr val="accent1"/>
              </a:solidFill>
              <a:prstDash val="solid"/>
              <a:round/>
              <a:headEnd/>
              <a:tailEnd/>
            </a:ln>
          </p:spPr>
          <p:txBody>
            <a:bodyPr/>
            <a:lstStyle/>
            <a:p>
              <a:endParaRPr lang="en-GB"/>
            </a:p>
          </p:txBody>
        </p:sp>
        <p:sp>
          <p:nvSpPr>
            <p:cNvPr id="166" name="Line 95">
              <a:extLst>
                <a:ext uri="{FF2B5EF4-FFF2-40B4-BE49-F238E27FC236}">
                  <a16:creationId xmlns:a16="http://schemas.microsoft.com/office/drawing/2014/main" id="{8E4F3A34-C99A-9458-109D-6DF6605A3491}"/>
                </a:ext>
              </a:extLst>
            </p:cNvPr>
            <p:cNvSpPr>
              <a:spLocks noChangeShapeType="1"/>
            </p:cNvSpPr>
            <p:nvPr/>
          </p:nvSpPr>
          <p:spPr bwMode="auto">
            <a:xfrm rot="5400000">
              <a:off x="3098" y="2509"/>
              <a:ext cx="16" cy="38"/>
            </a:xfrm>
            <a:prstGeom prst="line">
              <a:avLst/>
            </a:prstGeom>
            <a:noFill/>
            <a:ln w="19050">
              <a:solidFill>
                <a:schemeClr val="accent1"/>
              </a:solidFill>
              <a:round/>
              <a:headEnd/>
              <a:tailEnd/>
            </a:ln>
          </p:spPr>
          <p:txBody>
            <a:bodyPr/>
            <a:lstStyle/>
            <a:p>
              <a:endParaRPr lang="en-GB"/>
            </a:p>
          </p:txBody>
        </p:sp>
        <p:sp>
          <p:nvSpPr>
            <p:cNvPr id="167" name="Line 96">
              <a:extLst>
                <a:ext uri="{FF2B5EF4-FFF2-40B4-BE49-F238E27FC236}">
                  <a16:creationId xmlns:a16="http://schemas.microsoft.com/office/drawing/2014/main" id="{D1461FE3-1AB5-B7F4-5084-93FDD0094B9E}"/>
                </a:ext>
              </a:extLst>
            </p:cNvPr>
            <p:cNvSpPr>
              <a:spLocks noChangeShapeType="1"/>
            </p:cNvSpPr>
            <p:nvPr/>
          </p:nvSpPr>
          <p:spPr bwMode="auto">
            <a:xfrm rot="5400000">
              <a:off x="3054" y="2527"/>
              <a:ext cx="23" cy="41"/>
            </a:xfrm>
            <a:prstGeom prst="line">
              <a:avLst/>
            </a:prstGeom>
            <a:noFill/>
            <a:ln w="19050">
              <a:solidFill>
                <a:schemeClr val="accent1"/>
              </a:solidFill>
              <a:round/>
              <a:headEnd/>
              <a:tailEnd/>
            </a:ln>
          </p:spPr>
          <p:txBody>
            <a:bodyPr/>
            <a:lstStyle/>
            <a:p>
              <a:endParaRPr lang="en-GB"/>
            </a:p>
          </p:txBody>
        </p:sp>
        <p:sp>
          <p:nvSpPr>
            <p:cNvPr id="168" name="Freeform 97">
              <a:extLst>
                <a:ext uri="{FF2B5EF4-FFF2-40B4-BE49-F238E27FC236}">
                  <a16:creationId xmlns:a16="http://schemas.microsoft.com/office/drawing/2014/main" id="{F54E1FA8-3F5F-29A0-D0BC-29AFFBAA8841}"/>
                </a:ext>
              </a:extLst>
            </p:cNvPr>
            <p:cNvSpPr>
              <a:spLocks/>
            </p:cNvSpPr>
            <p:nvPr/>
          </p:nvSpPr>
          <p:spPr bwMode="auto">
            <a:xfrm rot="5400000">
              <a:off x="3011" y="2546"/>
              <a:ext cx="21" cy="47"/>
            </a:xfrm>
            <a:custGeom>
              <a:avLst/>
              <a:gdLst/>
              <a:ahLst/>
              <a:cxnLst>
                <a:cxn ang="0">
                  <a:pos x="0" y="0"/>
                </a:cxn>
                <a:cxn ang="0">
                  <a:pos x="12" y="22"/>
                </a:cxn>
                <a:cxn ang="0">
                  <a:pos x="20" y="47"/>
                </a:cxn>
              </a:cxnLst>
              <a:rect l="0" t="0" r="r" b="b"/>
              <a:pathLst>
                <a:path w="20" h="47">
                  <a:moveTo>
                    <a:pt x="0" y="0"/>
                  </a:moveTo>
                  <a:lnTo>
                    <a:pt x="12" y="22"/>
                  </a:lnTo>
                  <a:lnTo>
                    <a:pt x="20" y="47"/>
                  </a:lnTo>
                </a:path>
              </a:pathLst>
            </a:custGeom>
            <a:noFill/>
            <a:ln w="19050" cmpd="sng">
              <a:solidFill>
                <a:schemeClr val="accent1"/>
              </a:solidFill>
              <a:prstDash val="solid"/>
              <a:round/>
              <a:headEnd/>
              <a:tailEnd/>
            </a:ln>
          </p:spPr>
          <p:txBody>
            <a:bodyPr/>
            <a:lstStyle/>
            <a:p>
              <a:endParaRPr lang="en-GB"/>
            </a:p>
          </p:txBody>
        </p:sp>
        <p:sp>
          <p:nvSpPr>
            <p:cNvPr id="169" name="Line 98">
              <a:extLst>
                <a:ext uri="{FF2B5EF4-FFF2-40B4-BE49-F238E27FC236}">
                  <a16:creationId xmlns:a16="http://schemas.microsoft.com/office/drawing/2014/main" id="{15A426D6-8947-D151-2323-26A7650261C3}"/>
                </a:ext>
              </a:extLst>
            </p:cNvPr>
            <p:cNvSpPr>
              <a:spLocks noChangeShapeType="1"/>
            </p:cNvSpPr>
            <p:nvPr/>
          </p:nvSpPr>
          <p:spPr bwMode="auto">
            <a:xfrm rot="5400000">
              <a:off x="2968" y="2567"/>
              <a:ext cx="17" cy="44"/>
            </a:xfrm>
            <a:prstGeom prst="line">
              <a:avLst/>
            </a:prstGeom>
            <a:noFill/>
            <a:ln w="19050">
              <a:solidFill>
                <a:schemeClr val="accent1"/>
              </a:solidFill>
              <a:round/>
              <a:headEnd/>
              <a:tailEnd/>
            </a:ln>
          </p:spPr>
          <p:txBody>
            <a:bodyPr/>
            <a:lstStyle/>
            <a:p>
              <a:endParaRPr lang="en-GB"/>
            </a:p>
          </p:txBody>
        </p:sp>
        <p:sp>
          <p:nvSpPr>
            <p:cNvPr id="170" name="Line 99">
              <a:extLst>
                <a:ext uri="{FF2B5EF4-FFF2-40B4-BE49-F238E27FC236}">
                  <a16:creationId xmlns:a16="http://schemas.microsoft.com/office/drawing/2014/main" id="{3C2FD075-BEBB-5EEE-3210-5F31775A0E2B}"/>
                </a:ext>
              </a:extLst>
            </p:cNvPr>
            <p:cNvSpPr>
              <a:spLocks noChangeShapeType="1"/>
            </p:cNvSpPr>
            <p:nvPr/>
          </p:nvSpPr>
          <p:spPr bwMode="auto">
            <a:xfrm rot="5400000">
              <a:off x="2922" y="2586"/>
              <a:ext cx="22" cy="44"/>
            </a:xfrm>
            <a:prstGeom prst="line">
              <a:avLst/>
            </a:prstGeom>
            <a:noFill/>
            <a:ln w="19050">
              <a:solidFill>
                <a:schemeClr val="accent1"/>
              </a:solidFill>
              <a:round/>
              <a:headEnd/>
              <a:tailEnd/>
            </a:ln>
          </p:spPr>
          <p:txBody>
            <a:bodyPr/>
            <a:lstStyle/>
            <a:p>
              <a:endParaRPr lang="en-GB"/>
            </a:p>
          </p:txBody>
        </p:sp>
        <p:sp>
          <p:nvSpPr>
            <p:cNvPr id="171" name="Line 100">
              <a:extLst>
                <a:ext uri="{FF2B5EF4-FFF2-40B4-BE49-F238E27FC236}">
                  <a16:creationId xmlns:a16="http://schemas.microsoft.com/office/drawing/2014/main" id="{01291C1F-5A20-F2F4-8116-A91952F78AD8}"/>
                </a:ext>
              </a:extLst>
            </p:cNvPr>
            <p:cNvSpPr>
              <a:spLocks noChangeShapeType="1"/>
            </p:cNvSpPr>
            <p:nvPr/>
          </p:nvSpPr>
          <p:spPr bwMode="auto">
            <a:xfrm rot="5400000">
              <a:off x="2880" y="2606"/>
              <a:ext cx="17" cy="44"/>
            </a:xfrm>
            <a:prstGeom prst="line">
              <a:avLst/>
            </a:prstGeom>
            <a:noFill/>
            <a:ln w="19050">
              <a:solidFill>
                <a:schemeClr val="accent1"/>
              </a:solidFill>
              <a:round/>
              <a:headEnd/>
              <a:tailEnd/>
            </a:ln>
          </p:spPr>
          <p:txBody>
            <a:bodyPr/>
            <a:lstStyle/>
            <a:p>
              <a:endParaRPr lang="en-GB"/>
            </a:p>
          </p:txBody>
        </p:sp>
        <p:sp>
          <p:nvSpPr>
            <p:cNvPr id="172" name="Line 101">
              <a:extLst>
                <a:ext uri="{FF2B5EF4-FFF2-40B4-BE49-F238E27FC236}">
                  <a16:creationId xmlns:a16="http://schemas.microsoft.com/office/drawing/2014/main" id="{75C3A36D-8FF9-B9AD-B382-2132A5B9F713}"/>
                </a:ext>
              </a:extLst>
            </p:cNvPr>
            <p:cNvSpPr>
              <a:spLocks noChangeShapeType="1"/>
            </p:cNvSpPr>
            <p:nvPr/>
          </p:nvSpPr>
          <p:spPr bwMode="auto">
            <a:xfrm rot="5400000">
              <a:off x="2834" y="2625"/>
              <a:ext cx="21" cy="44"/>
            </a:xfrm>
            <a:prstGeom prst="line">
              <a:avLst/>
            </a:prstGeom>
            <a:noFill/>
            <a:ln w="19050">
              <a:solidFill>
                <a:schemeClr val="accent1"/>
              </a:solidFill>
              <a:round/>
              <a:headEnd/>
              <a:tailEnd/>
            </a:ln>
          </p:spPr>
          <p:txBody>
            <a:bodyPr/>
            <a:lstStyle/>
            <a:p>
              <a:endParaRPr lang="en-GB"/>
            </a:p>
          </p:txBody>
        </p:sp>
        <p:sp>
          <p:nvSpPr>
            <p:cNvPr id="173" name="Line 102">
              <a:extLst>
                <a:ext uri="{FF2B5EF4-FFF2-40B4-BE49-F238E27FC236}">
                  <a16:creationId xmlns:a16="http://schemas.microsoft.com/office/drawing/2014/main" id="{A72A3C2F-1D2A-FA33-5E30-9ACABD3BD9D4}"/>
                </a:ext>
              </a:extLst>
            </p:cNvPr>
            <p:cNvSpPr>
              <a:spLocks noChangeShapeType="1"/>
            </p:cNvSpPr>
            <p:nvPr/>
          </p:nvSpPr>
          <p:spPr bwMode="auto">
            <a:xfrm rot="5400000">
              <a:off x="2793" y="2645"/>
              <a:ext cx="17" cy="41"/>
            </a:xfrm>
            <a:prstGeom prst="line">
              <a:avLst/>
            </a:prstGeom>
            <a:noFill/>
            <a:ln w="19050">
              <a:solidFill>
                <a:schemeClr val="accent1"/>
              </a:solidFill>
              <a:round/>
              <a:headEnd/>
              <a:tailEnd/>
            </a:ln>
          </p:spPr>
          <p:txBody>
            <a:bodyPr/>
            <a:lstStyle/>
            <a:p>
              <a:endParaRPr lang="en-GB"/>
            </a:p>
          </p:txBody>
        </p:sp>
        <p:sp>
          <p:nvSpPr>
            <p:cNvPr id="174" name="Line 103">
              <a:extLst>
                <a:ext uri="{FF2B5EF4-FFF2-40B4-BE49-F238E27FC236}">
                  <a16:creationId xmlns:a16="http://schemas.microsoft.com/office/drawing/2014/main" id="{F7A38B0C-9185-E2AE-8A26-BCCD042B9C2E}"/>
                </a:ext>
              </a:extLst>
            </p:cNvPr>
            <p:cNvSpPr>
              <a:spLocks noChangeShapeType="1"/>
            </p:cNvSpPr>
            <p:nvPr/>
          </p:nvSpPr>
          <p:spPr bwMode="auto">
            <a:xfrm rot="5400000">
              <a:off x="2752" y="2666"/>
              <a:ext cx="22" cy="38"/>
            </a:xfrm>
            <a:prstGeom prst="line">
              <a:avLst/>
            </a:prstGeom>
            <a:noFill/>
            <a:ln w="19050">
              <a:solidFill>
                <a:schemeClr val="accent1"/>
              </a:solidFill>
              <a:round/>
              <a:headEnd/>
              <a:tailEnd/>
            </a:ln>
          </p:spPr>
          <p:txBody>
            <a:bodyPr/>
            <a:lstStyle/>
            <a:p>
              <a:endParaRPr lang="en-GB"/>
            </a:p>
          </p:txBody>
        </p:sp>
        <p:sp>
          <p:nvSpPr>
            <p:cNvPr id="175" name="Line 104">
              <a:extLst>
                <a:ext uri="{FF2B5EF4-FFF2-40B4-BE49-F238E27FC236}">
                  <a16:creationId xmlns:a16="http://schemas.microsoft.com/office/drawing/2014/main" id="{CC472663-C2AD-E6B7-69FA-E36C78F0E93F}"/>
                </a:ext>
              </a:extLst>
            </p:cNvPr>
            <p:cNvSpPr>
              <a:spLocks noChangeShapeType="1"/>
            </p:cNvSpPr>
            <p:nvPr/>
          </p:nvSpPr>
          <p:spPr bwMode="auto">
            <a:xfrm rot="5400000">
              <a:off x="2715" y="2689"/>
              <a:ext cx="22" cy="35"/>
            </a:xfrm>
            <a:prstGeom prst="line">
              <a:avLst/>
            </a:prstGeom>
            <a:noFill/>
            <a:ln w="19050">
              <a:solidFill>
                <a:schemeClr val="accent1"/>
              </a:solidFill>
              <a:round/>
              <a:headEnd/>
              <a:tailEnd/>
            </a:ln>
          </p:spPr>
          <p:txBody>
            <a:bodyPr/>
            <a:lstStyle/>
            <a:p>
              <a:endParaRPr lang="en-GB"/>
            </a:p>
          </p:txBody>
        </p:sp>
        <p:sp>
          <p:nvSpPr>
            <p:cNvPr id="176" name="Line 105">
              <a:extLst>
                <a:ext uri="{FF2B5EF4-FFF2-40B4-BE49-F238E27FC236}">
                  <a16:creationId xmlns:a16="http://schemas.microsoft.com/office/drawing/2014/main" id="{1C87184F-8F7C-AE26-F247-E7EEFC7D1D39}"/>
                </a:ext>
              </a:extLst>
            </p:cNvPr>
            <p:cNvSpPr>
              <a:spLocks noChangeShapeType="1"/>
            </p:cNvSpPr>
            <p:nvPr/>
          </p:nvSpPr>
          <p:spPr bwMode="auto">
            <a:xfrm rot="5400000">
              <a:off x="2684" y="2711"/>
              <a:ext cx="17" cy="31"/>
            </a:xfrm>
            <a:prstGeom prst="line">
              <a:avLst/>
            </a:prstGeom>
            <a:noFill/>
            <a:ln w="19050">
              <a:solidFill>
                <a:schemeClr val="accent1"/>
              </a:solidFill>
              <a:round/>
              <a:headEnd/>
              <a:tailEnd/>
            </a:ln>
          </p:spPr>
          <p:txBody>
            <a:bodyPr/>
            <a:lstStyle/>
            <a:p>
              <a:endParaRPr lang="en-GB"/>
            </a:p>
          </p:txBody>
        </p:sp>
        <p:sp>
          <p:nvSpPr>
            <p:cNvPr id="177" name="Line 106">
              <a:extLst>
                <a:ext uri="{FF2B5EF4-FFF2-40B4-BE49-F238E27FC236}">
                  <a16:creationId xmlns:a16="http://schemas.microsoft.com/office/drawing/2014/main" id="{3E83D731-521A-2ABF-F62A-5C02B3684F9A}"/>
                </a:ext>
              </a:extLst>
            </p:cNvPr>
            <p:cNvSpPr>
              <a:spLocks noChangeShapeType="1"/>
            </p:cNvSpPr>
            <p:nvPr/>
          </p:nvSpPr>
          <p:spPr bwMode="auto">
            <a:xfrm rot="5400000">
              <a:off x="2652" y="2731"/>
              <a:ext cx="21" cy="29"/>
            </a:xfrm>
            <a:prstGeom prst="line">
              <a:avLst/>
            </a:prstGeom>
            <a:noFill/>
            <a:ln w="19050">
              <a:solidFill>
                <a:schemeClr val="accent1"/>
              </a:solidFill>
              <a:round/>
              <a:headEnd/>
              <a:tailEnd/>
            </a:ln>
          </p:spPr>
          <p:txBody>
            <a:bodyPr/>
            <a:lstStyle/>
            <a:p>
              <a:endParaRPr lang="en-GB"/>
            </a:p>
          </p:txBody>
        </p:sp>
        <p:sp>
          <p:nvSpPr>
            <p:cNvPr id="178" name="Line 107">
              <a:extLst>
                <a:ext uri="{FF2B5EF4-FFF2-40B4-BE49-F238E27FC236}">
                  <a16:creationId xmlns:a16="http://schemas.microsoft.com/office/drawing/2014/main" id="{293D5A94-B9EB-E7B2-DA96-297E946EE605}"/>
                </a:ext>
              </a:extLst>
            </p:cNvPr>
            <p:cNvSpPr>
              <a:spLocks noChangeShapeType="1"/>
            </p:cNvSpPr>
            <p:nvPr/>
          </p:nvSpPr>
          <p:spPr bwMode="auto">
            <a:xfrm rot="5400000">
              <a:off x="2627" y="2752"/>
              <a:ext cx="18" cy="25"/>
            </a:xfrm>
            <a:prstGeom prst="line">
              <a:avLst/>
            </a:prstGeom>
            <a:noFill/>
            <a:ln w="19050">
              <a:solidFill>
                <a:schemeClr val="accent1"/>
              </a:solidFill>
              <a:round/>
              <a:headEnd/>
              <a:tailEnd/>
            </a:ln>
          </p:spPr>
          <p:txBody>
            <a:bodyPr/>
            <a:lstStyle/>
            <a:p>
              <a:endParaRPr lang="en-GB"/>
            </a:p>
          </p:txBody>
        </p:sp>
        <p:sp>
          <p:nvSpPr>
            <p:cNvPr id="179" name="Line 108">
              <a:extLst>
                <a:ext uri="{FF2B5EF4-FFF2-40B4-BE49-F238E27FC236}">
                  <a16:creationId xmlns:a16="http://schemas.microsoft.com/office/drawing/2014/main" id="{811BE21B-A195-2C17-326B-C11DA422900F}"/>
                </a:ext>
              </a:extLst>
            </p:cNvPr>
            <p:cNvSpPr>
              <a:spLocks noChangeShapeType="1"/>
            </p:cNvSpPr>
            <p:nvPr/>
          </p:nvSpPr>
          <p:spPr bwMode="auto">
            <a:xfrm rot="5400000">
              <a:off x="2602" y="2774"/>
              <a:ext cx="21" cy="22"/>
            </a:xfrm>
            <a:prstGeom prst="line">
              <a:avLst/>
            </a:prstGeom>
            <a:noFill/>
            <a:ln w="19050">
              <a:solidFill>
                <a:schemeClr val="accent1"/>
              </a:solidFill>
              <a:round/>
              <a:headEnd/>
              <a:tailEnd/>
            </a:ln>
          </p:spPr>
          <p:txBody>
            <a:bodyPr/>
            <a:lstStyle/>
            <a:p>
              <a:endParaRPr lang="en-GB"/>
            </a:p>
          </p:txBody>
        </p:sp>
        <p:sp>
          <p:nvSpPr>
            <p:cNvPr id="180" name="Line 109">
              <a:extLst>
                <a:ext uri="{FF2B5EF4-FFF2-40B4-BE49-F238E27FC236}">
                  <a16:creationId xmlns:a16="http://schemas.microsoft.com/office/drawing/2014/main" id="{634EFCC5-4219-FC99-3528-84EA8AEB27E1}"/>
                </a:ext>
              </a:extLst>
            </p:cNvPr>
            <p:cNvSpPr>
              <a:spLocks noChangeShapeType="1"/>
            </p:cNvSpPr>
            <p:nvPr/>
          </p:nvSpPr>
          <p:spPr bwMode="auto">
            <a:xfrm rot="5400000">
              <a:off x="2584" y="2793"/>
              <a:ext cx="16" cy="19"/>
            </a:xfrm>
            <a:prstGeom prst="line">
              <a:avLst/>
            </a:prstGeom>
            <a:noFill/>
            <a:ln w="19050">
              <a:solidFill>
                <a:schemeClr val="accent1"/>
              </a:solidFill>
              <a:round/>
              <a:headEnd/>
              <a:tailEnd/>
            </a:ln>
          </p:spPr>
          <p:txBody>
            <a:bodyPr/>
            <a:lstStyle/>
            <a:p>
              <a:endParaRPr lang="en-GB"/>
            </a:p>
          </p:txBody>
        </p:sp>
        <p:sp>
          <p:nvSpPr>
            <p:cNvPr id="181" name="Line 110">
              <a:extLst>
                <a:ext uri="{FF2B5EF4-FFF2-40B4-BE49-F238E27FC236}">
                  <a16:creationId xmlns:a16="http://schemas.microsoft.com/office/drawing/2014/main" id="{2B535178-283B-8256-101D-1BB6D8FCC6C1}"/>
                </a:ext>
              </a:extLst>
            </p:cNvPr>
            <p:cNvSpPr>
              <a:spLocks noChangeShapeType="1"/>
            </p:cNvSpPr>
            <p:nvPr/>
          </p:nvSpPr>
          <p:spPr bwMode="auto">
            <a:xfrm rot="5400000">
              <a:off x="2563" y="2815"/>
              <a:ext cx="23" cy="15"/>
            </a:xfrm>
            <a:prstGeom prst="line">
              <a:avLst/>
            </a:prstGeom>
            <a:noFill/>
            <a:ln w="19050">
              <a:solidFill>
                <a:schemeClr val="accent1"/>
              </a:solidFill>
              <a:round/>
              <a:headEnd/>
              <a:tailEnd/>
            </a:ln>
          </p:spPr>
          <p:txBody>
            <a:bodyPr/>
            <a:lstStyle/>
            <a:p>
              <a:endParaRPr lang="en-GB"/>
            </a:p>
          </p:txBody>
        </p:sp>
        <p:sp>
          <p:nvSpPr>
            <p:cNvPr id="182" name="Line 111">
              <a:extLst>
                <a:ext uri="{FF2B5EF4-FFF2-40B4-BE49-F238E27FC236}">
                  <a16:creationId xmlns:a16="http://schemas.microsoft.com/office/drawing/2014/main" id="{3FB6C5C1-07BD-1BE6-FEEA-7DEC3748B779}"/>
                </a:ext>
              </a:extLst>
            </p:cNvPr>
            <p:cNvSpPr>
              <a:spLocks noChangeShapeType="1"/>
            </p:cNvSpPr>
            <p:nvPr/>
          </p:nvSpPr>
          <p:spPr bwMode="auto">
            <a:xfrm rot="5400000">
              <a:off x="2553" y="2835"/>
              <a:ext cx="16" cy="13"/>
            </a:xfrm>
            <a:prstGeom prst="line">
              <a:avLst/>
            </a:prstGeom>
            <a:noFill/>
            <a:ln w="19050">
              <a:solidFill>
                <a:schemeClr val="accent1"/>
              </a:solidFill>
              <a:round/>
              <a:headEnd/>
              <a:tailEnd/>
            </a:ln>
          </p:spPr>
          <p:txBody>
            <a:bodyPr/>
            <a:lstStyle/>
            <a:p>
              <a:endParaRPr lang="en-GB"/>
            </a:p>
          </p:txBody>
        </p:sp>
        <p:sp>
          <p:nvSpPr>
            <p:cNvPr id="183" name="Line 112">
              <a:extLst>
                <a:ext uri="{FF2B5EF4-FFF2-40B4-BE49-F238E27FC236}">
                  <a16:creationId xmlns:a16="http://schemas.microsoft.com/office/drawing/2014/main" id="{8EBB9938-17CE-9784-50FA-411B4FE04849}"/>
                </a:ext>
              </a:extLst>
            </p:cNvPr>
            <p:cNvSpPr>
              <a:spLocks noChangeShapeType="1"/>
            </p:cNvSpPr>
            <p:nvPr/>
          </p:nvSpPr>
          <p:spPr bwMode="auto">
            <a:xfrm rot="5400000">
              <a:off x="2536" y="2855"/>
              <a:ext cx="23" cy="13"/>
            </a:xfrm>
            <a:prstGeom prst="line">
              <a:avLst/>
            </a:prstGeom>
            <a:noFill/>
            <a:ln w="19050">
              <a:solidFill>
                <a:schemeClr val="accent1"/>
              </a:solidFill>
              <a:round/>
              <a:headEnd/>
              <a:tailEnd/>
            </a:ln>
          </p:spPr>
          <p:txBody>
            <a:bodyPr/>
            <a:lstStyle/>
            <a:p>
              <a:endParaRPr lang="en-GB"/>
            </a:p>
          </p:txBody>
        </p:sp>
        <p:sp>
          <p:nvSpPr>
            <p:cNvPr id="184" name="Line 113">
              <a:extLst>
                <a:ext uri="{FF2B5EF4-FFF2-40B4-BE49-F238E27FC236}">
                  <a16:creationId xmlns:a16="http://schemas.microsoft.com/office/drawing/2014/main" id="{05A1921E-EA05-12C1-D738-702861D5EEE6}"/>
                </a:ext>
              </a:extLst>
            </p:cNvPr>
            <p:cNvSpPr>
              <a:spLocks noChangeShapeType="1"/>
            </p:cNvSpPr>
            <p:nvPr/>
          </p:nvSpPr>
          <p:spPr bwMode="auto">
            <a:xfrm rot="5400000">
              <a:off x="2526" y="2879"/>
              <a:ext cx="21" cy="9"/>
            </a:xfrm>
            <a:prstGeom prst="line">
              <a:avLst/>
            </a:prstGeom>
            <a:noFill/>
            <a:ln w="19050">
              <a:solidFill>
                <a:schemeClr val="accent1"/>
              </a:solidFill>
              <a:round/>
              <a:headEnd/>
              <a:tailEnd/>
            </a:ln>
          </p:spPr>
          <p:txBody>
            <a:bodyPr/>
            <a:lstStyle/>
            <a:p>
              <a:endParaRPr lang="en-GB"/>
            </a:p>
          </p:txBody>
        </p:sp>
        <p:sp>
          <p:nvSpPr>
            <p:cNvPr id="185" name="Line 114">
              <a:extLst>
                <a:ext uri="{FF2B5EF4-FFF2-40B4-BE49-F238E27FC236}">
                  <a16:creationId xmlns:a16="http://schemas.microsoft.com/office/drawing/2014/main" id="{7F3DCE5C-65F2-243E-86EF-66B1E7D816B3}"/>
                </a:ext>
              </a:extLst>
            </p:cNvPr>
            <p:cNvSpPr>
              <a:spLocks noChangeShapeType="1"/>
            </p:cNvSpPr>
            <p:nvPr/>
          </p:nvSpPr>
          <p:spPr bwMode="auto">
            <a:xfrm rot="5400000">
              <a:off x="2522" y="2899"/>
              <a:ext cx="16" cy="6"/>
            </a:xfrm>
            <a:prstGeom prst="line">
              <a:avLst/>
            </a:prstGeom>
            <a:noFill/>
            <a:ln w="19050">
              <a:solidFill>
                <a:schemeClr val="accent1"/>
              </a:solidFill>
              <a:round/>
              <a:headEnd/>
              <a:tailEnd/>
            </a:ln>
          </p:spPr>
          <p:txBody>
            <a:bodyPr/>
            <a:lstStyle/>
            <a:p>
              <a:endParaRPr lang="en-GB"/>
            </a:p>
          </p:txBody>
        </p:sp>
        <p:sp>
          <p:nvSpPr>
            <p:cNvPr id="186" name="Line 115">
              <a:extLst>
                <a:ext uri="{FF2B5EF4-FFF2-40B4-BE49-F238E27FC236}">
                  <a16:creationId xmlns:a16="http://schemas.microsoft.com/office/drawing/2014/main" id="{8A45DFF8-B457-A352-1443-6F9E12DCBF92}"/>
                </a:ext>
              </a:extLst>
            </p:cNvPr>
            <p:cNvSpPr>
              <a:spLocks noChangeShapeType="1"/>
            </p:cNvSpPr>
            <p:nvPr/>
          </p:nvSpPr>
          <p:spPr bwMode="auto">
            <a:xfrm rot="5400000">
              <a:off x="2511" y="2918"/>
              <a:ext cx="23" cy="7"/>
            </a:xfrm>
            <a:prstGeom prst="line">
              <a:avLst/>
            </a:prstGeom>
            <a:noFill/>
            <a:ln w="19050">
              <a:solidFill>
                <a:schemeClr val="accent1"/>
              </a:solidFill>
              <a:round/>
              <a:headEnd/>
              <a:tailEnd/>
            </a:ln>
          </p:spPr>
          <p:txBody>
            <a:bodyPr/>
            <a:lstStyle/>
            <a:p>
              <a:endParaRPr lang="en-GB"/>
            </a:p>
          </p:txBody>
        </p:sp>
        <p:sp>
          <p:nvSpPr>
            <p:cNvPr id="187" name="Line 116">
              <a:extLst>
                <a:ext uri="{FF2B5EF4-FFF2-40B4-BE49-F238E27FC236}">
                  <a16:creationId xmlns:a16="http://schemas.microsoft.com/office/drawing/2014/main" id="{2737914D-B7A4-31E1-211E-37D34326D4AC}"/>
                </a:ext>
              </a:extLst>
            </p:cNvPr>
            <p:cNvSpPr>
              <a:spLocks noChangeShapeType="1"/>
            </p:cNvSpPr>
            <p:nvPr/>
          </p:nvSpPr>
          <p:spPr bwMode="auto">
            <a:xfrm rot="5400000">
              <a:off x="2510" y="2939"/>
              <a:ext cx="16" cy="3"/>
            </a:xfrm>
            <a:prstGeom prst="line">
              <a:avLst/>
            </a:prstGeom>
            <a:noFill/>
            <a:ln w="19050">
              <a:solidFill>
                <a:schemeClr val="accent1"/>
              </a:solidFill>
              <a:round/>
              <a:headEnd/>
              <a:tailEnd/>
            </a:ln>
          </p:spPr>
          <p:txBody>
            <a:bodyPr/>
            <a:lstStyle/>
            <a:p>
              <a:endParaRPr lang="en-GB"/>
            </a:p>
          </p:txBody>
        </p:sp>
        <p:sp>
          <p:nvSpPr>
            <p:cNvPr id="188" name="Line 117">
              <a:extLst>
                <a:ext uri="{FF2B5EF4-FFF2-40B4-BE49-F238E27FC236}">
                  <a16:creationId xmlns:a16="http://schemas.microsoft.com/office/drawing/2014/main" id="{26284D1C-7263-C9E5-2455-4FD49AC98747}"/>
                </a:ext>
              </a:extLst>
            </p:cNvPr>
            <p:cNvSpPr>
              <a:spLocks noChangeShapeType="1"/>
            </p:cNvSpPr>
            <p:nvPr/>
          </p:nvSpPr>
          <p:spPr bwMode="auto">
            <a:xfrm rot="5400000">
              <a:off x="2503" y="2959"/>
              <a:ext cx="23" cy="3"/>
            </a:xfrm>
            <a:prstGeom prst="line">
              <a:avLst/>
            </a:prstGeom>
            <a:noFill/>
            <a:ln w="19050">
              <a:solidFill>
                <a:schemeClr val="accent1"/>
              </a:solidFill>
              <a:round/>
              <a:headEnd/>
              <a:tailEnd/>
            </a:ln>
          </p:spPr>
          <p:txBody>
            <a:bodyPr/>
            <a:lstStyle/>
            <a:p>
              <a:endParaRPr lang="en-GB"/>
            </a:p>
          </p:txBody>
        </p:sp>
        <p:sp>
          <p:nvSpPr>
            <p:cNvPr id="189" name="Line 118">
              <a:extLst>
                <a:ext uri="{FF2B5EF4-FFF2-40B4-BE49-F238E27FC236}">
                  <a16:creationId xmlns:a16="http://schemas.microsoft.com/office/drawing/2014/main" id="{C7A8AED5-C3A2-490D-F689-8F3BCD8ED494}"/>
                </a:ext>
              </a:extLst>
            </p:cNvPr>
            <p:cNvSpPr>
              <a:spLocks noChangeShapeType="1"/>
            </p:cNvSpPr>
            <p:nvPr/>
          </p:nvSpPr>
          <p:spPr bwMode="auto">
            <a:xfrm rot="5400000">
              <a:off x="2504" y="2978"/>
              <a:ext cx="16" cy="3"/>
            </a:xfrm>
            <a:prstGeom prst="line">
              <a:avLst/>
            </a:prstGeom>
            <a:noFill/>
            <a:ln w="19050">
              <a:solidFill>
                <a:schemeClr val="accent1"/>
              </a:solidFill>
              <a:round/>
              <a:headEnd/>
              <a:tailEnd/>
            </a:ln>
          </p:spPr>
          <p:txBody>
            <a:bodyPr/>
            <a:lstStyle/>
            <a:p>
              <a:endParaRPr lang="en-GB"/>
            </a:p>
          </p:txBody>
        </p:sp>
        <p:sp>
          <p:nvSpPr>
            <p:cNvPr id="190" name="Line 119">
              <a:extLst>
                <a:ext uri="{FF2B5EF4-FFF2-40B4-BE49-F238E27FC236}">
                  <a16:creationId xmlns:a16="http://schemas.microsoft.com/office/drawing/2014/main" id="{23982B9E-409D-1F10-B4C7-7D1A9BA562DD}"/>
                </a:ext>
              </a:extLst>
            </p:cNvPr>
            <p:cNvSpPr>
              <a:spLocks noChangeShapeType="1"/>
            </p:cNvSpPr>
            <p:nvPr/>
          </p:nvSpPr>
          <p:spPr bwMode="auto">
            <a:xfrm rot="5400000">
              <a:off x="2498" y="2997"/>
              <a:ext cx="22" cy="3"/>
            </a:xfrm>
            <a:prstGeom prst="line">
              <a:avLst/>
            </a:prstGeom>
            <a:noFill/>
            <a:ln w="19050">
              <a:solidFill>
                <a:schemeClr val="accent1"/>
              </a:solidFill>
              <a:round/>
              <a:headEnd/>
              <a:tailEnd/>
            </a:ln>
          </p:spPr>
          <p:txBody>
            <a:bodyPr/>
            <a:lstStyle/>
            <a:p>
              <a:endParaRPr lang="en-GB"/>
            </a:p>
          </p:txBody>
        </p:sp>
        <p:sp>
          <p:nvSpPr>
            <p:cNvPr id="191" name="Line 120">
              <a:extLst>
                <a:ext uri="{FF2B5EF4-FFF2-40B4-BE49-F238E27FC236}">
                  <a16:creationId xmlns:a16="http://schemas.microsoft.com/office/drawing/2014/main" id="{763B2869-329D-5C8A-D2BA-835FB1470DAC}"/>
                </a:ext>
              </a:extLst>
            </p:cNvPr>
            <p:cNvSpPr>
              <a:spLocks noChangeShapeType="1"/>
            </p:cNvSpPr>
            <p:nvPr/>
          </p:nvSpPr>
          <p:spPr bwMode="auto">
            <a:xfrm rot="5400000">
              <a:off x="2495" y="3019"/>
              <a:ext cx="22" cy="3"/>
            </a:xfrm>
            <a:prstGeom prst="line">
              <a:avLst/>
            </a:prstGeom>
            <a:noFill/>
            <a:ln w="19050">
              <a:solidFill>
                <a:schemeClr val="accent1"/>
              </a:solidFill>
              <a:round/>
              <a:headEnd/>
              <a:tailEnd/>
            </a:ln>
          </p:spPr>
          <p:txBody>
            <a:bodyPr/>
            <a:lstStyle/>
            <a:p>
              <a:endParaRPr lang="en-GB"/>
            </a:p>
          </p:txBody>
        </p:sp>
        <p:sp>
          <p:nvSpPr>
            <p:cNvPr id="192" name="Line 121">
              <a:extLst>
                <a:ext uri="{FF2B5EF4-FFF2-40B4-BE49-F238E27FC236}">
                  <a16:creationId xmlns:a16="http://schemas.microsoft.com/office/drawing/2014/main" id="{DF8B4A82-DFA5-2707-7257-0DADAC1E82A2}"/>
                </a:ext>
              </a:extLst>
            </p:cNvPr>
            <p:cNvSpPr>
              <a:spLocks noChangeShapeType="1"/>
            </p:cNvSpPr>
            <p:nvPr/>
          </p:nvSpPr>
          <p:spPr bwMode="auto">
            <a:xfrm rot="5400000">
              <a:off x="2496" y="3039"/>
              <a:ext cx="16" cy="1"/>
            </a:xfrm>
            <a:prstGeom prst="line">
              <a:avLst/>
            </a:prstGeom>
            <a:noFill/>
            <a:ln w="19050">
              <a:solidFill>
                <a:schemeClr val="accent1"/>
              </a:solidFill>
              <a:round/>
              <a:headEnd/>
              <a:tailEnd/>
            </a:ln>
          </p:spPr>
          <p:txBody>
            <a:bodyPr/>
            <a:lstStyle/>
            <a:p>
              <a:endParaRPr lang="en-GB"/>
            </a:p>
          </p:txBody>
        </p:sp>
        <p:sp>
          <p:nvSpPr>
            <p:cNvPr id="193" name="Line 122">
              <a:extLst>
                <a:ext uri="{FF2B5EF4-FFF2-40B4-BE49-F238E27FC236}">
                  <a16:creationId xmlns:a16="http://schemas.microsoft.com/office/drawing/2014/main" id="{F0912104-A5A0-AF9E-4BE5-9D2A01BF6FCD}"/>
                </a:ext>
              </a:extLst>
            </p:cNvPr>
            <p:cNvSpPr>
              <a:spLocks noChangeShapeType="1"/>
            </p:cNvSpPr>
            <p:nvPr/>
          </p:nvSpPr>
          <p:spPr bwMode="auto">
            <a:xfrm rot="5400000">
              <a:off x="2493" y="3058"/>
              <a:ext cx="22" cy="1"/>
            </a:xfrm>
            <a:prstGeom prst="line">
              <a:avLst/>
            </a:prstGeom>
            <a:noFill/>
            <a:ln w="19050">
              <a:solidFill>
                <a:schemeClr val="accent1"/>
              </a:solidFill>
              <a:round/>
              <a:headEnd/>
              <a:tailEnd/>
            </a:ln>
          </p:spPr>
          <p:txBody>
            <a:bodyPr/>
            <a:lstStyle/>
            <a:p>
              <a:endParaRPr lang="en-GB"/>
            </a:p>
          </p:txBody>
        </p:sp>
        <p:sp>
          <p:nvSpPr>
            <p:cNvPr id="194" name="Line 123">
              <a:extLst>
                <a:ext uri="{FF2B5EF4-FFF2-40B4-BE49-F238E27FC236}">
                  <a16:creationId xmlns:a16="http://schemas.microsoft.com/office/drawing/2014/main" id="{2BD0B81B-6965-2859-4F81-F75BA790EF64}"/>
                </a:ext>
              </a:extLst>
            </p:cNvPr>
            <p:cNvSpPr>
              <a:spLocks noChangeShapeType="1"/>
            </p:cNvSpPr>
            <p:nvPr/>
          </p:nvSpPr>
          <p:spPr bwMode="auto">
            <a:xfrm rot="5400000">
              <a:off x="2495" y="3078"/>
              <a:ext cx="17" cy="1"/>
            </a:xfrm>
            <a:prstGeom prst="line">
              <a:avLst/>
            </a:prstGeom>
            <a:noFill/>
            <a:ln w="19050">
              <a:solidFill>
                <a:schemeClr val="accent1"/>
              </a:solidFill>
              <a:round/>
              <a:headEnd/>
              <a:tailEnd/>
            </a:ln>
          </p:spPr>
          <p:txBody>
            <a:bodyPr/>
            <a:lstStyle/>
            <a:p>
              <a:endParaRPr lang="en-GB"/>
            </a:p>
          </p:txBody>
        </p:sp>
        <p:sp>
          <p:nvSpPr>
            <p:cNvPr id="195" name="Freeform 124">
              <a:extLst>
                <a:ext uri="{FF2B5EF4-FFF2-40B4-BE49-F238E27FC236}">
                  <a16:creationId xmlns:a16="http://schemas.microsoft.com/office/drawing/2014/main" id="{D588BC9F-491F-410D-F865-8DD55FCD3E1C}"/>
                </a:ext>
              </a:extLst>
            </p:cNvPr>
            <p:cNvSpPr>
              <a:spLocks/>
            </p:cNvSpPr>
            <p:nvPr/>
          </p:nvSpPr>
          <p:spPr bwMode="auto">
            <a:xfrm rot="5400000">
              <a:off x="2492" y="3096"/>
              <a:ext cx="22" cy="4"/>
            </a:xfrm>
            <a:custGeom>
              <a:avLst/>
              <a:gdLst/>
              <a:ahLst/>
              <a:cxnLst>
                <a:cxn ang="0">
                  <a:pos x="0" y="0"/>
                </a:cxn>
                <a:cxn ang="0">
                  <a:pos x="8" y="0"/>
                </a:cxn>
                <a:cxn ang="0">
                  <a:pos x="20" y="4"/>
                </a:cxn>
              </a:cxnLst>
              <a:rect l="0" t="0" r="r" b="b"/>
              <a:pathLst>
                <a:path w="20" h="4">
                  <a:moveTo>
                    <a:pt x="0" y="0"/>
                  </a:moveTo>
                  <a:lnTo>
                    <a:pt x="8" y="0"/>
                  </a:lnTo>
                  <a:lnTo>
                    <a:pt x="20" y="4"/>
                  </a:lnTo>
                </a:path>
              </a:pathLst>
            </a:custGeom>
            <a:noFill/>
            <a:ln w="19050" cmpd="sng">
              <a:solidFill>
                <a:schemeClr val="accent1"/>
              </a:solidFill>
              <a:prstDash val="solid"/>
              <a:round/>
              <a:headEnd/>
              <a:tailEnd/>
            </a:ln>
          </p:spPr>
          <p:txBody>
            <a:bodyPr/>
            <a:lstStyle/>
            <a:p>
              <a:endParaRPr lang="en-GB"/>
            </a:p>
          </p:txBody>
        </p:sp>
      </p:grpSp>
      <p:sp>
        <p:nvSpPr>
          <p:cNvPr id="196" name="Line 16">
            <a:extLst>
              <a:ext uri="{FF2B5EF4-FFF2-40B4-BE49-F238E27FC236}">
                <a16:creationId xmlns:a16="http://schemas.microsoft.com/office/drawing/2014/main" id="{EDA6D740-03AF-BCE7-879E-9E33CC4EEA93}"/>
              </a:ext>
            </a:extLst>
          </p:cNvPr>
          <p:cNvSpPr>
            <a:spLocks noChangeShapeType="1"/>
          </p:cNvSpPr>
          <p:nvPr/>
        </p:nvSpPr>
        <p:spPr bwMode="auto">
          <a:xfrm>
            <a:off x="3960171" y="1974769"/>
            <a:ext cx="3473048" cy="0"/>
          </a:xfrm>
          <a:prstGeom prst="line">
            <a:avLst/>
          </a:prstGeom>
          <a:noFill/>
          <a:ln w="19050">
            <a:solidFill>
              <a:schemeClr val="bg1">
                <a:lumMod val="50000"/>
              </a:schemeClr>
            </a:solidFill>
            <a:round/>
            <a:headEnd/>
            <a:tailEnd type="triangle" w="med" len="med"/>
          </a:ln>
          <a:effectLst/>
        </p:spPr>
        <p:txBody>
          <a:bodyPr wrap="none" lIns="0" tIns="0" rIns="0" bIns="0" anchor="ctr"/>
          <a:lstStyle/>
          <a:p>
            <a:endParaRPr lang="en-GB"/>
          </a:p>
        </p:txBody>
      </p:sp>
      <mc:AlternateContent xmlns:mc="http://schemas.openxmlformats.org/markup-compatibility/2006" xmlns:a14="http://schemas.microsoft.com/office/drawing/2010/main">
        <mc:Choice Requires="a14">
          <p:sp>
            <p:nvSpPr>
              <p:cNvPr id="197" name="Object 27">
                <a:extLst>
                  <a:ext uri="{FF2B5EF4-FFF2-40B4-BE49-F238E27FC236}">
                    <a16:creationId xmlns:a16="http://schemas.microsoft.com/office/drawing/2014/main" id="{BF69E9FA-B9DE-20CA-6125-B6A5BD7294F2}"/>
                  </a:ext>
                </a:extLst>
              </p:cNvPr>
              <p:cNvSpPr txBox="1"/>
              <p:nvPr/>
            </p:nvSpPr>
            <p:spPr bwMode="auto">
              <a:xfrm>
                <a:off x="7930709" y="3280648"/>
                <a:ext cx="358397" cy="263111"/>
              </a:xfrm>
              <a:prstGeom prst="rect">
                <a:avLst/>
              </a:prstGeom>
              <a:noFill/>
            </p:spPr>
            <p:txBody>
              <a:bodyPr>
                <a:normAutofit fontScale="25000" lnSpcReduction="20000"/>
              </a:bodyPr>
              <a:lstStyle/>
              <a:p>
                <a:pPr/>
                <a14:m>
                  <m:oMathPara xmlns:m="http://schemas.openxmlformats.org/officeDocument/2006/math">
                    <m:oMathParaPr>
                      <m:jc m:val="center"/>
                    </m:oMathParaPr>
                    <m:oMath>
                      <m:rad>
                        <m:radPr>
                          <m:degHide m:val="on"/>
                          <m:ctrlPr>
                            <a:rPr lang="en-GB" sz="4800" i="1" smtClean="0">
                              <a:solidFill>
                                <a:srgbClr val="000000"/>
                              </a:solidFill>
                              <a:latin typeface="Cambria Math" panose="02040503050406030204" pitchFamily="18" charset="0"/>
                            </a:rPr>
                          </m:ctrlPr>
                        </m:radPr>
                        <m:deg/>
                        <m:e>
                          <m:r>
                            <a:rPr lang="en-GB" sz="4800" b="0" i="1" smtClean="0">
                              <a:solidFill>
                                <a:srgbClr val="000000"/>
                              </a:solidFill>
                              <a:latin typeface="Cambria Math" panose="02040503050406030204" pitchFamily="18" charset="0"/>
                            </a:rPr>
                            <m:t>2</m:t>
                          </m:r>
                        </m:e>
                      </m:rad>
                      <m:r>
                        <a:rPr lang="en-GB" sz="4800" i="1">
                          <a:solidFill>
                            <a:srgbClr val="000000"/>
                          </a:solidFill>
                          <a:latin typeface="Cambria Math" panose="02040503050406030204" pitchFamily="18" charset="0"/>
                        </a:rPr>
                        <m:t>𝜎</m:t>
                      </m:r>
                    </m:oMath>
                  </m:oMathPara>
                </a14:m>
                <a:endParaRPr lang="en-GB" dirty="0"/>
              </a:p>
            </p:txBody>
          </p:sp>
        </mc:Choice>
        <mc:Fallback xmlns="">
          <p:sp>
            <p:nvSpPr>
              <p:cNvPr id="197" name="Object 27">
                <a:extLst>
                  <a:ext uri="{FF2B5EF4-FFF2-40B4-BE49-F238E27FC236}">
                    <a16:creationId xmlns:a16="http://schemas.microsoft.com/office/drawing/2014/main" id="{BF69E9FA-B9DE-20CA-6125-B6A5BD7294F2}"/>
                  </a:ext>
                </a:extLst>
              </p:cNvPr>
              <p:cNvSpPr txBox="1">
                <a:spLocks noRot="1" noChangeAspect="1" noMove="1" noResize="1" noEditPoints="1" noAdjustHandles="1" noChangeArrowheads="1" noChangeShapeType="1" noTextEdit="1"/>
              </p:cNvSpPr>
              <p:nvPr/>
            </p:nvSpPr>
            <p:spPr bwMode="auto">
              <a:xfrm>
                <a:off x="7930709" y="3280648"/>
                <a:ext cx="358397" cy="263111"/>
              </a:xfrm>
              <a:prstGeom prst="rect">
                <a:avLst/>
              </a:prstGeom>
              <a:blipFill>
                <a:blip r:embed="rId5"/>
                <a:stretch>
                  <a:fillRect r="-11864" b="-2326"/>
                </a:stretch>
              </a:blipFill>
            </p:spPr>
            <p:txBody>
              <a:bodyPr/>
              <a:lstStyle/>
              <a:p>
                <a:r>
                  <a:rPr lang="en-GB">
                    <a:noFill/>
                  </a:rPr>
                  <a:t> </a:t>
                </a:r>
              </a:p>
            </p:txBody>
          </p:sp>
        </mc:Fallback>
      </mc:AlternateContent>
    </p:spTree>
    <p:extLst>
      <p:ext uri="{BB962C8B-B14F-4D97-AF65-F5344CB8AC3E}">
        <p14:creationId xmlns:p14="http://schemas.microsoft.com/office/powerpoint/2010/main" val="3855663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1063261" y="1390263"/>
            <a:ext cx="7947389" cy="3339376"/>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800"/>
              </a:spcAft>
              <a:buNone/>
            </a:pPr>
            <a:r>
              <a:rPr lang="en-GB" sz="1800" b="1" dirty="0">
                <a:solidFill>
                  <a:schemeClr val="accent2"/>
                </a:solidFill>
                <a:latin typeface="+mn-lt"/>
              </a:rPr>
              <a:t>Our objectives</a:t>
            </a:r>
          </a:p>
          <a:p>
            <a:pPr>
              <a:spcAft>
                <a:spcPts val="1800"/>
              </a:spcAft>
            </a:pPr>
            <a:r>
              <a:rPr lang="en-GB" sz="1800" dirty="0">
                <a:latin typeface="+mn-lt"/>
              </a:rPr>
              <a:t>For each asset we want to generate a set of normally distributed returns – in line with the standard model.</a:t>
            </a:r>
          </a:p>
          <a:p>
            <a:pPr>
              <a:spcAft>
                <a:spcPts val="1800"/>
              </a:spcAft>
            </a:pPr>
            <a:r>
              <a:rPr lang="en-GB" sz="1800" dirty="0">
                <a:latin typeface="+mn-lt"/>
              </a:rPr>
              <a:t>The mean returns and standard deviations of returns to match our chosen values.</a:t>
            </a:r>
          </a:p>
          <a:p>
            <a:pPr>
              <a:spcAft>
                <a:spcPts val="1800"/>
              </a:spcAft>
            </a:pPr>
            <a:r>
              <a:rPr lang="en-GB" sz="1800" dirty="0">
                <a:latin typeface="+mn-lt"/>
              </a:rPr>
              <a:t>The correlations of returns between each pair of assets also has to match our requirements.</a:t>
            </a:r>
          </a:p>
          <a:p>
            <a:pPr marL="0" indent="0">
              <a:spcAft>
                <a:spcPts val="1800"/>
              </a:spcAft>
              <a:buNone/>
            </a:pPr>
            <a:endParaRPr lang="en-GB" sz="1800" dirty="0">
              <a:latin typeface="+mn-lt"/>
            </a:endParaRPr>
          </a:p>
          <a:p>
            <a:pPr>
              <a:spcAft>
                <a:spcPts val="1800"/>
              </a:spcAft>
            </a:pPr>
            <a:endParaRPr lang="en-GB" dirty="0"/>
          </a:p>
        </p:txBody>
      </p:sp>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p:txBody>
          <a:bodyPr/>
          <a:lstStyle/>
          <a:p>
            <a:r>
              <a:rPr lang="en-GB" dirty="0"/>
              <a:t>Monte carlo simulation</a:t>
            </a:r>
          </a:p>
        </p:txBody>
      </p:sp>
    </p:spTree>
    <p:extLst>
      <p:ext uri="{BB962C8B-B14F-4D97-AF65-F5344CB8AC3E}">
        <p14:creationId xmlns:p14="http://schemas.microsoft.com/office/powerpoint/2010/main" val="2282982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1063261" y="1390263"/>
            <a:ext cx="7947389" cy="4955203"/>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800"/>
              </a:spcAft>
              <a:buNone/>
            </a:pPr>
            <a:r>
              <a:rPr lang="en-GB" sz="1800" dirty="0">
                <a:latin typeface="+mn-lt"/>
              </a:rPr>
              <a:t>The steps we’ll follow to achieve this:</a:t>
            </a:r>
          </a:p>
          <a:p>
            <a:pPr marL="523875" lvl="1" indent="-342900">
              <a:spcAft>
                <a:spcPts val="1800"/>
              </a:spcAft>
              <a:buFont typeface="+mj-lt"/>
              <a:buAutoNum type="arabicPeriod"/>
            </a:pPr>
            <a:r>
              <a:rPr lang="en-GB" sz="1800" dirty="0">
                <a:latin typeface="+mn-lt"/>
              </a:rPr>
              <a:t>For each asset, we generate a set of uniformly-distributed random numbers between 0 and 1. These sets of numbers will be independent of each other, with correlations close to zero.</a:t>
            </a:r>
          </a:p>
          <a:p>
            <a:pPr marL="523875" lvl="1" indent="-342900">
              <a:spcAft>
                <a:spcPts val="1800"/>
              </a:spcAft>
              <a:buFont typeface="+mj-lt"/>
              <a:buAutoNum type="arabicPeriod"/>
            </a:pPr>
            <a:r>
              <a:rPr lang="en-GB" sz="1800" dirty="0">
                <a:latin typeface="+mn-lt"/>
              </a:rPr>
              <a:t>We’ll then convert these to sets of normally distributed random numbers, each set having a mean of 0 and a standard deviation of 1. The sets will still be independent. </a:t>
            </a:r>
          </a:p>
          <a:p>
            <a:pPr marL="523875" lvl="1" indent="-342900">
              <a:spcAft>
                <a:spcPts val="1800"/>
              </a:spcAft>
              <a:buFont typeface="+mj-lt"/>
              <a:buAutoNum type="arabicPeriod"/>
            </a:pPr>
            <a:r>
              <a:rPr lang="en-GB" sz="1800" dirty="0">
                <a:latin typeface="+mn-lt"/>
              </a:rPr>
              <a:t>We’ll then use a bit of algebra to convert these independent series of numbers into ones that are correlated as required.</a:t>
            </a:r>
          </a:p>
          <a:p>
            <a:pPr marL="523875" lvl="1" indent="-342900">
              <a:spcAft>
                <a:spcPts val="1800"/>
              </a:spcAft>
              <a:buFont typeface="+mj-lt"/>
              <a:buAutoNum type="arabicPeriod"/>
            </a:pPr>
            <a:r>
              <a:rPr lang="en-GB" sz="1800" dirty="0">
                <a:latin typeface="+mn-lt"/>
              </a:rPr>
              <a:t>Finally we squeeze or expand the series to match the required standard deviations, and shift them to obtain the required means.</a:t>
            </a:r>
          </a:p>
          <a:p>
            <a:pPr marL="0" indent="0">
              <a:spcAft>
                <a:spcPts val="1800"/>
              </a:spcAft>
              <a:buNone/>
            </a:pPr>
            <a:endParaRPr lang="en-GB" sz="1800" dirty="0">
              <a:latin typeface="+mn-lt"/>
            </a:endParaRPr>
          </a:p>
          <a:p>
            <a:pPr>
              <a:spcAft>
                <a:spcPts val="1800"/>
              </a:spcAft>
            </a:pPr>
            <a:endParaRPr lang="en-GB" dirty="0"/>
          </a:p>
        </p:txBody>
      </p:sp>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p:txBody>
          <a:bodyPr/>
          <a:lstStyle/>
          <a:p>
            <a:r>
              <a:rPr lang="en-GB" dirty="0"/>
              <a:t>Monte carlo simulation</a:t>
            </a:r>
          </a:p>
        </p:txBody>
      </p:sp>
    </p:spTree>
    <p:extLst>
      <p:ext uri="{BB962C8B-B14F-4D97-AF65-F5344CB8AC3E}">
        <p14:creationId xmlns:p14="http://schemas.microsoft.com/office/powerpoint/2010/main" val="2430384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979200" y="1448452"/>
            <a:ext cx="7947389" cy="5493812"/>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GB" sz="1800" dirty="0">
                <a:latin typeface="+mn-lt"/>
              </a:rPr>
              <a:t>It’s possible to factorise any correlation matrix </a:t>
            </a:r>
            <a:r>
              <a:rPr lang="el-GR" sz="1800" b="1" dirty="0"/>
              <a:t>Ρ</a:t>
            </a:r>
            <a:r>
              <a:rPr lang="en-GB" sz="1800" dirty="0">
                <a:latin typeface="MS Shell Dlg 2" panose="020B0604030504040204" pitchFamily="34" charset="0"/>
              </a:rPr>
              <a:t> </a:t>
            </a:r>
            <a:r>
              <a:rPr lang="en-GB" sz="1800" dirty="0">
                <a:latin typeface="+mn-lt"/>
              </a:rPr>
              <a:t>into two square matrices, </a:t>
            </a:r>
            <a:r>
              <a:rPr lang="en-GB" sz="1800" b="1" dirty="0">
                <a:latin typeface="+mn-lt"/>
              </a:rPr>
              <a:t>L</a:t>
            </a:r>
            <a:r>
              <a:rPr lang="en-GB" sz="1800" dirty="0">
                <a:latin typeface="+mn-lt"/>
              </a:rPr>
              <a:t> and </a:t>
            </a:r>
            <a:r>
              <a:rPr lang="en-GB" sz="1800" b="1" dirty="0">
                <a:latin typeface="+mn-lt"/>
              </a:rPr>
              <a:t>U</a:t>
            </a:r>
            <a:r>
              <a:rPr lang="en-GB" sz="1800" dirty="0">
                <a:latin typeface="+mn-lt"/>
              </a:rPr>
              <a:t>, such that: </a:t>
            </a:r>
          </a:p>
          <a:p>
            <a:pPr marL="0" indent="0">
              <a:spcBef>
                <a:spcPts val="600"/>
              </a:spcBef>
              <a:spcAft>
                <a:spcPts val="1200"/>
              </a:spcAft>
              <a:buNone/>
            </a:pPr>
            <a:r>
              <a:rPr lang="el-GR" sz="1800" dirty="0"/>
              <a:t>	</a:t>
            </a:r>
            <a:r>
              <a:rPr lang="el-GR" sz="1800" b="1" dirty="0"/>
              <a:t>Ρ</a:t>
            </a:r>
            <a:r>
              <a:rPr lang="en-GB" sz="1800" b="1" dirty="0"/>
              <a:t> = L * U</a:t>
            </a:r>
          </a:p>
          <a:p>
            <a:pPr marL="0" indent="0">
              <a:spcAft>
                <a:spcPts val="1800"/>
              </a:spcAft>
              <a:buNone/>
            </a:pPr>
            <a:r>
              <a:rPr lang="en-GB" sz="1800" dirty="0">
                <a:latin typeface="MS Shell Dlg 2" panose="020B0604030504040204" pitchFamily="34" charset="0"/>
              </a:rPr>
              <a:t>   </a:t>
            </a:r>
            <a:r>
              <a:rPr lang="en-GB" sz="1800" dirty="0">
                <a:latin typeface="+mn-lt"/>
              </a:rPr>
              <a:t>and where </a:t>
            </a:r>
            <a:r>
              <a:rPr lang="en-GB" sz="1800" b="1" dirty="0"/>
              <a:t>L</a:t>
            </a:r>
            <a:r>
              <a:rPr lang="en-GB" sz="1800" dirty="0">
                <a:latin typeface="MS Shell Dlg 2" panose="020B0604030504040204" pitchFamily="34" charset="0"/>
              </a:rPr>
              <a:t> </a:t>
            </a:r>
            <a:r>
              <a:rPr lang="en-GB" sz="1800" dirty="0">
                <a:latin typeface="+mn-lt"/>
              </a:rPr>
              <a:t>is a lower triangular matrix, </a:t>
            </a:r>
            <a:r>
              <a:rPr lang="en-GB" sz="1800" b="1" dirty="0"/>
              <a:t>U </a:t>
            </a:r>
            <a:r>
              <a:rPr lang="en-GB" sz="1800" dirty="0">
                <a:latin typeface="+mn-lt"/>
              </a:rPr>
              <a:t>upper triangular, and </a:t>
            </a:r>
            <a:r>
              <a:rPr lang="en-GB" sz="1800" b="1" dirty="0"/>
              <a:t>L</a:t>
            </a:r>
            <a:r>
              <a:rPr lang="en-GB" sz="1800" dirty="0">
                <a:latin typeface="MS Shell Dlg 2" panose="020B0604030504040204" pitchFamily="34" charset="0"/>
              </a:rPr>
              <a:t> = </a:t>
            </a:r>
            <a:r>
              <a:rPr lang="en-GB" sz="1800" b="1" dirty="0"/>
              <a:t>U </a:t>
            </a:r>
            <a:r>
              <a:rPr lang="en-GB" sz="1800" b="1" baseline="30000" dirty="0">
                <a:latin typeface="MS Shell Dlg 2" panose="020B0604030504040204" pitchFamily="34" charset="0"/>
              </a:rPr>
              <a:t>T</a:t>
            </a:r>
            <a:r>
              <a:rPr lang="en-GB" sz="1800" dirty="0">
                <a:latin typeface="MS Shell Dlg 2" panose="020B0604030504040204" pitchFamily="34" charset="0"/>
              </a:rPr>
              <a:t> </a:t>
            </a:r>
          </a:p>
          <a:p>
            <a:pPr>
              <a:spcAft>
                <a:spcPts val="1800"/>
              </a:spcAft>
            </a:pPr>
            <a:r>
              <a:rPr lang="en-GB" sz="1800" dirty="0">
                <a:latin typeface="+mn-lt"/>
              </a:rPr>
              <a:t>This is known as a </a:t>
            </a:r>
            <a:r>
              <a:rPr lang="en-GB" sz="1800" i="1" dirty="0">
                <a:latin typeface="+mn-lt"/>
              </a:rPr>
              <a:t>Cholesky decomposition</a:t>
            </a:r>
          </a:p>
          <a:p>
            <a:pPr>
              <a:spcAft>
                <a:spcPts val="1800"/>
              </a:spcAft>
            </a:pPr>
            <a:r>
              <a:rPr lang="en-GB" sz="1800" dirty="0">
                <a:latin typeface="+mn-lt"/>
              </a:rPr>
              <a:t>One nice effect of this we can use is that when we pre-multiply our independent random normal series by the </a:t>
            </a:r>
            <a:r>
              <a:rPr lang="en-GB" sz="1800" b="1" dirty="0"/>
              <a:t>L</a:t>
            </a:r>
            <a:r>
              <a:rPr lang="en-GB" sz="1800" dirty="0">
                <a:latin typeface="+mn-lt"/>
              </a:rPr>
              <a:t> matrix, we end up with correlated random normal series: the correlations being in line with the original correlation matrix </a:t>
            </a:r>
            <a:r>
              <a:rPr lang="el-GR" sz="1800" b="1" dirty="0"/>
              <a:t>Ρ</a:t>
            </a:r>
            <a:endParaRPr lang="en-GB" sz="1800" dirty="0">
              <a:latin typeface="+mn-lt"/>
            </a:endParaRPr>
          </a:p>
          <a:p>
            <a:pPr>
              <a:spcAft>
                <a:spcPts val="1800"/>
              </a:spcAft>
            </a:pPr>
            <a:endParaRPr lang="en-GB" sz="1800" dirty="0">
              <a:latin typeface="+mn-lt"/>
            </a:endParaRPr>
          </a:p>
          <a:p>
            <a:pPr>
              <a:spcAft>
                <a:spcPts val="1800"/>
              </a:spcAft>
            </a:pPr>
            <a:endParaRPr lang="el-GR" sz="1800" dirty="0">
              <a:latin typeface="MS Shell Dlg 2" panose="020B0604030504040204" pitchFamily="34" charset="0"/>
            </a:endParaRPr>
          </a:p>
          <a:p>
            <a:pPr marL="0" indent="0">
              <a:spcAft>
                <a:spcPts val="1800"/>
              </a:spcAft>
              <a:buNone/>
            </a:pPr>
            <a:endParaRPr lang="en-GB" sz="1800" dirty="0">
              <a:latin typeface="+mn-lt"/>
            </a:endParaRPr>
          </a:p>
          <a:p>
            <a:pPr marL="0" indent="0">
              <a:spcAft>
                <a:spcPts val="1800"/>
              </a:spcAft>
              <a:buNone/>
            </a:pPr>
            <a:endParaRPr lang="en-GB" sz="1800" dirty="0">
              <a:latin typeface="+mn-lt"/>
            </a:endParaRPr>
          </a:p>
          <a:p>
            <a:pPr>
              <a:spcAft>
                <a:spcPts val="1800"/>
              </a:spcAft>
            </a:pPr>
            <a:endParaRPr lang="en-GB" dirty="0"/>
          </a:p>
        </p:txBody>
      </p:sp>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p:txBody>
          <a:bodyPr/>
          <a:lstStyle/>
          <a:p>
            <a:r>
              <a:rPr lang="en-GB" dirty="0"/>
              <a:t>The “bit of algebra”</a:t>
            </a:r>
          </a:p>
        </p:txBody>
      </p:sp>
    </p:spTree>
    <p:extLst>
      <p:ext uri="{BB962C8B-B14F-4D97-AF65-F5344CB8AC3E}">
        <p14:creationId xmlns:p14="http://schemas.microsoft.com/office/powerpoint/2010/main" val="1896944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428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392466"/>
      </p:ext>
    </p:extLst>
  </p:cSld>
  <p:clrMapOvr>
    <a:masterClrMapping/>
  </p:clrMapOvr>
</p:sld>
</file>

<file path=ppt/theme/theme1.xml><?xml version="1.0" encoding="utf-8"?>
<a:theme xmlns:a="http://schemas.openxmlformats.org/drawingml/2006/main" name="Office Theme">
  <a:themeElements>
    <a:clrScheme name="CAIM">
      <a:dk1>
        <a:srgbClr val="2C2824"/>
      </a:dk1>
      <a:lt1>
        <a:srgbClr val="FFFFFF"/>
      </a:lt1>
      <a:dk2>
        <a:srgbClr val="D12E28"/>
      </a:dk2>
      <a:lt2>
        <a:srgbClr val="69B578"/>
      </a:lt2>
      <a:accent1>
        <a:srgbClr val="28264B"/>
      </a:accent1>
      <a:accent2>
        <a:srgbClr val="9A221D"/>
      </a:accent2>
      <a:accent3>
        <a:srgbClr val="707070"/>
      </a:accent3>
      <a:accent4>
        <a:srgbClr val="548BE9"/>
      </a:accent4>
      <a:accent5>
        <a:srgbClr val="82ACB3"/>
      </a:accent5>
      <a:accent6>
        <a:srgbClr val="E6BE8A"/>
      </a:accent6>
      <a:hlink>
        <a:srgbClr val="675D54"/>
      </a:hlink>
      <a:folHlink>
        <a:srgbClr val="9E9388"/>
      </a:folHlink>
    </a:clrScheme>
    <a:fontScheme name="CAIM OpenSans SourceSansCAIM">
      <a:majorFont>
        <a:latin typeface="Open Sans"/>
        <a:ea typeface=""/>
        <a:cs typeface=""/>
      </a:majorFont>
      <a:minorFont>
        <a:latin typeface="Source Sans CAIM"/>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519AE100-2625-4348-BC27-CA6A15F6162E}" vid="{2873D34A-7D07-4342-B9AD-29D302CD21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CAIM PPTX Template</Template>
  <TotalTime>4777</TotalTime>
  <Words>575</Words>
  <Application>Microsoft Office PowerPoint</Application>
  <PresentationFormat>A4 Paper (210x297 mm)</PresentationFormat>
  <Paragraphs>64</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Cambria Math</vt:lpstr>
      <vt:lpstr>MS Shell Dlg 2</vt:lpstr>
      <vt:lpstr>Open Sans</vt:lpstr>
      <vt:lpstr>Source Sans CAIM</vt:lpstr>
      <vt:lpstr>System Font Regular</vt:lpstr>
      <vt:lpstr>Office Theme</vt:lpstr>
      <vt:lpstr>Monte carlo simulation  generating scenarios that can be used to measure portfolio risks</vt:lpstr>
      <vt:lpstr>Using scenarios</vt:lpstr>
      <vt:lpstr>Generating scenarios</vt:lpstr>
      <vt:lpstr>The “standard model”</vt:lpstr>
      <vt:lpstr>Monte carlo simulation</vt:lpstr>
      <vt:lpstr>Monte carlo simulation</vt:lpstr>
      <vt:lpstr>The “bit of algebra”</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Grava, Roberts</dc:creator>
  <cp:lastModifiedBy>Alan Cubbon</cp:lastModifiedBy>
  <cp:revision>136</cp:revision>
  <dcterms:created xsi:type="dcterms:W3CDTF">2021-11-18T14:21:31Z</dcterms:created>
  <dcterms:modified xsi:type="dcterms:W3CDTF">2026-09-08T15:32:02Z</dcterms:modified>
</cp:coreProperties>
</file>